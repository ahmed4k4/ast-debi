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319" r:id="rId2"/>
    <p:sldId id="257" r:id="rId3"/>
    <p:sldId id="258" r:id="rId4"/>
    <p:sldId id="259" r:id="rId5"/>
    <p:sldId id="260" r:id="rId6"/>
    <p:sldId id="261" r:id="rId7"/>
    <p:sldId id="262" r:id="rId8"/>
    <p:sldId id="263" r:id="rId9"/>
    <p:sldId id="264" r:id="rId10"/>
    <p:sldId id="265" r:id="rId11"/>
    <p:sldId id="320" r:id="rId12"/>
    <p:sldId id="321" r:id="rId13"/>
    <p:sldId id="322" r:id="rId14"/>
    <p:sldId id="323"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324" r:id="rId29"/>
    <p:sldId id="325" r:id="rId30"/>
    <p:sldId id="326" r:id="rId31"/>
    <p:sldId id="327" r:id="rId32"/>
    <p:sldId id="279" r:id="rId33"/>
    <p:sldId id="280" r:id="rId34"/>
    <p:sldId id="339" r:id="rId35"/>
    <p:sldId id="337" r:id="rId36"/>
    <p:sldId id="341" r:id="rId37"/>
    <p:sldId id="281" r:id="rId38"/>
    <p:sldId id="282" r:id="rId39"/>
    <p:sldId id="283" r:id="rId40"/>
    <p:sldId id="284" r:id="rId41"/>
    <p:sldId id="285" r:id="rId42"/>
    <p:sldId id="286" r:id="rId43"/>
    <p:sldId id="287" r:id="rId44"/>
    <p:sldId id="288" r:id="rId45"/>
    <p:sldId id="328" r:id="rId46"/>
    <p:sldId id="329" r:id="rId47"/>
    <p:sldId id="330" r:id="rId48"/>
    <p:sldId id="331" r:id="rId49"/>
    <p:sldId id="289" r:id="rId50"/>
    <p:sldId id="290" r:id="rId51"/>
    <p:sldId id="291" r:id="rId52"/>
    <p:sldId id="292" r:id="rId53"/>
    <p:sldId id="293" r:id="rId54"/>
    <p:sldId id="294" r:id="rId55"/>
    <p:sldId id="295" r:id="rId56"/>
    <p:sldId id="296" r:id="rId57"/>
    <p:sldId id="297" r:id="rId58"/>
    <p:sldId id="332" r:id="rId59"/>
    <p:sldId id="333" r:id="rId60"/>
    <p:sldId id="334" r:id="rId61"/>
    <p:sldId id="335" r:id="rId62"/>
    <p:sldId id="299" r:id="rId63"/>
    <p:sldId id="300" r:id="rId64"/>
    <p:sldId id="301" r:id="rId65"/>
    <p:sldId id="302" r:id="rId66"/>
    <p:sldId id="304" r:id="rId67"/>
    <p:sldId id="305" r:id="rId68"/>
    <p:sldId id="306" r:id="rId69"/>
    <p:sldId id="308" r:id="rId70"/>
    <p:sldId id="309" r:id="rId71"/>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61" d="100"/>
          <a:sy n="161" d="100"/>
        </p:scale>
        <p:origin x="174" y="13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zz aldin" userId="34b4c037186c2d1a" providerId="LiveId" clId="{2B99ACCC-2BFC-4C7D-8049-F6A3AE38AAAE}"/>
    <pc:docChg chg="undo custSel delSld modSld">
      <pc:chgData name="ezz aldin" userId="34b4c037186c2d1a" providerId="LiveId" clId="{2B99ACCC-2BFC-4C7D-8049-F6A3AE38AAAE}" dt="2026-08-26T23:35:20.562" v="34" actId="478"/>
      <pc:docMkLst>
        <pc:docMk/>
      </pc:docMkLst>
      <pc:sldChg chg="delSp modSp mod">
        <pc:chgData name="ezz aldin" userId="34b4c037186c2d1a" providerId="LiveId" clId="{2B99ACCC-2BFC-4C7D-8049-F6A3AE38AAAE}" dt="2026-08-26T23:35:20.562" v="34" actId="478"/>
        <pc:sldMkLst>
          <pc:docMk/>
          <pc:sldMk cId="0" sldId="302"/>
        </pc:sldMkLst>
        <pc:spChg chg="mod">
          <ac:chgData name="ezz aldin" userId="34b4c037186c2d1a" providerId="LiveId" clId="{2B99ACCC-2BFC-4C7D-8049-F6A3AE38AAAE}" dt="2026-08-26T23:35:16.594" v="33" actId="1076"/>
          <ac:spMkLst>
            <pc:docMk/>
            <pc:sldMk cId="0" sldId="302"/>
            <ac:spMk id="5" creationId="{00000000-0000-0000-0000-000000000000}"/>
          </ac:spMkLst>
        </pc:spChg>
        <pc:spChg chg="del">
          <ac:chgData name="ezz aldin" userId="34b4c037186c2d1a" providerId="LiveId" clId="{2B99ACCC-2BFC-4C7D-8049-F6A3AE38AAAE}" dt="2026-08-26T23:35:20.562" v="34" actId="478"/>
          <ac:spMkLst>
            <pc:docMk/>
            <pc:sldMk cId="0" sldId="302"/>
            <ac:spMk id="6" creationId="{00000000-0000-0000-0000-000000000000}"/>
          </ac:spMkLst>
        </pc:spChg>
        <pc:spChg chg="del">
          <ac:chgData name="ezz aldin" userId="34b4c037186c2d1a" providerId="LiveId" clId="{2B99ACCC-2BFC-4C7D-8049-F6A3AE38AAAE}" dt="2026-08-26T23:35:20.562" v="34" actId="478"/>
          <ac:spMkLst>
            <pc:docMk/>
            <pc:sldMk cId="0" sldId="302"/>
            <ac:spMk id="7" creationId="{00000000-0000-0000-0000-000000000000}"/>
          </ac:spMkLst>
        </pc:spChg>
        <pc:spChg chg="del">
          <ac:chgData name="ezz aldin" userId="34b4c037186c2d1a" providerId="LiveId" clId="{2B99ACCC-2BFC-4C7D-8049-F6A3AE38AAAE}" dt="2026-08-26T23:35:20.562" v="34" actId="478"/>
          <ac:spMkLst>
            <pc:docMk/>
            <pc:sldMk cId="0" sldId="302"/>
            <ac:spMk id="8" creationId="{00000000-0000-0000-0000-000000000000}"/>
          </ac:spMkLst>
        </pc:spChg>
        <pc:spChg chg="del">
          <ac:chgData name="ezz aldin" userId="34b4c037186c2d1a" providerId="LiveId" clId="{2B99ACCC-2BFC-4C7D-8049-F6A3AE38AAAE}" dt="2026-08-26T23:35:20.562" v="34" actId="478"/>
          <ac:spMkLst>
            <pc:docMk/>
            <pc:sldMk cId="0" sldId="302"/>
            <ac:spMk id="9" creationId="{00000000-0000-0000-0000-000000000000}"/>
          </ac:spMkLst>
        </pc:spChg>
        <pc:spChg chg="del">
          <ac:chgData name="ezz aldin" userId="34b4c037186c2d1a" providerId="LiveId" clId="{2B99ACCC-2BFC-4C7D-8049-F6A3AE38AAAE}" dt="2026-08-26T23:35:20.562" v="34" actId="478"/>
          <ac:spMkLst>
            <pc:docMk/>
            <pc:sldMk cId="0" sldId="302"/>
            <ac:spMk id="10" creationId="{00000000-0000-0000-0000-000000000000}"/>
          </ac:spMkLst>
        </pc:spChg>
        <pc:spChg chg="del">
          <ac:chgData name="ezz aldin" userId="34b4c037186c2d1a" providerId="LiveId" clId="{2B99ACCC-2BFC-4C7D-8049-F6A3AE38AAAE}" dt="2026-08-26T23:35:20.562" v="34" actId="478"/>
          <ac:spMkLst>
            <pc:docMk/>
            <pc:sldMk cId="0" sldId="302"/>
            <ac:spMk id="11" creationId="{00000000-0000-0000-0000-000000000000}"/>
          </ac:spMkLst>
        </pc:spChg>
      </pc:sldChg>
      <pc:sldChg chg="del">
        <pc:chgData name="ezz aldin" userId="34b4c037186c2d1a" providerId="LiveId" clId="{2B99ACCC-2BFC-4C7D-8049-F6A3AE38AAAE}" dt="2026-08-26T23:35:10.923" v="32" actId="47"/>
        <pc:sldMkLst>
          <pc:docMk/>
          <pc:sldMk cId="0" sldId="303"/>
        </pc:sldMkLst>
      </pc:sldChg>
      <pc:sldChg chg="addSp delSp mod">
        <pc:chgData name="ezz aldin" userId="34b4c037186c2d1a" providerId="LiveId" clId="{2B99ACCC-2BFC-4C7D-8049-F6A3AE38AAAE}" dt="2026-08-26T23:35:02.930" v="31" actId="478"/>
        <pc:sldMkLst>
          <pc:docMk/>
          <pc:sldMk cId="0" sldId="304"/>
        </pc:sldMkLst>
        <pc:spChg chg="add del">
          <ac:chgData name="ezz aldin" userId="34b4c037186c2d1a" providerId="LiveId" clId="{2B99ACCC-2BFC-4C7D-8049-F6A3AE38AAAE}" dt="2026-08-26T23:35:02.930" v="31" actId="478"/>
          <ac:spMkLst>
            <pc:docMk/>
            <pc:sldMk cId="0" sldId="304"/>
            <ac:spMk id="6" creationId="{00000000-0000-0000-0000-000000000000}"/>
          </ac:spMkLst>
        </pc:spChg>
        <pc:spChg chg="add del">
          <ac:chgData name="ezz aldin" userId="34b4c037186c2d1a" providerId="LiveId" clId="{2B99ACCC-2BFC-4C7D-8049-F6A3AE38AAAE}" dt="2026-08-26T23:35:02.930" v="31" actId="478"/>
          <ac:spMkLst>
            <pc:docMk/>
            <pc:sldMk cId="0" sldId="304"/>
            <ac:spMk id="7" creationId="{00000000-0000-0000-0000-000000000000}"/>
          </ac:spMkLst>
        </pc:spChg>
        <pc:spChg chg="add del">
          <ac:chgData name="ezz aldin" userId="34b4c037186c2d1a" providerId="LiveId" clId="{2B99ACCC-2BFC-4C7D-8049-F6A3AE38AAAE}" dt="2026-08-26T23:35:02.930" v="31" actId="478"/>
          <ac:spMkLst>
            <pc:docMk/>
            <pc:sldMk cId="0" sldId="304"/>
            <ac:spMk id="8" creationId="{00000000-0000-0000-0000-000000000000}"/>
          </ac:spMkLst>
        </pc:spChg>
        <pc:spChg chg="add del">
          <ac:chgData name="ezz aldin" userId="34b4c037186c2d1a" providerId="LiveId" clId="{2B99ACCC-2BFC-4C7D-8049-F6A3AE38AAAE}" dt="2026-08-26T23:35:02.930" v="31" actId="478"/>
          <ac:spMkLst>
            <pc:docMk/>
            <pc:sldMk cId="0" sldId="304"/>
            <ac:spMk id="9" creationId="{00000000-0000-0000-0000-000000000000}"/>
          </ac:spMkLst>
        </pc:spChg>
        <pc:spChg chg="add del">
          <ac:chgData name="ezz aldin" userId="34b4c037186c2d1a" providerId="LiveId" clId="{2B99ACCC-2BFC-4C7D-8049-F6A3AE38AAAE}" dt="2026-08-26T23:35:02.930" v="31" actId="478"/>
          <ac:spMkLst>
            <pc:docMk/>
            <pc:sldMk cId="0" sldId="304"/>
            <ac:spMk id="10" creationId="{00000000-0000-0000-0000-000000000000}"/>
          </ac:spMkLst>
        </pc:spChg>
        <pc:spChg chg="add del">
          <ac:chgData name="ezz aldin" userId="34b4c037186c2d1a" providerId="LiveId" clId="{2B99ACCC-2BFC-4C7D-8049-F6A3AE38AAAE}" dt="2026-08-26T23:35:02.930" v="31" actId="478"/>
          <ac:spMkLst>
            <pc:docMk/>
            <pc:sldMk cId="0" sldId="304"/>
            <ac:spMk id="11" creationId="{00000000-0000-0000-0000-000000000000}"/>
          </ac:spMkLst>
        </pc:spChg>
      </pc:sldChg>
      <pc:sldChg chg="delSp mod">
        <pc:chgData name="ezz aldin" userId="34b4c037186c2d1a" providerId="LiveId" clId="{2B99ACCC-2BFC-4C7D-8049-F6A3AE38AAAE}" dt="2026-08-26T23:34:50.442" v="28" actId="478"/>
        <pc:sldMkLst>
          <pc:docMk/>
          <pc:sldMk cId="0" sldId="305"/>
        </pc:sldMkLst>
        <pc:spChg chg="del">
          <ac:chgData name="ezz aldin" userId="34b4c037186c2d1a" providerId="LiveId" clId="{2B99ACCC-2BFC-4C7D-8049-F6A3AE38AAAE}" dt="2026-08-26T23:34:50.442" v="28" actId="478"/>
          <ac:spMkLst>
            <pc:docMk/>
            <pc:sldMk cId="0" sldId="305"/>
            <ac:spMk id="6" creationId="{00000000-0000-0000-0000-000000000000}"/>
          </ac:spMkLst>
        </pc:spChg>
        <pc:spChg chg="del">
          <ac:chgData name="ezz aldin" userId="34b4c037186c2d1a" providerId="LiveId" clId="{2B99ACCC-2BFC-4C7D-8049-F6A3AE38AAAE}" dt="2026-08-26T23:34:50.442" v="28" actId="478"/>
          <ac:spMkLst>
            <pc:docMk/>
            <pc:sldMk cId="0" sldId="305"/>
            <ac:spMk id="7" creationId="{00000000-0000-0000-0000-000000000000}"/>
          </ac:spMkLst>
        </pc:spChg>
        <pc:spChg chg="del">
          <ac:chgData name="ezz aldin" userId="34b4c037186c2d1a" providerId="LiveId" clId="{2B99ACCC-2BFC-4C7D-8049-F6A3AE38AAAE}" dt="2026-08-26T23:34:50.442" v="28" actId="478"/>
          <ac:spMkLst>
            <pc:docMk/>
            <pc:sldMk cId="0" sldId="305"/>
            <ac:spMk id="8" creationId="{00000000-0000-0000-0000-000000000000}"/>
          </ac:spMkLst>
        </pc:spChg>
        <pc:spChg chg="del">
          <ac:chgData name="ezz aldin" userId="34b4c037186c2d1a" providerId="LiveId" clId="{2B99ACCC-2BFC-4C7D-8049-F6A3AE38AAAE}" dt="2026-08-26T23:34:50.442" v="28" actId="478"/>
          <ac:spMkLst>
            <pc:docMk/>
            <pc:sldMk cId="0" sldId="305"/>
            <ac:spMk id="9" creationId="{00000000-0000-0000-0000-000000000000}"/>
          </ac:spMkLst>
        </pc:spChg>
        <pc:spChg chg="del">
          <ac:chgData name="ezz aldin" userId="34b4c037186c2d1a" providerId="LiveId" clId="{2B99ACCC-2BFC-4C7D-8049-F6A3AE38AAAE}" dt="2026-08-26T23:34:50.442" v="28" actId="478"/>
          <ac:spMkLst>
            <pc:docMk/>
            <pc:sldMk cId="0" sldId="305"/>
            <ac:spMk id="10" creationId="{00000000-0000-0000-0000-000000000000}"/>
          </ac:spMkLst>
        </pc:spChg>
        <pc:spChg chg="del">
          <ac:chgData name="ezz aldin" userId="34b4c037186c2d1a" providerId="LiveId" clId="{2B99ACCC-2BFC-4C7D-8049-F6A3AE38AAAE}" dt="2026-08-26T23:34:50.442" v="28" actId="478"/>
          <ac:spMkLst>
            <pc:docMk/>
            <pc:sldMk cId="0" sldId="305"/>
            <ac:spMk id="11" creationId="{00000000-0000-0000-0000-000000000000}"/>
          </ac:spMkLst>
        </pc:spChg>
        <pc:spChg chg="del">
          <ac:chgData name="ezz aldin" userId="34b4c037186c2d1a" providerId="LiveId" clId="{2B99ACCC-2BFC-4C7D-8049-F6A3AE38AAAE}" dt="2026-08-26T23:34:50.442" v="28" actId="478"/>
          <ac:spMkLst>
            <pc:docMk/>
            <pc:sldMk cId="0" sldId="305"/>
            <ac:spMk id="12" creationId="{00000000-0000-0000-0000-000000000000}"/>
          </ac:spMkLst>
        </pc:spChg>
        <pc:spChg chg="del">
          <ac:chgData name="ezz aldin" userId="34b4c037186c2d1a" providerId="LiveId" clId="{2B99ACCC-2BFC-4C7D-8049-F6A3AE38AAAE}" dt="2026-08-26T23:34:50.442" v="28" actId="478"/>
          <ac:spMkLst>
            <pc:docMk/>
            <pc:sldMk cId="0" sldId="305"/>
            <ac:spMk id="13" creationId="{00000000-0000-0000-0000-000000000000}"/>
          </ac:spMkLst>
        </pc:spChg>
      </pc:sldChg>
      <pc:sldChg chg="addSp delSp modSp mod">
        <pc:chgData name="ezz aldin" userId="34b4c037186c2d1a" providerId="LiveId" clId="{2B99ACCC-2BFC-4C7D-8049-F6A3AE38AAAE}" dt="2026-08-26T23:34:44.091" v="27" actId="1076"/>
        <pc:sldMkLst>
          <pc:docMk/>
          <pc:sldMk cId="0" sldId="306"/>
        </pc:sldMkLst>
        <pc:spChg chg="mod">
          <ac:chgData name="ezz aldin" userId="34b4c037186c2d1a" providerId="LiveId" clId="{2B99ACCC-2BFC-4C7D-8049-F6A3AE38AAAE}" dt="2026-08-26T23:34:44.091" v="27" actId="1076"/>
          <ac:spMkLst>
            <pc:docMk/>
            <pc:sldMk cId="0" sldId="306"/>
            <ac:spMk id="3" creationId="{00000000-0000-0000-0000-000000000000}"/>
          </ac:spMkLst>
        </pc:spChg>
        <pc:spChg chg="mod">
          <ac:chgData name="ezz aldin" userId="34b4c037186c2d1a" providerId="LiveId" clId="{2B99ACCC-2BFC-4C7D-8049-F6A3AE38AAAE}" dt="2026-08-26T23:34:44.091" v="27" actId="1076"/>
          <ac:spMkLst>
            <pc:docMk/>
            <pc:sldMk cId="0" sldId="306"/>
            <ac:spMk id="4" creationId="{00000000-0000-0000-0000-000000000000}"/>
          </ac:spMkLst>
        </pc:spChg>
        <pc:spChg chg="add del">
          <ac:chgData name="ezz aldin" userId="34b4c037186c2d1a" providerId="LiveId" clId="{2B99ACCC-2BFC-4C7D-8049-F6A3AE38AAAE}" dt="2026-08-26T23:34:30.066" v="25" actId="478"/>
          <ac:spMkLst>
            <pc:docMk/>
            <pc:sldMk cId="0" sldId="306"/>
            <ac:spMk id="5" creationId="{00000000-0000-0000-0000-000000000000}"/>
          </ac:spMkLst>
        </pc:spChg>
        <pc:spChg chg="del">
          <ac:chgData name="ezz aldin" userId="34b4c037186c2d1a" providerId="LiveId" clId="{2B99ACCC-2BFC-4C7D-8049-F6A3AE38AAAE}" dt="2026-08-26T23:34:06.443" v="15" actId="478"/>
          <ac:spMkLst>
            <pc:docMk/>
            <pc:sldMk cId="0" sldId="306"/>
            <ac:spMk id="6" creationId="{00000000-0000-0000-0000-000000000000}"/>
          </ac:spMkLst>
        </pc:spChg>
        <pc:spChg chg="del">
          <ac:chgData name="ezz aldin" userId="34b4c037186c2d1a" providerId="LiveId" clId="{2B99ACCC-2BFC-4C7D-8049-F6A3AE38AAAE}" dt="2026-08-26T23:34:08.634" v="16" actId="478"/>
          <ac:spMkLst>
            <pc:docMk/>
            <pc:sldMk cId="0" sldId="306"/>
            <ac:spMk id="7" creationId="{00000000-0000-0000-0000-000000000000}"/>
          </ac:spMkLst>
        </pc:spChg>
        <pc:spChg chg="del">
          <ac:chgData name="ezz aldin" userId="34b4c037186c2d1a" providerId="LiveId" clId="{2B99ACCC-2BFC-4C7D-8049-F6A3AE38AAAE}" dt="2026-08-26T23:34:10.362" v="17" actId="478"/>
          <ac:spMkLst>
            <pc:docMk/>
            <pc:sldMk cId="0" sldId="306"/>
            <ac:spMk id="8" creationId="{00000000-0000-0000-0000-000000000000}"/>
          </ac:spMkLst>
        </pc:spChg>
        <pc:spChg chg="del">
          <ac:chgData name="ezz aldin" userId="34b4c037186c2d1a" providerId="LiveId" clId="{2B99ACCC-2BFC-4C7D-8049-F6A3AE38AAAE}" dt="2026-08-26T23:34:12.140" v="18" actId="478"/>
          <ac:spMkLst>
            <pc:docMk/>
            <pc:sldMk cId="0" sldId="306"/>
            <ac:spMk id="9" creationId="{00000000-0000-0000-0000-000000000000}"/>
          </ac:spMkLst>
        </pc:spChg>
        <pc:spChg chg="del">
          <ac:chgData name="ezz aldin" userId="34b4c037186c2d1a" providerId="LiveId" clId="{2B99ACCC-2BFC-4C7D-8049-F6A3AE38AAAE}" dt="2026-08-26T23:34:18.666" v="21" actId="478"/>
          <ac:spMkLst>
            <pc:docMk/>
            <pc:sldMk cId="0" sldId="306"/>
            <ac:spMk id="10" creationId="{00000000-0000-0000-0000-000000000000}"/>
          </ac:spMkLst>
        </pc:spChg>
        <pc:spChg chg="del">
          <ac:chgData name="ezz aldin" userId="34b4c037186c2d1a" providerId="LiveId" clId="{2B99ACCC-2BFC-4C7D-8049-F6A3AE38AAAE}" dt="2026-08-26T23:34:26.986" v="24" actId="478"/>
          <ac:spMkLst>
            <pc:docMk/>
            <pc:sldMk cId="0" sldId="306"/>
            <ac:spMk id="11" creationId="{00000000-0000-0000-0000-000000000000}"/>
          </ac:spMkLst>
        </pc:spChg>
        <pc:spChg chg="del">
          <ac:chgData name="ezz aldin" userId="34b4c037186c2d1a" providerId="LiveId" clId="{2B99ACCC-2BFC-4C7D-8049-F6A3AE38AAAE}" dt="2026-08-26T23:34:33.229" v="26" actId="478"/>
          <ac:spMkLst>
            <pc:docMk/>
            <pc:sldMk cId="0" sldId="306"/>
            <ac:spMk id="12" creationId="{00000000-0000-0000-0000-000000000000}"/>
          </ac:spMkLst>
        </pc:spChg>
      </pc:sldChg>
      <pc:sldChg chg="del">
        <pc:chgData name="ezz aldin" userId="34b4c037186c2d1a" providerId="LiveId" clId="{2B99ACCC-2BFC-4C7D-8049-F6A3AE38AAAE}" dt="2026-08-26T23:34:02.823" v="14" actId="47"/>
        <pc:sldMkLst>
          <pc:docMk/>
          <pc:sldMk cId="0" sldId="307"/>
        </pc:sldMkLst>
      </pc:sldChg>
      <pc:sldChg chg="addSp delSp mod">
        <pc:chgData name="ezz aldin" userId="34b4c037186c2d1a" providerId="LiveId" clId="{2B99ACCC-2BFC-4C7D-8049-F6A3AE38AAAE}" dt="2026-08-26T23:33:55.725" v="13" actId="478"/>
        <pc:sldMkLst>
          <pc:docMk/>
          <pc:sldMk cId="0" sldId="308"/>
        </pc:sldMkLst>
        <pc:spChg chg="add del">
          <ac:chgData name="ezz aldin" userId="34b4c037186c2d1a" providerId="LiveId" clId="{2B99ACCC-2BFC-4C7D-8049-F6A3AE38AAAE}" dt="2026-08-26T23:33:51.349" v="11" actId="478"/>
          <ac:spMkLst>
            <pc:docMk/>
            <pc:sldMk cId="0" sldId="308"/>
            <ac:spMk id="5" creationId="{00000000-0000-0000-0000-000000000000}"/>
          </ac:spMkLst>
        </pc:spChg>
        <pc:spChg chg="del">
          <ac:chgData name="ezz aldin" userId="34b4c037186c2d1a" providerId="LiveId" clId="{2B99ACCC-2BFC-4C7D-8049-F6A3AE38AAAE}" dt="2026-08-26T23:33:36.726" v="5" actId="478"/>
          <ac:spMkLst>
            <pc:docMk/>
            <pc:sldMk cId="0" sldId="308"/>
            <ac:spMk id="6" creationId="{00000000-0000-0000-0000-000000000000}"/>
          </ac:spMkLst>
        </pc:spChg>
        <pc:spChg chg="del">
          <ac:chgData name="ezz aldin" userId="34b4c037186c2d1a" providerId="LiveId" clId="{2B99ACCC-2BFC-4C7D-8049-F6A3AE38AAAE}" dt="2026-08-26T23:33:33.628" v="4" actId="478"/>
          <ac:spMkLst>
            <pc:docMk/>
            <pc:sldMk cId="0" sldId="308"/>
            <ac:spMk id="7" creationId="{00000000-0000-0000-0000-000000000000}"/>
          </ac:spMkLst>
        </pc:spChg>
        <pc:spChg chg="del">
          <ac:chgData name="ezz aldin" userId="34b4c037186c2d1a" providerId="LiveId" clId="{2B99ACCC-2BFC-4C7D-8049-F6A3AE38AAAE}" dt="2026-08-26T23:33:40.158" v="6" actId="478"/>
          <ac:spMkLst>
            <pc:docMk/>
            <pc:sldMk cId="0" sldId="308"/>
            <ac:spMk id="8" creationId="{00000000-0000-0000-0000-000000000000}"/>
          </ac:spMkLst>
        </pc:spChg>
        <pc:spChg chg="del">
          <ac:chgData name="ezz aldin" userId="34b4c037186c2d1a" providerId="LiveId" clId="{2B99ACCC-2BFC-4C7D-8049-F6A3AE38AAAE}" dt="2026-08-26T23:33:42.291" v="7" actId="478"/>
          <ac:spMkLst>
            <pc:docMk/>
            <pc:sldMk cId="0" sldId="308"/>
            <ac:spMk id="9" creationId="{00000000-0000-0000-0000-000000000000}"/>
          </ac:spMkLst>
        </pc:spChg>
        <pc:spChg chg="del">
          <ac:chgData name="ezz aldin" userId="34b4c037186c2d1a" providerId="LiveId" clId="{2B99ACCC-2BFC-4C7D-8049-F6A3AE38AAAE}" dt="2026-08-26T23:33:45.307" v="8" actId="478"/>
          <ac:spMkLst>
            <pc:docMk/>
            <pc:sldMk cId="0" sldId="308"/>
            <ac:spMk id="10" creationId="{00000000-0000-0000-0000-000000000000}"/>
          </ac:spMkLst>
        </pc:spChg>
        <pc:spChg chg="del">
          <ac:chgData name="ezz aldin" userId="34b4c037186c2d1a" providerId="LiveId" clId="{2B99ACCC-2BFC-4C7D-8049-F6A3AE38AAAE}" dt="2026-08-26T23:33:46.963" v="9" actId="478"/>
          <ac:spMkLst>
            <pc:docMk/>
            <pc:sldMk cId="0" sldId="308"/>
            <ac:spMk id="11" creationId="{00000000-0000-0000-0000-000000000000}"/>
          </ac:spMkLst>
        </pc:spChg>
        <pc:spChg chg="del">
          <ac:chgData name="ezz aldin" userId="34b4c037186c2d1a" providerId="LiveId" clId="{2B99ACCC-2BFC-4C7D-8049-F6A3AE38AAAE}" dt="2026-08-26T23:33:53.326" v="12" actId="478"/>
          <ac:spMkLst>
            <pc:docMk/>
            <pc:sldMk cId="0" sldId="308"/>
            <ac:spMk id="12" creationId="{00000000-0000-0000-0000-000000000000}"/>
          </ac:spMkLst>
        </pc:spChg>
        <pc:spChg chg="del">
          <ac:chgData name="ezz aldin" userId="34b4c037186c2d1a" providerId="LiveId" clId="{2B99ACCC-2BFC-4C7D-8049-F6A3AE38AAAE}" dt="2026-08-26T23:33:55.725" v="13" actId="478"/>
          <ac:spMkLst>
            <pc:docMk/>
            <pc:sldMk cId="0" sldId="308"/>
            <ac:spMk id="13" creationId="{00000000-0000-0000-0000-000000000000}"/>
          </ac:spMkLst>
        </pc:spChg>
      </pc:sldChg>
      <pc:sldChg chg="del">
        <pc:chgData name="ezz aldin" userId="34b4c037186c2d1a" providerId="LiveId" clId="{2B99ACCC-2BFC-4C7D-8049-F6A3AE38AAAE}" dt="2026-08-26T23:33:03.758" v="0" actId="47"/>
        <pc:sldMkLst>
          <pc:docMk/>
          <pc:sldMk cId="0" sldId="336"/>
        </pc:sldMkLst>
      </pc:sldChg>
      <pc:sldChg chg="del">
        <pc:chgData name="ezz aldin" userId="34b4c037186c2d1a" providerId="LiveId" clId="{2B99ACCC-2BFC-4C7D-8049-F6A3AE38AAAE}" dt="2026-08-26T23:33:12.397" v="2" actId="47"/>
        <pc:sldMkLst>
          <pc:docMk/>
          <pc:sldMk cId="0" sldId="338"/>
        </pc:sldMkLst>
      </pc:sldChg>
      <pc:sldChg chg="del">
        <pc:chgData name="ezz aldin" userId="34b4c037186c2d1a" providerId="LiveId" clId="{2B99ACCC-2BFC-4C7D-8049-F6A3AE38AAAE}" dt="2026-08-26T23:33:08.400" v="1" actId="47"/>
        <pc:sldMkLst>
          <pc:docMk/>
          <pc:sldMk cId="2736420010" sldId="340"/>
        </pc:sldMkLst>
      </pc:sldChg>
      <pc:sldChg chg="del">
        <pc:chgData name="ezz aldin" userId="34b4c037186c2d1a" providerId="LiveId" clId="{2B99ACCC-2BFC-4C7D-8049-F6A3AE38AAAE}" dt="2026-08-26T23:33:15.020" v="3" actId="47"/>
        <pc:sldMkLst>
          <pc:docMk/>
          <pc:sldMk cId="1314220529" sldId="342"/>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98451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548640" y="457200"/>
            <a:ext cx="54864" cy="54864"/>
          </a:xfrm>
          <a:prstGeom prst="ellipse">
            <a:avLst/>
          </a:prstGeom>
          <a:solidFill>
            <a:srgbClr val="4A9EFF">
              <a:lumMod val="70000"/>
              <a:lumOff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05840" y="320040"/>
            <a:ext cx="45720" cy="45720"/>
          </a:xfrm>
          <a:prstGeom prst="ellipse">
            <a:avLst/>
          </a:prstGeom>
          <a:solidFill>
            <a:srgbClr val="4A9EFF">
              <a:lumMod val="70000"/>
              <a:lumOff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371600" y="640080"/>
            <a:ext cx="50292" cy="50292"/>
          </a:xfrm>
          <a:prstGeom prst="ellipse">
            <a:avLst/>
          </a:prstGeom>
          <a:solidFill>
            <a:srgbClr val="4A9EFF">
              <a:lumMod val="70000"/>
              <a:lumOff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77240" y="914400"/>
            <a:ext cx="41148" cy="41148"/>
          </a:xfrm>
          <a:prstGeom prst="ellipse">
            <a:avLst/>
          </a:prstGeom>
          <a:solidFill>
            <a:srgbClr val="4A9EFF">
              <a:lumMod val="70000"/>
              <a:lumOff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234440" y="1051560"/>
            <a:ext cx="45720" cy="45720"/>
          </a:xfrm>
          <a:prstGeom prst="ellipse">
            <a:avLst/>
          </a:prstGeom>
          <a:solidFill>
            <a:srgbClr val="4A9EFF">
              <a:lumMod val="70000"/>
              <a:lumOff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863840" y="365760"/>
            <a:ext cx="50292" cy="50292"/>
          </a:xfrm>
          <a:prstGeom prst="ellipse">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321040" y="640080"/>
            <a:ext cx="45720" cy="45720"/>
          </a:xfrm>
          <a:prstGeom prst="ellipse">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7680960" y="822960"/>
            <a:ext cx="41148" cy="41148"/>
          </a:xfrm>
          <a:prstGeom prst="ellipse">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57200" y="4206240"/>
            <a:ext cx="45720" cy="45720"/>
          </a:xfrm>
          <a:prstGeom prst="ellipse">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914400" y="4480560"/>
            <a:ext cx="41148" cy="41148"/>
          </a:xfrm>
          <a:prstGeom prst="ellipse">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40080" y="4663440"/>
            <a:ext cx="36576" cy="36576"/>
          </a:xfrm>
          <a:prstGeom prst="ellipse">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046720" y="4297680"/>
            <a:ext cx="45720" cy="45720"/>
          </a:xfrm>
          <a:prstGeom prst="ellipse">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8412480" y="4572000"/>
            <a:ext cx="41148" cy="41148"/>
          </a:xfrm>
          <a:prstGeom prst="ellipse">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1554480"/>
            <a:ext cx="7680960" cy="640080"/>
          </a:xfrm>
          <a:prstGeom prst="rect">
            <a:avLst/>
          </a:prstGeom>
          <a:noFill/>
        </p:spPr>
        <p:txBody>
          <a:bodyPr wrap="square">
            <a:spAutoFit/>
          </a:bodyPr>
          <a:lstStyle/>
          <a:p>
            <a:pPr algn="ctr"/>
            <a:r>
              <a:rPr lang="en-US" sz="3600" b="1" dirty="0">
                <a:solidFill>
                  <a:srgbClr val="0066CC"/>
                </a:solidFill>
                <a:latin typeface="Arial"/>
              </a:rPr>
              <a:t>JAVASCRIPT</a:t>
            </a:r>
            <a:endParaRPr sz="3600" b="1" dirty="0">
              <a:solidFill>
                <a:srgbClr val="0066CC"/>
              </a:solidFill>
              <a:latin typeface="Arial"/>
            </a:endParaRPr>
          </a:p>
        </p:txBody>
      </p:sp>
      <p:sp>
        <p:nvSpPr>
          <p:cNvPr id="16" name="TextBox 15"/>
          <p:cNvSpPr txBox="1"/>
          <p:nvPr/>
        </p:nvSpPr>
        <p:spPr>
          <a:xfrm>
            <a:off x="640080" y="2331720"/>
            <a:ext cx="7772400" cy="769441"/>
          </a:xfrm>
          <a:prstGeom prst="rect">
            <a:avLst/>
          </a:prstGeom>
          <a:noFill/>
        </p:spPr>
        <p:txBody>
          <a:bodyPr wrap="square">
            <a:spAutoFit/>
          </a:bodyPr>
          <a:lstStyle/>
          <a:p>
            <a:pPr algn="ctr"/>
            <a:r>
              <a:rPr lang="en-US" sz="4400" b="1" dirty="0">
                <a:solidFill>
                  <a:srgbClr val="0066CC"/>
                </a:solidFill>
                <a:latin typeface="Arial"/>
              </a:rPr>
              <a:t>Programming Fundamentals</a:t>
            </a:r>
          </a:p>
        </p:txBody>
      </p:sp>
      <p:sp>
        <p:nvSpPr>
          <p:cNvPr id="17" name="Rectangle 16"/>
          <p:cNvSpPr/>
          <p:nvPr/>
        </p:nvSpPr>
        <p:spPr>
          <a:xfrm>
            <a:off x="3200400" y="3116682"/>
            <a:ext cx="2743200" cy="27432"/>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3291840"/>
            <a:ext cx="7680960" cy="320040"/>
          </a:xfrm>
          <a:prstGeom prst="rect">
            <a:avLst/>
          </a:prstGeom>
          <a:noFill/>
        </p:spPr>
        <p:txBody>
          <a:bodyPr wrap="square">
            <a:spAutoFit/>
          </a:bodyPr>
          <a:lstStyle/>
          <a:p>
            <a:pPr algn="ctr"/>
            <a:r>
              <a:rPr sz="1400" b="0">
                <a:solidFill>
                  <a:srgbClr val="334155"/>
                </a:solidFill>
                <a:latin typeface="Arial"/>
              </a:rPr>
              <a:t>Presented by:</a:t>
            </a:r>
          </a:p>
        </p:txBody>
      </p:sp>
      <p:sp>
        <p:nvSpPr>
          <p:cNvPr id="19" name="TextBox 18"/>
          <p:cNvSpPr txBox="1"/>
          <p:nvPr/>
        </p:nvSpPr>
        <p:spPr>
          <a:xfrm>
            <a:off x="731520" y="3703320"/>
            <a:ext cx="7680960" cy="365760"/>
          </a:xfrm>
          <a:prstGeom prst="rect">
            <a:avLst/>
          </a:prstGeom>
          <a:noFill/>
        </p:spPr>
        <p:txBody>
          <a:bodyPr wrap="square">
            <a:spAutoFit/>
          </a:bodyPr>
          <a:lstStyle/>
          <a:p>
            <a:pPr algn="ctr"/>
            <a:r>
              <a:rPr sz="1800" b="1">
                <a:solidFill>
                  <a:srgbClr val="004C99"/>
                </a:solidFill>
                <a:latin typeface="Arial"/>
              </a:rPr>
              <a:t>Eng. Ezz Aldin Mohamed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320040"/>
          </a:xfrm>
          <a:prstGeom prst="rect">
            <a:avLst/>
          </a:prstGeom>
          <a:noFill/>
        </p:spPr>
        <p:txBody>
          <a:bodyPr wrap="square">
            <a:spAutoFit/>
          </a:bodyPr>
          <a:lstStyle/>
          <a:p>
            <a:pPr algn="l"/>
            <a:r>
              <a:rPr sz="1400" b="1">
                <a:solidFill>
                  <a:srgbClr val="0066CC"/>
                </a:solidFill>
                <a:latin typeface="Arial"/>
              </a:rPr>
              <a:t>TOPIC 1</a:t>
            </a:r>
          </a:p>
        </p:txBody>
      </p:sp>
      <p:sp>
        <p:nvSpPr>
          <p:cNvPr id="3" name="TextBox 2"/>
          <p:cNvSpPr txBox="1"/>
          <p:nvPr/>
        </p:nvSpPr>
        <p:spPr>
          <a:xfrm>
            <a:off x="457200" y="731520"/>
            <a:ext cx="8229600" cy="502920"/>
          </a:xfrm>
          <a:prstGeom prst="rect">
            <a:avLst/>
          </a:prstGeom>
          <a:noFill/>
        </p:spPr>
        <p:txBody>
          <a:bodyPr wrap="square">
            <a:spAutoFit/>
          </a:bodyPr>
          <a:lstStyle/>
          <a:p>
            <a:pPr algn="l"/>
            <a:r>
              <a:rPr sz="2800" b="1">
                <a:solidFill>
                  <a:srgbClr val="0066CC"/>
                </a:solidFill>
                <a:latin typeface="Arial"/>
              </a:rPr>
              <a:t>Variables: let / const</a:t>
            </a:r>
          </a:p>
        </p:txBody>
      </p:sp>
      <p:sp>
        <p:nvSpPr>
          <p:cNvPr id="4" name="Rounded Rectangle 3"/>
          <p:cNvSpPr/>
          <p:nvPr/>
        </p:nvSpPr>
        <p:spPr>
          <a:xfrm>
            <a:off x="457200" y="1554480"/>
            <a:ext cx="8229600" cy="2560320"/>
          </a:xfrm>
          <a:prstGeom prst="roundRect">
            <a:avLst>
              <a:gd name="adj" fmla="val 10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828800"/>
            <a:ext cx="7680960" cy="2011680"/>
          </a:xfrm>
          <a:prstGeom prst="rect">
            <a:avLst/>
          </a:prstGeom>
          <a:noFill/>
        </p:spPr>
        <p:txBody>
          <a:bodyPr wrap="square">
            <a:spAutoFit/>
          </a:bodyPr>
          <a:lstStyle/>
          <a:p>
            <a:pPr algn="l"/>
            <a:r>
              <a:rPr sz="1500" b="0">
                <a:solidFill>
                  <a:srgbClr val="1E293B"/>
                </a:solidFill>
                <a:latin typeface="Arial"/>
              </a:rPr>
              <a:t>The first thing we want to do in any programming language is store a value so we can use it again later.
A Variable can be explained as a simple "box":
• contains a value
• has a name
• can be accessed later in the code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8229600" cy="365760"/>
          </a:xfrm>
          <a:prstGeom prst="rect">
            <a:avLst/>
          </a:prstGeom>
          <a:noFill/>
        </p:spPr>
        <p:txBody>
          <a:bodyPr wrap="square">
            <a:spAutoFit/>
          </a:bodyPr>
          <a:lstStyle/>
          <a:p>
            <a:pPr algn="l"/>
            <a:r>
              <a:rPr sz="2600" b="1">
                <a:solidFill>
                  <a:srgbClr val="0066CC"/>
                </a:solidFill>
                <a:latin typeface="Arial"/>
              </a:rPr>
              <a:t>let  vs  const</a:t>
            </a:r>
          </a:p>
        </p:txBody>
      </p:sp>
      <p:sp>
        <p:nvSpPr>
          <p:cNvPr id="3" name="Rounded Rectangle 2"/>
          <p:cNvSpPr/>
          <p:nvPr/>
        </p:nvSpPr>
        <p:spPr>
          <a:xfrm>
            <a:off x="365760" y="822960"/>
            <a:ext cx="4114800" cy="3749039"/>
          </a:xfrm>
          <a:prstGeom prst="roundRect">
            <a:avLst>
              <a:gd name="adj" fmla="val 12000"/>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097280"/>
            <a:ext cx="3749039" cy="365760"/>
          </a:xfrm>
          <a:prstGeom prst="rect">
            <a:avLst/>
          </a:prstGeom>
          <a:noFill/>
        </p:spPr>
        <p:txBody>
          <a:bodyPr wrap="square">
            <a:spAutoFit/>
          </a:bodyPr>
          <a:lstStyle/>
          <a:p>
            <a:pPr algn="ctr"/>
            <a:r>
              <a:rPr sz="2400" b="1">
                <a:solidFill>
                  <a:srgbClr val="0066CC"/>
                </a:solidFill>
                <a:latin typeface="Consolas"/>
              </a:rPr>
              <a:t>let</a:t>
            </a:r>
          </a:p>
        </p:txBody>
      </p:sp>
      <p:sp>
        <p:nvSpPr>
          <p:cNvPr id="5" name="TextBox 4"/>
          <p:cNvSpPr txBox="1"/>
          <p:nvPr/>
        </p:nvSpPr>
        <p:spPr>
          <a:xfrm>
            <a:off x="548640" y="1737360"/>
            <a:ext cx="3749039" cy="731520"/>
          </a:xfrm>
          <a:prstGeom prst="rect">
            <a:avLst/>
          </a:prstGeom>
          <a:noFill/>
        </p:spPr>
        <p:txBody>
          <a:bodyPr wrap="square">
            <a:spAutoFit/>
          </a:bodyPr>
          <a:lstStyle/>
          <a:p>
            <a:pPr algn="ctr"/>
            <a:r>
              <a:rPr sz="1500" b="0">
                <a:solidFill>
                  <a:srgbClr val="334155"/>
                </a:solidFill>
                <a:latin typeface="Arial"/>
              </a:rPr>
              <a:t>Use when the value
may change later.</a:t>
            </a:r>
          </a:p>
        </p:txBody>
      </p:sp>
      <p:sp>
        <p:nvSpPr>
          <p:cNvPr id="6" name="TextBox 5"/>
          <p:cNvSpPr txBox="1"/>
          <p:nvPr/>
        </p:nvSpPr>
        <p:spPr>
          <a:xfrm>
            <a:off x="548640" y="2743200"/>
            <a:ext cx="3749039" cy="1097280"/>
          </a:xfrm>
          <a:prstGeom prst="rect">
            <a:avLst/>
          </a:prstGeom>
          <a:noFill/>
        </p:spPr>
        <p:txBody>
          <a:bodyPr wrap="square">
            <a:spAutoFit/>
          </a:bodyPr>
          <a:lstStyle/>
          <a:p>
            <a:pPr algn="ctr"/>
            <a:r>
              <a:rPr sz="1600" b="1">
                <a:solidFill>
                  <a:srgbClr val="22C55E"/>
                </a:solidFill>
                <a:latin typeface="Arial"/>
              </a:rPr>
              <a:t>Value CAN be
reassigned</a:t>
            </a:r>
          </a:p>
        </p:txBody>
      </p:sp>
      <p:sp>
        <p:nvSpPr>
          <p:cNvPr id="7" name="Rounded Rectangle 6"/>
          <p:cNvSpPr/>
          <p:nvPr/>
        </p:nvSpPr>
        <p:spPr>
          <a:xfrm>
            <a:off x="4754880" y="822960"/>
            <a:ext cx="4023360" cy="3749039"/>
          </a:xfrm>
          <a:prstGeom prst="roundRect">
            <a:avLst>
              <a:gd name="adj" fmla="val 12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937760" y="1097280"/>
            <a:ext cx="3657600" cy="365760"/>
          </a:xfrm>
          <a:prstGeom prst="rect">
            <a:avLst/>
          </a:prstGeom>
          <a:noFill/>
        </p:spPr>
        <p:txBody>
          <a:bodyPr wrap="square">
            <a:spAutoFit/>
          </a:bodyPr>
          <a:lstStyle/>
          <a:p>
            <a:pPr algn="ctr"/>
            <a:r>
              <a:rPr sz="2400" b="1">
                <a:solidFill>
                  <a:srgbClr val="0066CC"/>
                </a:solidFill>
                <a:latin typeface="Consolas"/>
              </a:rPr>
              <a:t>const</a:t>
            </a:r>
          </a:p>
        </p:txBody>
      </p:sp>
      <p:sp>
        <p:nvSpPr>
          <p:cNvPr id="9" name="TextBox 8"/>
          <p:cNvSpPr txBox="1"/>
          <p:nvPr/>
        </p:nvSpPr>
        <p:spPr>
          <a:xfrm>
            <a:off x="4937760" y="1737360"/>
            <a:ext cx="3657600" cy="731520"/>
          </a:xfrm>
          <a:prstGeom prst="rect">
            <a:avLst/>
          </a:prstGeom>
          <a:noFill/>
        </p:spPr>
        <p:txBody>
          <a:bodyPr wrap="square">
            <a:spAutoFit/>
          </a:bodyPr>
          <a:lstStyle/>
          <a:p>
            <a:pPr algn="ctr"/>
            <a:r>
              <a:rPr sz="1500" b="0">
                <a:solidFill>
                  <a:srgbClr val="1E293B"/>
                </a:solidFill>
                <a:latin typeface="Arial"/>
              </a:rPr>
              <a:t>Use when the value
should remain fixed.</a:t>
            </a:r>
          </a:p>
        </p:txBody>
      </p:sp>
      <p:sp>
        <p:nvSpPr>
          <p:cNvPr id="10" name="TextBox 9"/>
          <p:cNvSpPr txBox="1"/>
          <p:nvPr/>
        </p:nvSpPr>
        <p:spPr>
          <a:xfrm>
            <a:off x="4937760" y="2743200"/>
            <a:ext cx="3657600" cy="1097280"/>
          </a:xfrm>
          <a:prstGeom prst="rect">
            <a:avLst/>
          </a:prstGeom>
          <a:noFill/>
        </p:spPr>
        <p:txBody>
          <a:bodyPr wrap="square">
            <a:spAutoFit/>
          </a:bodyPr>
          <a:lstStyle/>
          <a:p>
            <a:pPr algn="ctr"/>
            <a:r>
              <a:rPr sz="1600" b="1">
                <a:solidFill>
                  <a:srgbClr val="EF4444"/>
                </a:solidFill>
                <a:latin typeface="Arial"/>
              </a:rPr>
              <a:t>Value CANNOT be
reassigned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8229600" cy="320040"/>
          </a:xfrm>
          <a:prstGeom prst="rect">
            <a:avLst/>
          </a:prstGeom>
          <a:noFill/>
        </p:spPr>
        <p:txBody>
          <a:bodyPr wrap="square">
            <a:spAutoFit/>
          </a:bodyPr>
          <a:lstStyle/>
          <a:p>
            <a:pPr algn="l"/>
            <a:r>
              <a:rPr sz="2200" b="1">
                <a:solidFill>
                  <a:srgbClr val="0066CC"/>
                </a:solidFill>
                <a:latin typeface="Arial"/>
              </a:rPr>
              <a:t>let / const — EXAMPLES</a:t>
            </a:r>
          </a:p>
        </p:txBody>
      </p:sp>
      <p:sp>
        <p:nvSpPr>
          <p:cNvPr id="3" name="Rounded Rectangle 2"/>
          <p:cNvSpPr/>
          <p:nvPr/>
        </p:nvSpPr>
        <p:spPr>
          <a:xfrm>
            <a:off x="365760" y="731520"/>
            <a:ext cx="8412480" cy="2011680"/>
          </a:xfrm>
          <a:prstGeom prst="roundRect">
            <a:avLst>
              <a:gd name="adj" fmla="val 10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14400"/>
            <a:ext cx="8046720" cy="274320"/>
          </a:xfrm>
          <a:prstGeom prst="rect">
            <a:avLst/>
          </a:prstGeom>
          <a:noFill/>
        </p:spPr>
        <p:txBody>
          <a:bodyPr wrap="square">
            <a:spAutoFit/>
          </a:bodyPr>
          <a:lstStyle/>
          <a:p>
            <a:pPr algn="l"/>
            <a:r>
              <a:rPr sz="1500" b="0">
                <a:solidFill>
                  <a:srgbClr val="FFFFFF"/>
                </a:solidFill>
                <a:latin typeface="Consolas"/>
              </a:rPr>
              <a:t>let studentName = "Ahmed";</a:t>
            </a:r>
          </a:p>
        </p:txBody>
      </p:sp>
      <p:sp>
        <p:nvSpPr>
          <p:cNvPr id="5" name="TextBox 4"/>
          <p:cNvSpPr txBox="1"/>
          <p:nvPr/>
        </p:nvSpPr>
        <p:spPr>
          <a:xfrm>
            <a:off x="548640" y="1371600"/>
            <a:ext cx="8046720" cy="274320"/>
          </a:xfrm>
          <a:prstGeom prst="rect">
            <a:avLst/>
          </a:prstGeom>
          <a:noFill/>
        </p:spPr>
        <p:txBody>
          <a:bodyPr wrap="square">
            <a:spAutoFit/>
          </a:bodyPr>
          <a:lstStyle/>
          <a:p>
            <a:pPr algn="l"/>
            <a:r>
              <a:rPr sz="1400" b="0">
                <a:solidFill>
                  <a:srgbClr val="22C55E"/>
                </a:solidFill>
                <a:latin typeface="Consolas"/>
              </a:rPr>
              <a:t>studentName = "Mohamed"; // Fine — value changed with let</a:t>
            </a:r>
          </a:p>
        </p:txBody>
      </p:sp>
      <p:sp>
        <p:nvSpPr>
          <p:cNvPr id="6" name="TextBox 5"/>
          <p:cNvSpPr txBox="1"/>
          <p:nvPr/>
        </p:nvSpPr>
        <p:spPr>
          <a:xfrm>
            <a:off x="548640" y="1920240"/>
            <a:ext cx="8046720" cy="274320"/>
          </a:xfrm>
          <a:prstGeom prst="rect">
            <a:avLst/>
          </a:prstGeom>
          <a:noFill/>
        </p:spPr>
        <p:txBody>
          <a:bodyPr wrap="square">
            <a:spAutoFit/>
          </a:bodyPr>
          <a:lstStyle/>
          <a:p>
            <a:pPr algn="l"/>
            <a:r>
              <a:rPr sz="1500" b="0">
                <a:solidFill>
                  <a:srgbClr val="FFFFFF"/>
                </a:solidFill>
                <a:latin typeface="Consolas"/>
              </a:rPr>
              <a:t>const pi = 3.14;</a:t>
            </a:r>
          </a:p>
        </p:txBody>
      </p:sp>
      <p:sp>
        <p:nvSpPr>
          <p:cNvPr id="7" name="TextBox 6"/>
          <p:cNvSpPr txBox="1"/>
          <p:nvPr/>
        </p:nvSpPr>
        <p:spPr>
          <a:xfrm>
            <a:off x="548640" y="2286000"/>
            <a:ext cx="8046720" cy="274320"/>
          </a:xfrm>
          <a:prstGeom prst="rect">
            <a:avLst/>
          </a:prstGeom>
          <a:noFill/>
        </p:spPr>
        <p:txBody>
          <a:bodyPr wrap="square">
            <a:spAutoFit/>
          </a:bodyPr>
          <a:lstStyle/>
          <a:p>
            <a:pPr algn="l"/>
            <a:r>
              <a:rPr sz="1400" b="0">
                <a:solidFill>
                  <a:srgbClr val="EF4444"/>
                </a:solidFill>
                <a:latin typeface="Consolas"/>
              </a:rPr>
              <a:t>pi = 3.5; // Error — const cannot be reassigned</a:t>
            </a:r>
          </a:p>
        </p:txBody>
      </p:sp>
      <p:sp>
        <p:nvSpPr>
          <p:cNvPr id="8" name="Rounded Rectangle 7"/>
          <p:cNvSpPr/>
          <p:nvPr/>
        </p:nvSpPr>
        <p:spPr>
          <a:xfrm>
            <a:off x="457200" y="3017520"/>
            <a:ext cx="8229600" cy="1554480"/>
          </a:xfrm>
          <a:prstGeom prst="roundRect">
            <a:avLst>
              <a:gd name="adj" fmla="val 10000"/>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3246120"/>
            <a:ext cx="7680960" cy="320040"/>
          </a:xfrm>
          <a:prstGeom prst="rect">
            <a:avLst/>
          </a:prstGeom>
          <a:noFill/>
        </p:spPr>
        <p:txBody>
          <a:bodyPr wrap="square">
            <a:spAutoFit/>
          </a:bodyPr>
          <a:lstStyle/>
          <a:p>
            <a:pPr algn="l"/>
            <a:r>
              <a:rPr sz="1500" b="1">
                <a:solidFill>
                  <a:srgbClr val="0066CC"/>
                </a:solidFill>
                <a:latin typeface="Arial"/>
              </a:rPr>
              <a:t>About var</a:t>
            </a:r>
          </a:p>
        </p:txBody>
      </p:sp>
      <p:sp>
        <p:nvSpPr>
          <p:cNvPr id="10" name="TextBox 9"/>
          <p:cNvSpPr txBox="1"/>
          <p:nvPr/>
        </p:nvSpPr>
        <p:spPr>
          <a:xfrm>
            <a:off x="731520" y="3749039"/>
            <a:ext cx="7680960" cy="640080"/>
          </a:xfrm>
          <a:prstGeom prst="rect">
            <a:avLst/>
          </a:prstGeom>
          <a:noFill/>
        </p:spPr>
        <p:txBody>
          <a:bodyPr wrap="square">
            <a:spAutoFit/>
          </a:bodyPr>
          <a:lstStyle/>
          <a:p>
            <a:pPr algn="l"/>
            <a:r>
              <a:rPr sz="1400" b="0">
                <a:solidFill>
                  <a:srgbClr val="1E293B"/>
                </a:solidFill>
                <a:latin typeface="Arial"/>
              </a:rPr>
              <a:t>Older JavaScript used var to create variables.
For this course we will NOT use var — only let and const.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320040"/>
          </a:xfrm>
          <a:prstGeom prst="rect">
            <a:avLst/>
          </a:prstGeom>
          <a:noFill/>
        </p:spPr>
        <p:txBody>
          <a:bodyPr wrap="square">
            <a:spAutoFit/>
          </a:bodyPr>
          <a:lstStyle/>
          <a:p>
            <a:pPr algn="l"/>
            <a:r>
              <a:rPr sz="1400" b="1">
                <a:solidFill>
                  <a:srgbClr val="0066CC"/>
                </a:solidFill>
                <a:latin typeface="Arial"/>
              </a:rPr>
              <a:t>TOPIC 2</a:t>
            </a:r>
          </a:p>
        </p:txBody>
      </p:sp>
      <p:sp>
        <p:nvSpPr>
          <p:cNvPr id="3" name="TextBox 2"/>
          <p:cNvSpPr txBox="1"/>
          <p:nvPr/>
        </p:nvSpPr>
        <p:spPr>
          <a:xfrm>
            <a:off x="457200" y="731520"/>
            <a:ext cx="8229600" cy="502920"/>
          </a:xfrm>
          <a:prstGeom prst="rect">
            <a:avLst/>
          </a:prstGeom>
          <a:noFill/>
        </p:spPr>
        <p:txBody>
          <a:bodyPr wrap="square">
            <a:spAutoFit/>
          </a:bodyPr>
          <a:lstStyle/>
          <a:p>
            <a:pPr algn="l"/>
            <a:r>
              <a:rPr sz="2800" b="1">
                <a:solidFill>
                  <a:srgbClr val="0066CC"/>
                </a:solidFill>
                <a:latin typeface="Arial"/>
              </a:rPr>
              <a:t>Data Types</a:t>
            </a:r>
          </a:p>
        </p:txBody>
      </p:sp>
      <p:sp>
        <p:nvSpPr>
          <p:cNvPr id="4" name="TextBox 3"/>
          <p:cNvSpPr txBox="1"/>
          <p:nvPr/>
        </p:nvSpPr>
        <p:spPr>
          <a:xfrm>
            <a:off x="457200" y="1371600"/>
            <a:ext cx="8229600" cy="365760"/>
          </a:xfrm>
          <a:prstGeom prst="rect">
            <a:avLst/>
          </a:prstGeom>
          <a:noFill/>
        </p:spPr>
        <p:txBody>
          <a:bodyPr wrap="square">
            <a:spAutoFit/>
          </a:bodyPr>
          <a:lstStyle/>
          <a:p>
            <a:pPr algn="l"/>
            <a:r>
              <a:rPr sz="1500" b="0">
                <a:solidFill>
                  <a:srgbClr val="334155"/>
                </a:solidFill>
                <a:latin typeface="Arial"/>
              </a:rPr>
              <a:t>Every value stored inside a variable has a type</a:t>
            </a:r>
          </a:p>
        </p:txBody>
      </p:sp>
      <p:sp>
        <p:nvSpPr>
          <p:cNvPr id="5" name="Rounded Rectangle 4"/>
          <p:cNvSpPr/>
          <p:nvPr/>
        </p:nvSpPr>
        <p:spPr>
          <a:xfrm>
            <a:off x="457200" y="1920240"/>
            <a:ext cx="8229600" cy="457200"/>
          </a:xfrm>
          <a:prstGeom prst="roundRect">
            <a:avLst>
              <a:gd name="adj" fmla="val 6000"/>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993392"/>
            <a:ext cx="2286000" cy="320040"/>
          </a:xfrm>
          <a:prstGeom prst="rect">
            <a:avLst/>
          </a:prstGeom>
          <a:noFill/>
        </p:spPr>
        <p:txBody>
          <a:bodyPr wrap="square">
            <a:spAutoFit/>
          </a:bodyPr>
          <a:lstStyle/>
          <a:p>
            <a:pPr algn="l"/>
            <a:r>
              <a:rPr sz="1400" b="1">
                <a:solidFill>
                  <a:srgbClr val="0066CC"/>
                </a:solidFill>
                <a:latin typeface="Consolas"/>
              </a:rPr>
              <a:t>string</a:t>
            </a:r>
          </a:p>
        </p:txBody>
      </p:sp>
      <p:sp>
        <p:nvSpPr>
          <p:cNvPr id="7" name="TextBox 6"/>
          <p:cNvSpPr txBox="1"/>
          <p:nvPr/>
        </p:nvSpPr>
        <p:spPr>
          <a:xfrm>
            <a:off x="3200400" y="1993392"/>
            <a:ext cx="5212080" cy="320040"/>
          </a:xfrm>
          <a:prstGeom prst="rect">
            <a:avLst/>
          </a:prstGeom>
          <a:noFill/>
        </p:spPr>
        <p:txBody>
          <a:bodyPr wrap="square">
            <a:spAutoFit/>
          </a:bodyPr>
          <a:lstStyle/>
          <a:p>
            <a:pPr algn="l"/>
            <a:r>
              <a:rPr sz="1300" b="0">
                <a:solidFill>
                  <a:srgbClr val="334155"/>
                </a:solidFill>
                <a:latin typeface="Arial"/>
              </a:rPr>
              <a:t>Any text — between quotation marks</a:t>
            </a:r>
          </a:p>
        </p:txBody>
      </p:sp>
      <p:sp>
        <p:nvSpPr>
          <p:cNvPr id="8" name="Rounded Rectangle 7"/>
          <p:cNvSpPr/>
          <p:nvPr/>
        </p:nvSpPr>
        <p:spPr>
          <a:xfrm>
            <a:off x="457200" y="2423160"/>
            <a:ext cx="8229600" cy="457200"/>
          </a:xfrm>
          <a:prstGeom prst="roundRect">
            <a:avLst>
              <a:gd name="adj" fmla="val 6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2496312"/>
            <a:ext cx="2286000" cy="320040"/>
          </a:xfrm>
          <a:prstGeom prst="rect">
            <a:avLst/>
          </a:prstGeom>
          <a:noFill/>
        </p:spPr>
        <p:txBody>
          <a:bodyPr wrap="square">
            <a:spAutoFit/>
          </a:bodyPr>
          <a:lstStyle/>
          <a:p>
            <a:pPr algn="l"/>
            <a:r>
              <a:rPr sz="1400" b="1">
                <a:solidFill>
                  <a:srgbClr val="0066CC"/>
                </a:solidFill>
                <a:latin typeface="Consolas"/>
              </a:rPr>
              <a:t>number</a:t>
            </a:r>
          </a:p>
        </p:txBody>
      </p:sp>
      <p:sp>
        <p:nvSpPr>
          <p:cNvPr id="10" name="TextBox 9"/>
          <p:cNvSpPr txBox="1"/>
          <p:nvPr/>
        </p:nvSpPr>
        <p:spPr>
          <a:xfrm>
            <a:off x="3200400" y="2496312"/>
            <a:ext cx="5212080" cy="320040"/>
          </a:xfrm>
          <a:prstGeom prst="rect">
            <a:avLst/>
          </a:prstGeom>
          <a:noFill/>
        </p:spPr>
        <p:txBody>
          <a:bodyPr wrap="square">
            <a:spAutoFit/>
          </a:bodyPr>
          <a:lstStyle/>
          <a:p>
            <a:pPr algn="l"/>
            <a:r>
              <a:rPr sz="1300" b="0">
                <a:solidFill>
                  <a:srgbClr val="334155"/>
                </a:solidFill>
                <a:latin typeface="Arial"/>
              </a:rPr>
              <a:t>Numeric values — integers or decimals</a:t>
            </a:r>
          </a:p>
        </p:txBody>
      </p:sp>
      <p:sp>
        <p:nvSpPr>
          <p:cNvPr id="11" name="Rounded Rectangle 10"/>
          <p:cNvSpPr/>
          <p:nvPr/>
        </p:nvSpPr>
        <p:spPr>
          <a:xfrm>
            <a:off x="457200" y="2926080"/>
            <a:ext cx="8229600" cy="457200"/>
          </a:xfrm>
          <a:prstGeom prst="roundRect">
            <a:avLst>
              <a:gd name="adj" fmla="val 6000"/>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2999232"/>
            <a:ext cx="2286000" cy="320040"/>
          </a:xfrm>
          <a:prstGeom prst="rect">
            <a:avLst/>
          </a:prstGeom>
          <a:noFill/>
        </p:spPr>
        <p:txBody>
          <a:bodyPr wrap="square">
            <a:spAutoFit/>
          </a:bodyPr>
          <a:lstStyle/>
          <a:p>
            <a:pPr algn="l"/>
            <a:r>
              <a:rPr sz="1400" b="1">
                <a:solidFill>
                  <a:srgbClr val="0066CC"/>
                </a:solidFill>
                <a:latin typeface="Consolas"/>
              </a:rPr>
              <a:t>boolean</a:t>
            </a:r>
          </a:p>
        </p:txBody>
      </p:sp>
      <p:sp>
        <p:nvSpPr>
          <p:cNvPr id="13" name="TextBox 12"/>
          <p:cNvSpPr txBox="1"/>
          <p:nvPr/>
        </p:nvSpPr>
        <p:spPr>
          <a:xfrm>
            <a:off x="3200400" y="2999232"/>
            <a:ext cx="5212080" cy="320040"/>
          </a:xfrm>
          <a:prstGeom prst="rect">
            <a:avLst/>
          </a:prstGeom>
          <a:noFill/>
        </p:spPr>
        <p:txBody>
          <a:bodyPr wrap="square">
            <a:spAutoFit/>
          </a:bodyPr>
          <a:lstStyle/>
          <a:p>
            <a:pPr algn="l"/>
            <a:r>
              <a:rPr sz="1300" b="0">
                <a:solidFill>
                  <a:srgbClr val="334155"/>
                </a:solidFill>
                <a:latin typeface="Arial"/>
              </a:rPr>
              <a:t>Logical value — true or false</a:t>
            </a:r>
          </a:p>
        </p:txBody>
      </p:sp>
      <p:sp>
        <p:nvSpPr>
          <p:cNvPr id="14" name="Rounded Rectangle 13"/>
          <p:cNvSpPr/>
          <p:nvPr/>
        </p:nvSpPr>
        <p:spPr>
          <a:xfrm>
            <a:off x="457200" y="3429000"/>
            <a:ext cx="8229600" cy="457200"/>
          </a:xfrm>
          <a:prstGeom prst="roundRect">
            <a:avLst>
              <a:gd name="adj" fmla="val 6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 y="3502152"/>
            <a:ext cx="2286000" cy="320040"/>
          </a:xfrm>
          <a:prstGeom prst="rect">
            <a:avLst/>
          </a:prstGeom>
          <a:noFill/>
        </p:spPr>
        <p:txBody>
          <a:bodyPr wrap="square">
            <a:spAutoFit/>
          </a:bodyPr>
          <a:lstStyle/>
          <a:p>
            <a:pPr algn="l"/>
            <a:r>
              <a:rPr sz="1400" b="1">
                <a:solidFill>
                  <a:srgbClr val="0066CC"/>
                </a:solidFill>
                <a:latin typeface="Consolas"/>
              </a:rPr>
              <a:t>undefined</a:t>
            </a:r>
          </a:p>
        </p:txBody>
      </p:sp>
      <p:sp>
        <p:nvSpPr>
          <p:cNvPr id="16" name="TextBox 15"/>
          <p:cNvSpPr txBox="1"/>
          <p:nvPr/>
        </p:nvSpPr>
        <p:spPr>
          <a:xfrm>
            <a:off x="3200400" y="3502152"/>
            <a:ext cx="5212080" cy="320040"/>
          </a:xfrm>
          <a:prstGeom prst="rect">
            <a:avLst/>
          </a:prstGeom>
          <a:noFill/>
        </p:spPr>
        <p:txBody>
          <a:bodyPr wrap="square">
            <a:spAutoFit/>
          </a:bodyPr>
          <a:lstStyle/>
          <a:p>
            <a:pPr algn="l"/>
            <a:r>
              <a:rPr sz="1300" b="0">
                <a:solidFill>
                  <a:srgbClr val="334155"/>
                </a:solidFill>
                <a:latin typeface="Arial"/>
              </a:rPr>
              <a:t>Variable exists, but no value assigned yet</a:t>
            </a:r>
          </a:p>
        </p:txBody>
      </p:sp>
      <p:sp>
        <p:nvSpPr>
          <p:cNvPr id="17" name="Rounded Rectangle 16"/>
          <p:cNvSpPr/>
          <p:nvPr/>
        </p:nvSpPr>
        <p:spPr>
          <a:xfrm>
            <a:off x="457200" y="3931920"/>
            <a:ext cx="8229600" cy="457200"/>
          </a:xfrm>
          <a:prstGeom prst="roundRect">
            <a:avLst>
              <a:gd name="adj" fmla="val 6000"/>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4005072"/>
            <a:ext cx="2286000" cy="320040"/>
          </a:xfrm>
          <a:prstGeom prst="rect">
            <a:avLst/>
          </a:prstGeom>
          <a:noFill/>
        </p:spPr>
        <p:txBody>
          <a:bodyPr wrap="square">
            <a:spAutoFit/>
          </a:bodyPr>
          <a:lstStyle/>
          <a:p>
            <a:pPr algn="l"/>
            <a:r>
              <a:rPr sz="1400" b="1">
                <a:solidFill>
                  <a:srgbClr val="0066CC"/>
                </a:solidFill>
                <a:latin typeface="Consolas"/>
              </a:rPr>
              <a:t>null</a:t>
            </a:r>
          </a:p>
        </p:txBody>
      </p:sp>
      <p:sp>
        <p:nvSpPr>
          <p:cNvPr id="19" name="TextBox 18"/>
          <p:cNvSpPr txBox="1"/>
          <p:nvPr/>
        </p:nvSpPr>
        <p:spPr>
          <a:xfrm>
            <a:off x="3200400" y="4005072"/>
            <a:ext cx="5212080" cy="320040"/>
          </a:xfrm>
          <a:prstGeom prst="rect">
            <a:avLst/>
          </a:prstGeom>
          <a:noFill/>
        </p:spPr>
        <p:txBody>
          <a:bodyPr wrap="square">
            <a:spAutoFit/>
          </a:bodyPr>
          <a:lstStyle/>
          <a:p>
            <a:pPr algn="l"/>
            <a:r>
              <a:rPr sz="1300" b="0">
                <a:solidFill>
                  <a:srgbClr val="334155"/>
                </a:solidFill>
                <a:latin typeface="Arial"/>
              </a:rPr>
              <a:t>Value intentionally set to empty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8229600" cy="320040"/>
          </a:xfrm>
          <a:prstGeom prst="rect">
            <a:avLst/>
          </a:prstGeom>
          <a:noFill/>
        </p:spPr>
        <p:txBody>
          <a:bodyPr wrap="square">
            <a:spAutoFit/>
          </a:bodyPr>
          <a:lstStyle/>
          <a:p>
            <a:pPr algn="l"/>
            <a:r>
              <a:rPr sz="2200" b="1">
                <a:solidFill>
                  <a:srgbClr val="0066CC"/>
                </a:solidFill>
                <a:latin typeface="Arial"/>
              </a:rPr>
              <a:t>DATA TYPE EXAMPLES</a:t>
            </a:r>
          </a:p>
        </p:txBody>
      </p:sp>
      <p:sp>
        <p:nvSpPr>
          <p:cNvPr id="3" name="Rounded Rectangle 2"/>
          <p:cNvSpPr/>
          <p:nvPr/>
        </p:nvSpPr>
        <p:spPr>
          <a:xfrm>
            <a:off x="365760" y="731520"/>
            <a:ext cx="8412480" cy="3840480"/>
          </a:xfrm>
          <a:prstGeom prst="roundRect">
            <a:avLst>
              <a:gd name="adj" fmla="val 10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097280"/>
            <a:ext cx="7863840" cy="365760"/>
          </a:xfrm>
          <a:prstGeom prst="rect">
            <a:avLst/>
          </a:prstGeom>
          <a:noFill/>
        </p:spPr>
        <p:txBody>
          <a:bodyPr wrap="square">
            <a:spAutoFit/>
          </a:bodyPr>
          <a:lstStyle/>
          <a:p>
            <a:pPr algn="l"/>
            <a:r>
              <a:rPr sz="1500" b="0">
                <a:solidFill>
                  <a:srgbClr val="FFFFFF"/>
                </a:solidFill>
                <a:latin typeface="Consolas"/>
              </a:rPr>
              <a:t>let userName = "Ezz"; // string</a:t>
            </a:r>
          </a:p>
        </p:txBody>
      </p:sp>
      <p:sp>
        <p:nvSpPr>
          <p:cNvPr id="5" name="TextBox 4"/>
          <p:cNvSpPr txBox="1"/>
          <p:nvPr/>
        </p:nvSpPr>
        <p:spPr>
          <a:xfrm>
            <a:off x="640080" y="1691640"/>
            <a:ext cx="7863840" cy="365760"/>
          </a:xfrm>
          <a:prstGeom prst="rect">
            <a:avLst/>
          </a:prstGeom>
          <a:noFill/>
        </p:spPr>
        <p:txBody>
          <a:bodyPr wrap="square">
            <a:spAutoFit/>
          </a:bodyPr>
          <a:lstStyle/>
          <a:p>
            <a:pPr algn="l"/>
            <a:r>
              <a:rPr sz="1500" b="0">
                <a:solidFill>
                  <a:srgbClr val="FFFFFF"/>
                </a:solidFill>
                <a:latin typeface="Consolas"/>
              </a:rPr>
              <a:t>let age = 25; // number</a:t>
            </a:r>
          </a:p>
        </p:txBody>
      </p:sp>
      <p:sp>
        <p:nvSpPr>
          <p:cNvPr id="6" name="TextBox 5"/>
          <p:cNvSpPr txBox="1"/>
          <p:nvPr/>
        </p:nvSpPr>
        <p:spPr>
          <a:xfrm>
            <a:off x="640080" y="2286000"/>
            <a:ext cx="7863840" cy="365760"/>
          </a:xfrm>
          <a:prstGeom prst="rect">
            <a:avLst/>
          </a:prstGeom>
          <a:noFill/>
        </p:spPr>
        <p:txBody>
          <a:bodyPr wrap="square">
            <a:spAutoFit/>
          </a:bodyPr>
          <a:lstStyle/>
          <a:p>
            <a:pPr algn="l"/>
            <a:r>
              <a:rPr sz="1500" b="0">
                <a:solidFill>
                  <a:srgbClr val="FFFFFF"/>
                </a:solidFill>
                <a:latin typeface="Consolas"/>
              </a:rPr>
              <a:t>let isStudent = true; // boolean</a:t>
            </a:r>
          </a:p>
        </p:txBody>
      </p:sp>
      <p:sp>
        <p:nvSpPr>
          <p:cNvPr id="7" name="TextBox 6"/>
          <p:cNvSpPr txBox="1"/>
          <p:nvPr/>
        </p:nvSpPr>
        <p:spPr>
          <a:xfrm>
            <a:off x="640080" y="2880360"/>
            <a:ext cx="7863840" cy="365760"/>
          </a:xfrm>
          <a:prstGeom prst="rect">
            <a:avLst/>
          </a:prstGeom>
          <a:noFill/>
        </p:spPr>
        <p:txBody>
          <a:bodyPr wrap="square">
            <a:spAutoFit/>
          </a:bodyPr>
          <a:lstStyle/>
          <a:p>
            <a:pPr algn="l"/>
            <a:r>
              <a:rPr sz="1500" b="0">
                <a:solidFill>
                  <a:srgbClr val="FFFFFF"/>
                </a:solidFill>
                <a:latin typeface="Consolas"/>
              </a:rPr>
              <a:t>let job; // undefined — no value assigned yet</a:t>
            </a:r>
          </a:p>
        </p:txBody>
      </p:sp>
      <p:sp>
        <p:nvSpPr>
          <p:cNvPr id="8" name="TextBox 7"/>
          <p:cNvSpPr txBox="1"/>
          <p:nvPr/>
        </p:nvSpPr>
        <p:spPr>
          <a:xfrm>
            <a:off x="640080" y="3474720"/>
            <a:ext cx="7863840" cy="365760"/>
          </a:xfrm>
          <a:prstGeom prst="rect">
            <a:avLst/>
          </a:prstGeom>
          <a:noFill/>
        </p:spPr>
        <p:txBody>
          <a:bodyPr wrap="square">
            <a:spAutoFit/>
          </a:bodyPr>
          <a:lstStyle/>
          <a:p>
            <a:pPr algn="l"/>
            <a:r>
              <a:rPr sz="1500" b="0">
                <a:solidFill>
                  <a:srgbClr val="FFFFFF"/>
                </a:solidFill>
                <a:latin typeface="Consolas"/>
              </a:rPr>
              <a:t>let salary = null; // null — intentionally empty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8229600" cy="365760"/>
          </a:xfrm>
          <a:prstGeom prst="rect">
            <a:avLst/>
          </a:prstGeom>
          <a:noFill/>
        </p:spPr>
        <p:txBody>
          <a:bodyPr wrap="square">
            <a:spAutoFit/>
          </a:bodyPr>
          <a:lstStyle/>
          <a:p>
            <a:pPr algn="l"/>
            <a:r>
              <a:rPr sz="2800" b="1">
                <a:solidFill>
                  <a:srgbClr val="0066CC"/>
                </a:solidFill>
                <a:latin typeface="Consolas"/>
              </a:rPr>
              <a:t>typeof</a:t>
            </a:r>
          </a:p>
        </p:txBody>
      </p:sp>
      <p:sp>
        <p:nvSpPr>
          <p:cNvPr id="3" name="TextBox 2"/>
          <p:cNvSpPr txBox="1"/>
          <p:nvPr/>
        </p:nvSpPr>
        <p:spPr>
          <a:xfrm>
            <a:off x="457200" y="777240"/>
            <a:ext cx="8229600" cy="320040"/>
          </a:xfrm>
          <a:prstGeom prst="rect">
            <a:avLst/>
          </a:prstGeom>
          <a:noFill/>
        </p:spPr>
        <p:txBody>
          <a:bodyPr wrap="square">
            <a:spAutoFit/>
          </a:bodyPr>
          <a:lstStyle/>
          <a:p>
            <a:pPr algn="l"/>
            <a:r>
              <a:rPr sz="1400" b="0">
                <a:solidFill>
                  <a:srgbClr val="334155"/>
                </a:solidFill>
                <a:latin typeface="Arial"/>
              </a:rPr>
              <a:t>Returns the type of a value — we do not need to memorize every type</a:t>
            </a:r>
          </a:p>
        </p:txBody>
      </p:sp>
      <p:sp>
        <p:nvSpPr>
          <p:cNvPr id="4" name="Rounded Rectangle 3"/>
          <p:cNvSpPr/>
          <p:nvPr/>
        </p:nvSpPr>
        <p:spPr>
          <a:xfrm>
            <a:off x="457200" y="1280160"/>
            <a:ext cx="8229600" cy="1097280"/>
          </a:xfrm>
          <a:prstGeom prst="roundRect">
            <a:avLst>
              <a:gd name="adj" fmla="val 10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463040"/>
            <a:ext cx="7680960" cy="731520"/>
          </a:xfrm>
          <a:prstGeom prst="rect">
            <a:avLst/>
          </a:prstGeom>
          <a:noFill/>
        </p:spPr>
        <p:txBody>
          <a:bodyPr wrap="square">
            <a:spAutoFit/>
          </a:bodyPr>
          <a:lstStyle/>
          <a:p>
            <a:pPr algn="ctr"/>
            <a:r>
              <a:rPr sz="1800" b="1">
                <a:solidFill>
                  <a:srgbClr val="1E293B"/>
                </a:solidFill>
                <a:latin typeface="Arial"/>
              </a:rPr>
              <a:t>Value  →  typeof  →  Returned Type</a:t>
            </a:r>
          </a:p>
        </p:txBody>
      </p:sp>
      <p:sp>
        <p:nvSpPr>
          <p:cNvPr id="6" name="Rounded Rectangle 5"/>
          <p:cNvSpPr/>
          <p:nvPr/>
        </p:nvSpPr>
        <p:spPr>
          <a:xfrm>
            <a:off x="457200" y="2651760"/>
            <a:ext cx="8229600" cy="2011680"/>
          </a:xfrm>
          <a:prstGeom prst="roundRect">
            <a:avLst>
              <a:gd name="adj" fmla="val 10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2926080"/>
            <a:ext cx="7680960" cy="320040"/>
          </a:xfrm>
          <a:prstGeom prst="rect">
            <a:avLst/>
          </a:prstGeom>
          <a:noFill/>
        </p:spPr>
        <p:txBody>
          <a:bodyPr wrap="square">
            <a:spAutoFit/>
          </a:bodyPr>
          <a:lstStyle/>
          <a:p>
            <a:pPr algn="l"/>
            <a:r>
              <a:rPr sz="1500" b="0">
                <a:solidFill>
                  <a:srgbClr val="FFFFFF"/>
                </a:solidFill>
                <a:latin typeface="Consolas"/>
              </a:rPr>
              <a:t>console.log(typeof userName); // "string"</a:t>
            </a:r>
          </a:p>
        </p:txBody>
      </p:sp>
      <p:sp>
        <p:nvSpPr>
          <p:cNvPr id="8" name="TextBox 7"/>
          <p:cNvSpPr txBox="1"/>
          <p:nvPr/>
        </p:nvSpPr>
        <p:spPr>
          <a:xfrm>
            <a:off x="731520" y="3429000"/>
            <a:ext cx="7680960" cy="320040"/>
          </a:xfrm>
          <a:prstGeom prst="rect">
            <a:avLst/>
          </a:prstGeom>
          <a:noFill/>
        </p:spPr>
        <p:txBody>
          <a:bodyPr wrap="square">
            <a:spAutoFit/>
          </a:bodyPr>
          <a:lstStyle/>
          <a:p>
            <a:pPr algn="l"/>
            <a:r>
              <a:rPr sz="1500" b="0">
                <a:solidFill>
                  <a:srgbClr val="FFFFFF"/>
                </a:solidFill>
                <a:latin typeface="Consolas"/>
              </a:rPr>
              <a:t>console.log(typeof age); // "number"</a:t>
            </a:r>
          </a:p>
        </p:txBody>
      </p:sp>
      <p:sp>
        <p:nvSpPr>
          <p:cNvPr id="9" name="TextBox 8"/>
          <p:cNvSpPr txBox="1"/>
          <p:nvPr/>
        </p:nvSpPr>
        <p:spPr>
          <a:xfrm>
            <a:off x="731520" y="3931920"/>
            <a:ext cx="7680960" cy="320040"/>
          </a:xfrm>
          <a:prstGeom prst="rect">
            <a:avLst/>
          </a:prstGeom>
          <a:noFill/>
        </p:spPr>
        <p:txBody>
          <a:bodyPr wrap="square">
            <a:spAutoFit/>
          </a:bodyPr>
          <a:lstStyle/>
          <a:p>
            <a:pPr algn="l"/>
            <a:r>
              <a:rPr sz="1500" b="0">
                <a:solidFill>
                  <a:srgbClr val="FFFFFF"/>
                </a:solidFill>
                <a:latin typeface="Consolas"/>
              </a:rPr>
              <a:t>console.log(typeof isStudent); // "boolean"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320040"/>
          </a:xfrm>
          <a:prstGeom prst="rect">
            <a:avLst/>
          </a:prstGeom>
          <a:noFill/>
        </p:spPr>
        <p:txBody>
          <a:bodyPr wrap="square">
            <a:spAutoFit/>
          </a:bodyPr>
          <a:lstStyle/>
          <a:p>
            <a:pPr algn="l"/>
            <a:r>
              <a:rPr sz="1400" b="1">
                <a:solidFill>
                  <a:srgbClr val="0066CC"/>
                </a:solidFill>
                <a:latin typeface="Arial"/>
              </a:rPr>
              <a:t>TOPIC 3</a:t>
            </a:r>
          </a:p>
        </p:txBody>
      </p:sp>
      <p:sp>
        <p:nvSpPr>
          <p:cNvPr id="3" name="TextBox 2"/>
          <p:cNvSpPr txBox="1"/>
          <p:nvPr/>
        </p:nvSpPr>
        <p:spPr>
          <a:xfrm>
            <a:off x="457200" y="731520"/>
            <a:ext cx="8229600" cy="502920"/>
          </a:xfrm>
          <a:prstGeom prst="rect">
            <a:avLst/>
          </a:prstGeom>
          <a:noFill/>
        </p:spPr>
        <p:txBody>
          <a:bodyPr wrap="square">
            <a:spAutoFit/>
          </a:bodyPr>
          <a:lstStyle/>
          <a:p>
            <a:pPr algn="l"/>
            <a:r>
              <a:rPr sz="2400" b="1">
                <a:solidFill>
                  <a:srgbClr val="0066CC"/>
                </a:solidFill>
                <a:latin typeface="Arial"/>
              </a:rPr>
              <a:t>Operators: Arithmetic + Comparison</a:t>
            </a:r>
          </a:p>
        </p:txBody>
      </p:sp>
      <p:sp>
        <p:nvSpPr>
          <p:cNvPr id="4" name="Rounded Rectangle 3"/>
          <p:cNvSpPr/>
          <p:nvPr/>
        </p:nvSpPr>
        <p:spPr>
          <a:xfrm>
            <a:off x="457200" y="1554480"/>
            <a:ext cx="8229600" cy="2286000"/>
          </a:xfrm>
          <a:prstGeom prst="roundRect">
            <a:avLst>
              <a:gd name="adj" fmla="val 10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920240"/>
            <a:ext cx="7680960" cy="1645920"/>
          </a:xfrm>
          <a:prstGeom prst="rect">
            <a:avLst/>
          </a:prstGeom>
          <a:noFill/>
        </p:spPr>
        <p:txBody>
          <a:bodyPr wrap="square">
            <a:spAutoFit/>
          </a:bodyPr>
          <a:lstStyle/>
          <a:p>
            <a:pPr algn="l"/>
            <a:r>
              <a:rPr sz="1600" b="0">
                <a:solidFill>
                  <a:srgbClr val="1E293B"/>
                </a:solidFill>
                <a:latin typeface="Arial"/>
              </a:rPr>
              <a:t>Now that we have values, we need a way to perform operations on them.
This is where Operators come in.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8229600" cy="365760"/>
          </a:xfrm>
          <a:prstGeom prst="rect">
            <a:avLst/>
          </a:prstGeom>
          <a:noFill/>
        </p:spPr>
        <p:txBody>
          <a:bodyPr wrap="square">
            <a:spAutoFit/>
          </a:bodyPr>
          <a:lstStyle/>
          <a:p>
            <a:pPr algn="l"/>
            <a:r>
              <a:rPr sz="2400" b="1">
                <a:solidFill>
                  <a:srgbClr val="0066CC"/>
                </a:solidFill>
                <a:latin typeface="Arial"/>
              </a:rPr>
              <a:t>ARITHMETIC OPERATORS</a:t>
            </a:r>
          </a:p>
        </p:txBody>
      </p:sp>
      <p:sp>
        <p:nvSpPr>
          <p:cNvPr id="3" name="TextBox 2"/>
          <p:cNvSpPr txBox="1"/>
          <p:nvPr/>
        </p:nvSpPr>
        <p:spPr>
          <a:xfrm>
            <a:off x="457200" y="731520"/>
            <a:ext cx="8229600" cy="274320"/>
          </a:xfrm>
          <a:prstGeom prst="rect">
            <a:avLst/>
          </a:prstGeom>
          <a:noFill/>
        </p:spPr>
        <p:txBody>
          <a:bodyPr wrap="square">
            <a:spAutoFit/>
          </a:bodyPr>
          <a:lstStyle/>
          <a:p>
            <a:pPr algn="l"/>
            <a:r>
              <a:rPr sz="1400" b="0">
                <a:solidFill>
                  <a:srgbClr val="334155"/>
                </a:solidFill>
                <a:latin typeface="Arial"/>
              </a:rPr>
              <a:t>Used for mathematical operations</a:t>
            </a:r>
          </a:p>
        </p:txBody>
      </p:sp>
      <p:sp>
        <p:nvSpPr>
          <p:cNvPr id="4" name="Rounded Rectangle 3"/>
          <p:cNvSpPr/>
          <p:nvPr/>
        </p:nvSpPr>
        <p:spPr>
          <a:xfrm>
            <a:off x="365760" y="1188720"/>
            <a:ext cx="8412480" cy="3474720"/>
          </a:xfrm>
          <a:prstGeom prst="roundRect">
            <a:avLst>
              <a:gd name="adj" fmla="val 10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17320"/>
            <a:ext cx="7863840" cy="274320"/>
          </a:xfrm>
          <a:prstGeom prst="rect">
            <a:avLst/>
          </a:prstGeom>
          <a:noFill/>
        </p:spPr>
        <p:txBody>
          <a:bodyPr wrap="square">
            <a:spAutoFit/>
          </a:bodyPr>
          <a:lstStyle/>
          <a:p>
            <a:pPr algn="l"/>
            <a:r>
              <a:rPr sz="1500" b="0">
                <a:solidFill>
                  <a:srgbClr val="FFFFFF"/>
                </a:solidFill>
                <a:latin typeface="Consolas"/>
              </a:rPr>
              <a:t>let a = 10;</a:t>
            </a:r>
          </a:p>
        </p:txBody>
      </p:sp>
      <p:sp>
        <p:nvSpPr>
          <p:cNvPr id="6" name="TextBox 5"/>
          <p:cNvSpPr txBox="1"/>
          <p:nvPr/>
        </p:nvSpPr>
        <p:spPr>
          <a:xfrm>
            <a:off x="640080" y="1783080"/>
            <a:ext cx="7863840" cy="274320"/>
          </a:xfrm>
          <a:prstGeom prst="rect">
            <a:avLst/>
          </a:prstGeom>
          <a:noFill/>
        </p:spPr>
        <p:txBody>
          <a:bodyPr wrap="square">
            <a:spAutoFit/>
          </a:bodyPr>
          <a:lstStyle/>
          <a:p>
            <a:pPr algn="l"/>
            <a:r>
              <a:rPr sz="1500" b="0">
                <a:solidFill>
                  <a:srgbClr val="FFFFFF"/>
                </a:solidFill>
                <a:latin typeface="Consolas"/>
              </a:rPr>
              <a:t>let b = 3;</a:t>
            </a:r>
          </a:p>
        </p:txBody>
      </p:sp>
      <p:sp>
        <p:nvSpPr>
          <p:cNvPr id="7" name="TextBox 6"/>
          <p:cNvSpPr txBox="1"/>
          <p:nvPr/>
        </p:nvSpPr>
        <p:spPr>
          <a:xfrm>
            <a:off x="640080" y="2331720"/>
            <a:ext cx="7863840" cy="320040"/>
          </a:xfrm>
          <a:prstGeom prst="rect">
            <a:avLst/>
          </a:prstGeom>
          <a:noFill/>
        </p:spPr>
        <p:txBody>
          <a:bodyPr wrap="square">
            <a:spAutoFit/>
          </a:bodyPr>
          <a:lstStyle/>
          <a:p>
            <a:pPr algn="l"/>
            <a:r>
              <a:rPr sz="1400" b="0">
                <a:solidFill>
                  <a:srgbClr val="FFFFFF"/>
                </a:solidFill>
                <a:latin typeface="Consolas"/>
              </a:rPr>
              <a:t>console.log(a + b); // 13  Addition</a:t>
            </a:r>
          </a:p>
        </p:txBody>
      </p:sp>
      <p:sp>
        <p:nvSpPr>
          <p:cNvPr id="8" name="TextBox 7"/>
          <p:cNvSpPr txBox="1"/>
          <p:nvPr/>
        </p:nvSpPr>
        <p:spPr>
          <a:xfrm>
            <a:off x="640080" y="2743200"/>
            <a:ext cx="7863840" cy="320040"/>
          </a:xfrm>
          <a:prstGeom prst="rect">
            <a:avLst/>
          </a:prstGeom>
          <a:noFill/>
        </p:spPr>
        <p:txBody>
          <a:bodyPr wrap="square">
            <a:spAutoFit/>
          </a:bodyPr>
          <a:lstStyle/>
          <a:p>
            <a:pPr algn="l"/>
            <a:r>
              <a:rPr sz="1400" b="0">
                <a:solidFill>
                  <a:srgbClr val="FFFFFF"/>
                </a:solidFill>
                <a:latin typeface="Consolas"/>
              </a:rPr>
              <a:t>console.log(a - b); // 7   Subtraction</a:t>
            </a:r>
          </a:p>
        </p:txBody>
      </p:sp>
      <p:sp>
        <p:nvSpPr>
          <p:cNvPr id="9" name="TextBox 8"/>
          <p:cNvSpPr txBox="1"/>
          <p:nvPr/>
        </p:nvSpPr>
        <p:spPr>
          <a:xfrm>
            <a:off x="640080" y="3154679"/>
            <a:ext cx="7863840" cy="320040"/>
          </a:xfrm>
          <a:prstGeom prst="rect">
            <a:avLst/>
          </a:prstGeom>
          <a:noFill/>
        </p:spPr>
        <p:txBody>
          <a:bodyPr wrap="square">
            <a:spAutoFit/>
          </a:bodyPr>
          <a:lstStyle/>
          <a:p>
            <a:pPr algn="l"/>
            <a:r>
              <a:rPr sz="1400" b="0">
                <a:solidFill>
                  <a:srgbClr val="FFFFFF"/>
                </a:solidFill>
                <a:latin typeface="Consolas"/>
              </a:rPr>
              <a:t>console.log(a * b); // 30  Multiplication</a:t>
            </a:r>
          </a:p>
        </p:txBody>
      </p:sp>
      <p:sp>
        <p:nvSpPr>
          <p:cNvPr id="10" name="TextBox 9"/>
          <p:cNvSpPr txBox="1"/>
          <p:nvPr/>
        </p:nvSpPr>
        <p:spPr>
          <a:xfrm>
            <a:off x="640080" y="3566160"/>
            <a:ext cx="7863840" cy="320040"/>
          </a:xfrm>
          <a:prstGeom prst="rect">
            <a:avLst/>
          </a:prstGeom>
          <a:noFill/>
        </p:spPr>
        <p:txBody>
          <a:bodyPr wrap="square">
            <a:spAutoFit/>
          </a:bodyPr>
          <a:lstStyle/>
          <a:p>
            <a:pPr algn="l"/>
            <a:r>
              <a:rPr sz="1400" b="0">
                <a:solidFill>
                  <a:srgbClr val="FFFFFF"/>
                </a:solidFill>
                <a:latin typeface="Consolas"/>
              </a:rPr>
              <a:t>console.log(a / b); // 3.33 Division</a:t>
            </a:r>
          </a:p>
        </p:txBody>
      </p:sp>
      <p:sp>
        <p:nvSpPr>
          <p:cNvPr id="11" name="TextBox 10"/>
          <p:cNvSpPr txBox="1"/>
          <p:nvPr/>
        </p:nvSpPr>
        <p:spPr>
          <a:xfrm>
            <a:off x="640080" y="3977639"/>
            <a:ext cx="7863840" cy="320040"/>
          </a:xfrm>
          <a:prstGeom prst="rect">
            <a:avLst/>
          </a:prstGeom>
          <a:noFill/>
        </p:spPr>
        <p:txBody>
          <a:bodyPr wrap="square">
            <a:spAutoFit/>
          </a:bodyPr>
          <a:lstStyle/>
          <a:p>
            <a:pPr algn="l"/>
            <a:r>
              <a:rPr sz="1400" b="0">
                <a:solidFill>
                  <a:srgbClr val="FFFFFF"/>
                </a:solidFill>
                <a:latin typeface="Consolas"/>
              </a:rPr>
              <a:t>console.log(a % b); // 1   Remainder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8229600" cy="365760"/>
          </a:xfrm>
          <a:prstGeom prst="rect">
            <a:avLst/>
          </a:prstGeom>
          <a:noFill/>
        </p:spPr>
        <p:txBody>
          <a:bodyPr wrap="square">
            <a:spAutoFit/>
          </a:bodyPr>
          <a:lstStyle/>
          <a:p>
            <a:pPr algn="l"/>
            <a:r>
              <a:rPr sz="2400" b="1">
                <a:solidFill>
                  <a:srgbClr val="0066CC"/>
                </a:solidFill>
                <a:latin typeface="Arial"/>
              </a:rPr>
              <a:t>COMPARISON OPERATORS</a:t>
            </a:r>
          </a:p>
        </p:txBody>
      </p:sp>
      <p:sp>
        <p:nvSpPr>
          <p:cNvPr id="3" name="TextBox 2"/>
          <p:cNvSpPr txBox="1"/>
          <p:nvPr/>
        </p:nvSpPr>
        <p:spPr>
          <a:xfrm>
            <a:off x="457200" y="731520"/>
            <a:ext cx="8229600" cy="274320"/>
          </a:xfrm>
          <a:prstGeom prst="rect">
            <a:avLst/>
          </a:prstGeom>
          <a:noFill/>
        </p:spPr>
        <p:txBody>
          <a:bodyPr wrap="square">
            <a:spAutoFit/>
          </a:bodyPr>
          <a:lstStyle/>
          <a:p>
            <a:pPr algn="l"/>
            <a:r>
              <a:rPr sz="1400" b="0">
                <a:solidFill>
                  <a:srgbClr val="334155"/>
                </a:solidFill>
                <a:latin typeface="Arial"/>
              </a:rPr>
              <a:t>Compare values — result is always true or false</a:t>
            </a:r>
          </a:p>
        </p:txBody>
      </p:sp>
      <p:sp>
        <p:nvSpPr>
          <p:cNvPr id="4" name="Rounded Rectangle 3"/>
          <p:cNvSpPr/>
          <p:nvPr/>
        </p:nvSpPr>
        <p:spPr>
          <a:xfrm>
            <a:off x="365760" y="1188720"/>
            <a:ext cx="8412480" cy="3474720"/>
          </a:xfrm>
          <a:prstGeom prst="roundRect">
            <a:avLst>
              <a:gd name="adj" fmla="val 10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645920"/>
            <a:ext cx="7680960" cy="411480"/>
          </a:xfrm>
          <a:prstGeom prst="rect">
            <a:avLst/>
          </a:prstGeom>
          <a:noFill/>
        </p:spPr>
        <p:txBody>
          <a:bodyPr wrap="square">
            <a:spAutoFit/>
          </a:bodyPr>
          <a:lstStyle/>
          <a:p>
            <a:pPr algn="l"/>
            <a:r>
              <a:rPr sz="1800" b="0">
                <a:solidFill>
                  <a:srgbClr val="22C55E"/>
                </a:solidFill>
                <a:latin typeface="Consolas"/>
              </a:rPr>
              <a:t>console.log(a &gt; b);  // true</a:t>
            </a:r>
          </a:p>
        </p:txBody>
      </p:sp>
      <p:sp>
        <p:nvSpPr>
          <p:cNvPr id="6" name="TextBox 5"/>
          <p:cNvSpPr txBox="1"/>
          <p:nvPr/>
        </p:nvSpPr>
        <p:spPr>
          <a:xfrm>
            <a:off x="731520" y="2286000"/>
            <a:ext cx="7680960" cy="411480"/>
          </a:xfrm>
          <a:prstGeom prst="rect">
            <a:avLst/>
          </a:prstGeom>
          <a:noFill/>
        </p:spPr>
        <p:txBody>
          <a:bodyPr wrap="square">
            <a:spAutoFit/>
          </a:bodyPr>
          <a:lstStyle/>
          <a:p>
            <a:pPr algn="l"/>
            <a:r>
              <a:rPr sz="1800" b="0">
                <a:solidFill>
                  <a:srgbClr val="EF4444"/>
                </a:solidFill>
                <a:latin typeface="Consolas"/>
              </a:rPr>
              <a:t>console.log(a &lt; b);  // false</a:t>
            </a:r>
          </a:p>
        </p:txBody>
      </p:sp>
      <p:sp>
        <p:nvSpPr>
          <p:cNvPr id="7" name="TextBox 6"/>
          <p:cNvSpPr txBox="1"/>
          <p:nvPr/>
        </p:nvSpPr>
        <p:spPr>
          <a:xfrm>
            <a:off x="731520" y="2926080"/>
            <a:ext cx="7680960" cy="411480"/>
          </a:xfrm>
          <a:prstGeom prst="rect">
            <a:avLst/>
          </a:prstGeom>
          <a:noFill/>
        </p:spPr>
        <p:txBody>
          <a:bodyPr wrap="square">
            <a:spAutoFit/>
          </a:bodyPr>
          <a:lstStyle/>
          <a:p>
            <a:pPr algn="l"/>
            <a:r>
              <a:rPr sz="1800" b="0">
                <a:solidFill>
                  <a:srgbClr val="22C55E"/>
                </a:solidFill>
                <a:latin typeface="Consolas"/>
              </a:rPr>
              <a:t>console.log(a &gt;= 10); // true</a:t>
            </a:r>
          </a:p>
        </p:txBody>
      </p:sp>
      <p:sp>
        <p:nvSpPr>
          <p:cNvPr id="8" name="TextBox 7"/>
          <p:cNvSpPr txBox="1"/>
          <p:nvPr/>
        </p:nvSpPr>
        <p:spPr>
          <a:xfrm>
            <a:off x="731520" y="3566159"/>
            <a:ext cx="7680960" cy="411480"/>
          </a:xfrm>
          <a:prstGeom prst="rect">
            <a:avLst/>
          </a:prstGeom>
          <a:noFill/>
        </p:spPr>
        <p:txBody>
          <a:bodyPr wrap="square">
            <a:spAutoFit/>
          </a:bodyPr>
          <a:lstStyle/>
          <a:p>
            <a:pPr algn="l"/>
            <a:r>
              <a:rPr sz="1800" b="0">
                <a:solidFill>
                  <a:srgbClr val="EF4444"/>
                </a:solidFill>
                <a:latin typeface="Consolas"/>
              </a:rPr>
              <a:t>console.log(a &lt;= 3);  // false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37160"/>
            <a:ext cx="8229600" cy="307777"/>
          </a:xfrm>
          <a:prstGeom prst="rect">
            <a:avLst/>
          </a:prstGeom>
          <a:noFill/>
        </p:spPr>
        <p:txBody>
          <a:bodyPr wrap="square">
            <a:spAutoFit/>
          </a:bodyPr>
          <a:lstStyle/>
          <a:p>
            <a:pPr algn="l"/>
            <a:r>
              <a:rPr sz="1400" b="1" dirty="0">
                <a:solidFill>
                  <a:srgbClr val="0066CC"/>
                </a:solidFill>
                <a:latin typeface="Arial"/>
              </a:rPr>
              <a:t>TASK</a:t>
            </a:r>
          </a:p>
        </p:txBody>
      </p:sp>
      <p:sp>
        <p:nvSpPr>
          <p:cNvPr id="3" name="TextBox 2"/>
          <p:cNvSpPr txBox="1"/>
          <p:nvPr/>
        </p:nvSpPr>
        <p:spPr>
          <a:xfrm>
            <a:off x="457200" y="457200"/>
            <a:ext cx="8229600" cy="365760"/>
          </a:xfrm>
          <a:prstGeom prst="rect">
            <a:avLst/>
          </a:prstGeom>
          <a:noFill/>
        </p:spPr>
        <p:txBody>
          <a:bodyPr wrap="square">
            <a:spAutoFit/>
          </a:bodyPr>
          <a:lstStyle/>
          <a:p>
            <a:pPr algn="l"/>
            <a:r>
              <a:rPr sz="2400" b="1">
                <a:solidFill>
                  <a:srgbClr val="0066CC"/>
                </a:solidFill>
                <a:latin typeface="Arial"/>
              </a:rPr>
              <a:t>Student Information</a:t>
            </a:r>
          </a:p>
        </p:txBody>
      </p:sp>
      <p:sp>
        <p:nvSpPr>
          <p:cNvPr id="4" name="Rounded Rectangle 3"/>
          <p:cNvSpPr/>
          <p:nvPr/>
        </p:nvSpPr>
        <p:spPr>
          <a:xfrm>
            <a:off x="365760" y="1005840"/>
            <a:ext cx="8412480" cy="3566160"/>
          </a:xfrm>
          <a:prstGeom prst="roundRect">
            <a:avLst>
              <a:gd name="adj" fmla="val 10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188720"/>
            <a:ext cx="8046720" cy="347472"/>
          </a:xfrm>
          <a:prstGeom prst="rect">
            <a:avLst/>
          </a:prstGeom>
          <a:noFill/>
        </p:spPr>
        <p:txBody>
          <a:bodyPr wrap="square">
            <a:spAutoFit/>
          </a:bodyPr>
          <a:lstStyle/>
          <a:p>
            <a:pPr algn="l"/>
            <a:r>
              <a:rPr sz="1300" b="0">
                <a:solidFill>
                  <a:srgbClr val="1E293B"/>
                </a:solidFill>
                <a:latin typeface="Arial"/>
              </a:rPr>
              <a:t>• Create a studentName variable and store a student's name.</a:t>
            </a:r>
          </a:p>
        </p:txBody>
      </p:sp>
      <p:sp>
        <p:nvSpPr>
          <p:cNvPr id="6" name="TextBox 5"/>
          <p:cNvSpPr txBox="1"/>
          <p:nvPr/>
        </p:nvSpPr>
        <p:spPr>
          <a:xfrm>
            <a:off x="548640" y="1572768"/>
            <a:ext cx="8046720" cy="347472"/>
          </a:xfrm>
          <a:prstGeom prst="rect">
            <a:avLst/>
          </a:prstGeom>
          <a:noFill/>
        </p:spPr>
        <p:txBody>
          <a:bodyPr wrap="square">
            <a:spAutoFit/>
          </a:bodyPr>
          <a:lstStyle/>
          <a:p>
            <a:pPr algn="l"/>
            <a:r>
              <a:rPr sz="1300" b="0">
                <a:solidFill>
                  <a:srgbClr val="1E293B"/>
                </a:solidFill>
                <a:latin typeface="Arial"/>
              </a:rPr>
              <a:t>• Create an age variable and store the student's age.</a:t>
            </a:r>
          </a:p>
        </p:txBody>
      </p:sp>
      <p:sp>
        <p:nvSpPr>
          <p:cNvPr id="7" name="TextBox 6"/>
          <p:cNvSpPr txBox="1"/>
          <p:nvPr/>
        </p:nvSpPr>
        <p:spPr>
          <a:xfrm>
            <a:off x="548640" y="1956816"/>
            <a:ext cx="8046720" cy="347472"/>
          </a:xfrm>
          <a:prstGeom prst="rect">
            <a:avLst/>
          </a:prstGeom>
          <a:noFill/>
        </p:spPr>
        <p:txBody>
          <a:bodyPr wrap="square">
            <a:spAutoFit/>
          </a:bodyPr>
          <a:lstStyle/>
          <a:p>
            <a:pPr algn="l"/>
            <a:r>
              <a:rPr sz="1300" b="0">
                <a:solidFill>
                  <a:srgbClr val="1E293B"/>
                </a:solidFill>
                <a:latin typeface="Arial"/>
              </a:rPr>
              <a:t>• Create an isStudent variable and set it to true.</a:t>
            </a:r>
          </a:p>
        </p:txBody>
      </p:sp>
      <p:sp>
        <p:nvSpPr>
          <p:cNvPr id="8" name="TextBox 7"/>
          <p:cNvSpPr txBox="1"/>
          <p:nvPr/>
        </p:nvSpPr>
        <p:spPr>
          <a:xfrm>
            <a:off x="548640" y="2340864"/>
            <a:ext cx="8046720" cy="347472"/>
          </a:xfrm>
          <a:prstGeom prst="rect">
            <a:avLst/>
          </a:prstGeom>
          <a:noFill/>
        </p:spPr>
        <p:txBody>
          <a:bodyPr wrap="square">
            <a:spAutoFit/>
          </a:bodyPr>
          <a:lstStyle/>
          <a:p>
            <a:pPr algn="l"/>
            <a:r>
              <a:rPr sz="1300" b="0">
                <a:solidFill>
                  <a:srgbClr val="1E293B"/>
                </a:solidFill>
                <a:latin typeface="Arial"/>
              </a:rPr>
              <a:t>• Create a coursePrice variable and store the course price.</a:t>
            </a:r>
          </a:p>
        </p:txBody>
      </p:sp>
      <p:sp>
        <p:nvSpPr>
          <p:cNvPr id="9" name="TextBox 8"/>
          <p:cNvSpPr txBox="1"/>
          <p:nvPr/>
        </p:nvSpPr>
        <p:spPr>
          <a:xfrm>
            <a:off x="548640" y="2724912"/>
            <a:ext cx="8046720" cy="347472"/>
          </a:xfrm>
          <a:prstGeom prst="rect">
            <a:avLst/>
          </a:prstGeom>
          <a:noFill/>
        </p:spPr>
        <p:txBody>
          <a:bodyPr wrap="square">
            <a:spAutoFit/>
          </a:bodyPr>
          <a:lstStyle/>
          <a:p>
            <a:pPr algn="l"/>
            <a:r>
              <a:rPr sz="1300" b="0">
                <a:solidFill>
                  <a:srgbClr val="1E293B"/>
                </a:solidFill>
                <a:latin typeface="Arial"/>
              </a:rPr>
              <a:t>• Calculate the student's age after 5 years and store it in futureAge.</a:t>
            </a:r>
          </a:p>
        </p:txBody>
      </p:sp>
      <p:sp>
        <p:nvSpPr>
          <p:cNvPr id="10" name="TextBox 9"/>
          <p:cNvSpPr txBox="1"/>
          <p:nvPr/>
        </p:nvSpPr>
        <p:spPr>
          <a:xfrm>
            <a:off x="548640" y="3108960"/>
            <a:ext cx="8046720" cy="347472"/>
          </a:xfrm>
          <a:prstGeom prst="rect">
            <a:avLst/>
          </a:prstGeom>
          <a:noFill/>
        </p:spPr>
        <p:txBody>
          <a:bodyPr wrap="square">
            <a:spAutoFit/>
          </a:bodyPr>
          <a:lstStyle/>
          <a:p>
            <a:pPr algn="l"/>
            <a:r>
              <a:rPr sz="1300" b="0">
                <a:solidFill>
                  <a:srgbClr val="1E293B"/>
                </a:solidFill>
                <a:latin typeface="Arial"/>
              </a:rPr>
              <a:t>• Print the student's name and futureAge.</a:t>
            </a:r>
          </a:p>
        </p:txBody>
      </p:sp>
      <p:sp>
        <p:nvSpPr>
          <p:cNvPr id="11" name="TextBox 10"/>
          <p:cNvSpPr txBox="1"/>
          <p:nvPr/>
        </p:nvSpPr>
        <p:spPr>
          <a:xfrm>
            <a:off x="548640" y="3493008"/>
            <a:ext cx="8046720" cy="347472"/>
          </a:xfrm>
          <a:prstGeom prst="rect">
            <a:avLst/>
          </a:prstGeom>
          <a:noFill/>
        </p:spPr>
        <p:txBody>
          <a:bodyPr wrap="square">
            <a:spAutoFit/>
          </a:bodyPr>
          <a:lstStyle/>
          <a:p>
            <a:pPr algn="l"/>
            <a:r>
              <a:rPr sz="1300" b="0">
                <a:solidFill>
                  <a:srgbClr val="1E293B"/>
                </a:solidFill>
                <a:latin typeface="Arial"/>
              </a:rPr>
              <a:t>• Use typeof to check the type of studentName, age, and isStudent.</a:t>
            </a:r>
          </a:p>
        </p:txBody>
      </p:sp>
      <p:sp>
        <p:nvSpPr>
          <p:cNvPr id="12" name="TextBox 11"/>
          <p:cNvSpPr txBox="1"/>
          <p:nvPr/>
        </p:nvSpPr>
        <p:spPr>
          <a:xfrm>
            <a:off x="548640" y="3877056"/>
            <a:ext cx="8046720" cy="347472"/>
          </a:xfrm>
          <a:prstGeom prst="rect">
            <a:avLst/>
          </a:prstGeom>
          <a:noFill/>
        </p:spPr>
        <p:txBody>
          <a:bodyPr wrap="square">
            <a:spAutoFit/>
          </a:bodyPr>
          <a:lstStyle/>
          <a:p>
            <a:pPr algn="l"/>
            <a:r>
              <a:rPr sz="1300" b="0">
                <a:solidFill>
                  <a:srgbClr val="1E293B"/>
                </a:solidFill>
                <a:latin typeface="Arial"/>
              </a:rPr>
              <a:t>• Check if the student is 18 or older and print the result.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37160"/>
            <a:ext cx="8229600" cy="274320"/>
          </a:xfrm>
          <a:prstGeom prst="rect">
            <a:avLst/>
          </a:prstGeom>
          <a:noFill/>
        </p:spPr>
        <p:txBody>
          <a:bodyPr wrap="square">
            <a:spAutoFit/>
          </a:bodyPr>
          <a:lstStyle/>
          <a:p>
            <a:pPr algn="l"/>
            <a:r>
              <a:rPr sz="1600" b="1">
                <a:solidFill>
                  <a:srgbClr val="0066CC"/>
                </a:solidFill>
                <a:latin typeface="Arial"/>
              </a:rPr>
              <a:t>TASK 1 — REFERENCE SOLUTION</a:t>
            </a:r>
          </a:p>
        </p:txBody>
      </p:sp>
      <p:sp>
        <p:nvSpPr>
          <p:cNvPr id="3" name="Rounded Rectangle 2"/>
          <p:cNvSpPr/>
          <p:nvPr/>
        </p:nvSpPr>
        <p:spPr>
          <a:xfrm>
            <a:off x="274320" y="502920"/>
            <a:ext cx="8595360" cy="4114800"/>
          </a:xfrm>
          <a:prstGeom prst="roundRect">
            <a:avLst>
              <a:gd name="adj" fmla="val 10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640080"/>
            <a:ext cx="8229600" cy="228600"/>
          </a:xfrm>
          <a:prstGeom prst="rect">
            <a:avLst/>
          </a:prstGeom>
          <a:noFill/>
        </p:spPr>
        <p:txBody>
          <a:bodyPr wrap="square">
            <a:spAutoFit/>
          </a:bodyPr>
          <a:lstStyle/>
          <a:p>
            <a:pPr algn="l"/>
            <a:r>
              <a:rPr sz="1400" b="0">
                <a:solidFill>
                  <a:srgbClr val="FFFFFF"/>
                </a:solidFill>
                <a:latin typeface="Consolas"/>
              </a:rPr>
              <a:t>let studentName = "Ahmed";</a:t>
            </a:r>
          </a:p>
        </p:txBody>
      </p:sp>
      <p:sp>
        <p:nvSpPr>
          <p:cNvPr id="5" name="TextBox 4"/>
          <p:cNvSpPr txBox="1"/>
          <p:nvPr/>
        </p:nvSpPr>
        <p:spPr>
          <a:xfrm>
            <a:off x="457200" y="886968"/>
            <a:ext cx="8229600" cy="228600"/>
          </a:xfrm>
          <a:prstGeom prst="rect">
            <a:avLst/>
          </a:prstGeom>
          <a:noFill/>
        </p:spPr>
        <p:txBody>
          <a:bodyPr wrap="square">
            <a:spAutoFit/>
          </a:bodyPr>
          <a:lstStyle/>
          <a:p>
            <a:pPr algn="l"/>
            <a:r>
              <a:rPr sz="1400" b="0">
                <a:solidFill>
                  <a:srgbClr val="FFFFFF"/>
                </a:solidFill>
                <a:latin typeface="Consolas"/>
              </a:rPr>
              <a:t>let age = 20;</a:t>
            </a:r>
          </a:p>
        </p:txBody>
      </p:sp>
      <p:sp>
        <p:nvSpPr>
          <p:cNvPr id="6" name="TextBox 5"/>
          <p:cNvSpPr txBox="1"/>
          <p:nvPr/>
        </p:nvSpPr>
        <p:spPr>
          <a:xfrm>
            <a:off x="457200" y="1133856"/>
            <a:ext cx="8229600" cy="228600"/>
          </a:xfrm>
          <a:prstGeom prst="rect">
            <a:avLst/>
          </a:prstGeom>
          <a:noFill/>
        </p:spPr>
        <p:txBody>
          <a:bodyPr wrap="square">
            <a:spAutoFit/>
          </a:bodyPr>
          <a:lstStyle/>
          <a:p>
            <a:pPr algn="l"/>
            <a:r>
              <a:rPr sz="1400" b="0">
                <a:solidFill>
                  <a:srgbClr val="FFFFFF"/>
                </a:solidFill>
                <a:latin typeface="Consolas"/>
              </a:rPr>
              <a:t>let isStudent = true;</a:t>
            </a:r>
          </a:p>
        </p:txBody>
      </p:sp>
      <p:sp>
        <p:nvSpPr>
          <p:cNvPr id="7" name="TextBox 6"/>
          <p:cNvSpPr txBox="1"/>
          <p:nvPr/>
        </p:nvSpPr>
        <p:spPr>
          <a:xfrm>
            <a:off x="457200" y="1380744"/>
            <a:ext cx="8229600" cy="228600"/>
          </a:xfrm>
          <a:prstGeom prst="rect">
            <a:avLst/>
          </a:prstGeom>
          <a:noFill/>
        </p:spPr>
        <p:txBody>
          <a:bodyPr wrap="square">
            <a:spAutoFit/>
          </a:bodyPr>
          <a:lstStyle/>
          <a:p>
            <a:pPr algn="l"/>
            <a:r>
              <a:rPr sz="1400" b="0">
                <a:solidFill>
                  <a:srgbClr val="FFFFFF"/>
                </a:solidFill>
                <a:latin typeface="Consolas"/>
              </a:rPr>
              <a:t>let coursePrice = 1500;</a:t>
            </a:r>
          </a:p>
        </p:txBody>
      </p:sp>
      <p:sp>
        <p:nvSpPr>
          <p:cNvPr id="8" name="TextBox 7"/>
          <p:cNvSpPr txBox="1"/>
          <p:nvPr/>
        </p:nvSpPr>
        <p:spPr>
          <a:xfrm>
            <a:off x="457200" y="1874519"/>
            <a:ext cx="8229600" cy="228600"/>
          </a:xfrm>
          <a:prstGeom prst="rect">
            <a:avLst/>
          </a:prstGeom>
          <a:noFill/>
        </p:spPr>
        <p:txBody>
          <a:bodyPr wrap="square">
            <a:spAutoFit/>
          </a:bodyPr>
          <a:lstStyle/>
          <a:p>
            <a:pPr algn="l"/>
            <a:r>
              <a:rPr sz="1400" b="0">
                <a:solidFill>
                  <a:srgbClr val="7DD3FC"/>
                </a:solidFill>
                <a:latin typeface="Consolas"/>
              </a:rPr>
              <a:t>let futureAge = age + 5;</a:t>
            </a:r>
          </a:p>
        </p:txBody>
      </p:sp>
      <p:sp>
        <p:nvSpPr>
          <p:cNvPr id="9" name="TextBox 8"/>
          <p:cNvSpPr txBox="1"/>
          <p:nvPr/>
        </p:nvSpPr>
        <p:spPr>
          <a:xfrm>
            <a:off x="457200" y="2368296"/>
            <a:ext cx="8229600" cy="228600"/>
          </a:xfrm>
          <a:prstGeom prst="rect">
            <a:avLst/>
          </a:prstGeom>
          <a:noFill/>
        </p:spPr>
        <p:txBody>
          <a:bodyPr wrap="square">
            <a:spAutoFit/>
          </a:bodyPr>
          <a:lstStyle/>
          <a:p>
            <a:pPr algn="l"/>
            <a:r>
              <a:rPr sz="1400" b="0">
                <a:solidFill>
                  <a:srgbClr val="22C55E"/>
                </a:solidFill>
                <a:latin typeface="Consolas"/>
              </a:rPr>
              <a:t>console.log(studentName);</a:t>
            </a:r>
          </a:p>
        </p:txBody>
      </p:sp>
      <p:sp>
        <p:nvSpPr>
          <p:cNvPr id="10" name="TextBox 9"/>
          <p:cNvSpPr txBox="1"/>
          <p:nvPr/>
        </p:nvSpPr>
        <p:spPr>
          <a:xfrm>
            <a:off x="457200" y="2615184"/>
            <a:ext cx="8229600" cy="228600"/>
          </a:xfrm>
          <a:prstGeom prst="rect">
            <a:avLst/>
          </a:prstGeom>
          <a:noFill/>
        </p:spPr>
        <p:txBody>
          <a:bodyPr wrap="square">
            <a:spAutoFit/>
          </a:bodyPr>
          <a:lstStyle/>
          <a:p>
            <a:pPr algn="l"/>
            <a:r>
              <a:rPr sz="1400" b="0">
                <a:solidFill>
                  <a:srgbClr val="22C55E"/>
                </a:solidFill>
                <a:latin typeface="Consolas"/>
              </a:rPr>
              <a:t>console.log(futureAge);</a:t>
            </a:r>
          </a:p>
        </p:txBody>
      </p:sp>
      <p:sp>
        <p:nvSpPr>
          <p:cNvPr id="11" name="TextBox 10"/>
          <p:cNvSpPr txBox="1"/>
          <p:nvPr/>
        </p:nvSpPr>
        <p:spPr>
          <a:xfrm>
            <a:off x="457200" y="3108960"/>
            <a:ext cx="8229600" cy="228600"/>
          </a:xfrm>
          <a:prstGeom prst="rect">
            <a:avLst/>
          </a:prstGeom>
          <a:noFill/>
        </p:spPr>
        <p:txBody>
          <a:bodyPr wrap="square">
            <a:spAutoFit/>
          </a:bodyPr>
          <a:lstStyle/>
          <a:p>
            <a:pPr algn="l"/>
            <a:r>
              <a:rPr sz="1400" b="0">
                <a:solidFill>
                  <a:srgbClr val="22C55E"/>
                </a:solidFill>
                <a:latin typeface="Consolas"/>
              </a:rPr>
              <a:t>console.log(typeof studentName);</a:t>
            </a:r>
          </a:p>
        </p:txBody>
      </p:sp>
      <p:sp>
        <p:nvSpPr>
          <p:cNvPr id="12" name="TextBox 11"/>
          <p:cNvSpPr txBox="1"/>
          <p:nvPr/>
        </p:nvSpPr>
        <p:spPr>
          <a:xfrm>
            <a:off x="457200" y="3355848"/>
            <a:ext cx="8229600" cy="228600"/>
          </a:xfrm>
          <a:prstGeom prst="rect">
            <a:avLst/>
          </a:prstGeom>
          <a:noFill/>
        </p:spPr>
        <p:txBody>
          <a:bodyPr wrap="square">
            <a:spAutoFit/>
          </a:bodyPr>
          <a:lstStyle/>
          <a:p>
            <a:pPr algn="l"/>
            <a:r>
              <a:rPr sz="1400" b="0">
                <a:solidFill>
                  <a:srgbClr val="22C55E"/>
                </a:solidFill>
                <a:latin typeface="Consolas"/>
              </a:rPr>
              <a:t>console.log(typeof age);</a:t>
            </a:r>
          </a:p>
        </p:txBody>
      </p:sp>
      <p:sp>
        <p:nvSpPr>
          <p:cNvPr id="13" name="TextBox 12"/>
          <p:cNvSpPr txBox="1"/>
          <p:nvPr/>
        </p:nvSpPr>
        <p:spPr>
          <a:xfrm>
            <a:off x="457200" y="3602736"/>
            <a:ext cx="8229600" cy="228600"/>
          </a:xfrm>
          <a:prstGeom prst="rect">
            <a:avLst/>
          </a:prstGeom>
          <a:noFill/>
        </p:spPr>
        <p:txBody>
          <a:bodyPr wrap="square">
            <a:spAutoFit/>
          </a:bodyPr>
          <a:lstStyle/>
          <a:p>
            <a:pPr algn="l"/>
            <a:r>
              <a:rPr sz="1400" b="0">
                <a:solidFill>
                  <a:srgbClr val="22C55E"/>
                </a:solidFill>
                <a:latin typeface="Consolas"/>
              </a:rPr>
              <a:t>console.log(typeof isStudent);</a:t>
            </a:r>
          </a:p>
        </p:txBody>
      </p:sp>
      <p:sp>
        <p:nvSpPr>
          <p:cNvPr id="14" name="TextBox 13"/>
          <p:cNvSpPr txBox="1"/>
          <p:nvPr/>
        </p:nvSpPr>
        <p:spPr>
          <a:xfrm>
            <a:off x="457200" y="4096512"/>
            <a:ext cx="8229600" cy="228600"/>
          </a:xfrm>
          <a:prstGeom prst="rect">
            <a:avLst/>
          </a:prstGeom>
          <a:noFill/>
        </p:spPr>
        <p:txBody>
          <a:bodyPr wrap="square">
            <a:spAutoFit/>
          </a:bodyPr>
          <a:lstStyle/>
          <a:p>
            <a:pPr algn="l"/>
            <a:r>
              <a:rPr sz="1400" b="0">
                <a:solidFill>
                  <a:srgbClr val="22C55E"/>
                </a:solidFill>
                <a:latin typeface="Consolas"/>
              </a:rPr>
              <a:t>console.log(age &gt;= 18);</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37160"/>
            <a:ext cx="8229600" cy="307777"/>
          </a:xfrm>
          <a:prstGeom prst="rect">
            <a:avLst/>
          </a:prstGeom>
          <a:noFill/>
        </p:spPr>
        <p:txBody>
          <a:bodyPr wrap="square">
            <a:spAutoFit/>
          </a:bodyPr>
          <a:lstStyle/>
          <a:p>
            <a:pPr algn="l"/>
            <a:r>
              <a:rPr sz="1400" b="1" dirty="0">
                <a:solidFill>
                  <a:srgbClr val="0066CC"/>
                </a:solidFill>
                <a:latin typeface="Arial"/>
              </a:rPr>
              <a:t>TASK 2</a:t>
            </a:r>
          </a:p>
        </p:txBody>
      </p:sp>
      <p:sp>
        <p:nvSpPr>
          <p:cNvPr id="3" name="TextBox 2"/>
          <p:cNvSpPr txBox="1"/>
          <p:nvPr/>
        </p:nvSpPr>
        <p:spPr>
          <a:xfrm>
            <a:off x="457200" y="457200"/>
            <a:ext cx="8229600" cy="365760"/>
          </a:xfrm>
          <a:prstGeom prst="rect">
            <a:avLst/>
          </a:prstGeom>
          <a:noFill/>
        </p:spPr>
        <p:txBody>
          <a:bodyPr wrap="square">
            <a:spAutoFit/>
          </a:bodyPr>
          <a:lstStyle/>
          <a:p>
            <a:pPr algn="l"/>
            <a:r>
              <a:rPr sz="2400" b="1">
                <a:solidFill>
                  <a:srgbClr val="0066CC"/>
                </a:solidFill>
                <a:latin typeface="Arial"/>
              </a:rPr>
              <a:t>Product Order</a:t>
            </a:r>
          </a:p>
        </p:txBody>
      </p:sp>
      <p:sp>
        <p:nvSpPr>
          <p:cNvPr id="4" name="Rounded Rectangle 3"/>
          <p:cNvSpPr/>
          <p:nvPr/>
        </p:nvSpPr>
        <p:spPr>
          <a:xfrm>
            <a:off x="365760" y="960120"/>
            <a:ext cx="8412480" cy="3657600"/>
          </a:xfrm>
          <a:prstGeom prst="roundRect">
            <a:avLst>
              <a:gd name="adj" fmla="val 10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097280"/>
            <a:ext cx="8046720" cy="292608"/>
          </a:xfrm>
          <a:prstGeom prst="rect">
            <a:avLst/>
          </a:prstGeom>
          <a:noFill/>
        </p:spPr>
        <p:txBody>
          <a:bodyPr wrap="square">
            <a:spAutoFit/>
          </a:bodyPr>
          <a:lstStyle/>
          <a:p>
            <a:pPr algn="l"/>
            <a:r>
              <a:rPr sz="1200" b="0">
                <a:solidFill>
                  <a:srgbClr val="1E293B"/>
                </a:solidFill>
                <a:latin typeface="Arial"/>
              </a:rPr>
              <a:t>• Create a productName variable and store a product name.</a:t>
            </a:r>
          </a:p>
        </p:txBody>
      </p:sp>
      <p:sp>
        <p:nvSpPr>
          <p:cNvPr id="6" name="TextBox 5"/>
          <p:cNvSpPr txBox="1"/>
          <p:nvPr/>
        </p:nvSpPr>
        <p:spPr>
          <a:xfrm>
            <a:off x="548640" y="1417319"/>
            <a:ext cx="8046720" cy="292608"/>
          </a:xfrm>
          <a:prstGeom prst="rect">
            <a:avLst/>
          </a:prstGeom>
          <a:noFill/>
        </p:spPr>
        <p:txBody>
          <a:bodyPr wrap="square">
            <a:spAutoFit/>
          </a:bodyPr>
          <a:lstStyle/>
          <a:p>
            <a:pPr algn="l"/>
            <a:r>
              <a:rPr sz="1200" b="0">
                <a:solidFill>
                  <a:srgbClr val="1E293B"/>
                </a:solidFill>
                <a:latin typeface="Arial"/>
              </a:rPr>
              <a:t>• Create a price variable and store the product price.</a:t>
            </a:r>
          </a:p>
        </p:txBody>
      </p:sp>
      <p:sp>
        <p:nvSpPr>
          <p:cNvPr id="7" name="TextBox 6"/>
          <p:cNvSpPr txBox="1"/>
          <p:nvPr/>
        </p:nvSpPr>
        <p:spPr>
          <a:xfrm>
            <a:off x="548640" y="1737360"/>
            <a:ext cx="8046720" cy="292608"/>
          </a:xfrm>
          <a:prstGeom prst="rect">
            <a:avLst/>
          </a:prstGeom>
          <a:noFill/>
        </p:spPr>
        <p:txBody>
          <a:bodyPr wrap="square">
            <a:spAutoFit/>
          </a:bodyPr>
          <a:lstStyle/>
          <a:p>
            <a:pPr algn="l"/>
            <a:r>
              <a:rPr sz="1200" b="0">
                <a:solidFill>
                  <a:srgbClr val="1E293B"/>
                </a:solidFill>
                <a:latin typeface="Arial"/>
              </a:rPr>
              <a:t>• Create a quantity variable and store the number of items.</a:t>
            </a:r>
          </a:p>
        </p:txBody>
      </p:sp>
      <p:sp>
        <p:nvSpPr>
          <p:cNvPr id="8" name="TextBox 7"/>
          <p:cNvSpPr txBox="1"/>
          <p:nvPr/>
        </p:nvSpPr>
        <p:spPr>
          <a:xfrm>
            <a:off x="548640" y="2057400"/>
            <a:ext cx="8046720" cy="292608"/>
          </a:xfrm>
          <a:prstGeom prst="rect">
            <a:avLst/>
          </a:prstGeom>
          <a:noFill/>
        </p:spPr>
        <p:txBody>
          <a:bodyPr wrap="square">
            <a:spAutoFit/>
          </a:bodyPr>
          <a:lstStyle/>
          <a:p>
            <a:pPr algn="l"/>
            <a:r>
              <a:rPr sz="1200" b="0">
                <a:solidFill>
                  <a:srgbClr val="1E293B"/>
                </a:solidFill>
                <a:latin typeface="Arial"/>
              </a:rPr>
              <a:t>• Create an isAvailable variable and set it to true or false.</a:t>
            </a:r>
          </a:p>
        </p:txBody>
      </p:sp>
      <p:sp>
        <p:nvSpPr>
          <p:cNvPr id="9" name="TextBox 8"/>
          <p:cNvSpPr txBox="1"/>
          <p:nvPr/>
        </p:nvSpPr>
        <p:spPr>
          <a:xfrm>
            <a:off x="548640" y="2377439"/>
            <a:ext cx="8046720" cy="292608"/>
          </a:xfrm>
          <a:prstGeom prst="rect">
            <a:avLst/>
          </a:prstGeom>
          <a:noFill/>
        </p:spPr>
        <p:txBody>
          <a:bodyPr wrap="square">
            <a:spAutoFit/>
          </a:bodyPr>
          <a:lstStyle/>
          <a:p>
            <a:pPr algn="l"/>
            <a:r>
              <a:rPr sz="1200" b="0">
                <a:solidFill>
                  <a:srgbClr val="1E293B"/>
                </a:solidFill>
                <a:latin typeface="Arial"/>
              </a:rPr>
              <a:t>• Calculate the total price and store it in totalPrice.</a:t>
            </a:r>
          </a:p>
        </p:txBody>
      </p:sp>
      <p:sp>
        <p:nvSpPr>
          <p:cNvPr id="10" name="TextBox 9"/>
          <p:cNvSpPr txBox="1"/>
          <p:nvPr/>
        </p:nvSpPr>
        <p:spPr>
          <a:xfrm>
            <a:off x="548640" y="2697480"/>
            <a:ext cx="8046720" cy="292608"/>
          </a:xfrm>
          <a:prstGeom prst="rect">
            <a:avLst/>
          </a:prstGeom>
          <a:noFill/>
        </p:spPr>
        <p:txBody>
          <a:bodyPr wrap="square">
            <a:spAutoFit/>
          </a:bodyPr>
          <a:lstStyle/>
          <a:p>
            <a:pPr algn="l"/>
            <a:r>
              <a:rPr sz="1200" b="0">
                <a:solidFill>
                  <a:srgbClr val="1E293B"/>
                </a:solidFill>
                <a:latin typeface="Arial"/>
              </a:rPr>
              <a:t>• Print the product name and total price.</a:t>
            </a:r>
          </a:p>
        </p:txBody>
      </p:sp>
      <p:sp>
        <p:nvSpPr>
          <p:cNvPr id="11" name="TextBox 10"/>
          <p:cNvSpPr txBox="1"/>
          <p:nvPr/>
        </p:nvSpPr>
        <p:spPr>
          <a:xfrm>
            <a:off x="548640" y="3017520"/>
            <a:ext cx="8046720" cy="292608"/>
          </a:xfrm>
          <a:prstGeom prst="rect">
            <a:avLst/>
          </a:prstGeom>
          <a:noFill/>
        </p:spPr>
        <p:txBody>
          <a:bodyPr wrap="square">
            <a:spAutoFit/>
          </a:bodyPr>
          <a:lstStyle/>
          <a:p>
            <a:pPr algn="l"/>
            <a:r>
              <a:rPr sz="1200" b="0">
                <a:solidFill>
                  <a:srgbClr val="1E293B"/>
                </a:solidFill>
                <a:latin typeface="Arial"/>
              </a:rPr>
              <a:t>• Use typeof to check the type of productName, price, and isAvailable.</a:t>
            </a:r>
          </a:p>
        </p:txBody>
      </p:sp>
      <p:sp>
        <p:nvSpPr>
          <p:cNvPr id="12" name="TextBox 11"/>
          <p:cNvSpPr txBox="1"/>
          <p:nvPr/>
        </p:nvSpPr>
        <p:spPr>
          <a:xfrm>
            <a:off x="548640" y="3337559"/>
            <a:ext cx="8046720" cy="292608"/>
          </a:xfrm>
          <a:prstGeom prst="rect">
            <a:avLst/>
          </a:prstGeom>
          <a:noFill/>
        </p:spPr>
        <p:txBody>
          <a:bodyPr wrap="square">
            <a:spAutoFit/>
          </a:bodyPr>
          <a:lstStyle/>
          <a:p>
            <a:pPr algn="l"/>
            <a:r>
              <a:rPr sz="1200" b="0">
                <a:solidFill>
                  <a:srgbClr val="1E293B"/>
                </a:solidFill>
                <a:latin typeface="Arial"/>
              </a:rPr>
              <a:t>• Check if the totalPrice is greater than or equal to 500 and print the result.</a:t>
            </a:r>
          </a:p>
        </p:txBody>
      </p:sp>
      <p:sp>
        <p:nvSpPr>
          <p:cNvPr id="13" name="TextBox 12"/>
          <p:cNvSpPr txBox="1"/>
          <p:nvPr/>
        </p:nvSpPr>
        <p:spPr>
          <a:xfrm>
            <a:off x="548640" y="3977639"/>
            <a:ext cx="8046720" cy="292608"/>
          </a:xfrm>
          <a:prstGeom prst="rect">
            <a:avLst/>
          </a:prstGeom>
          <a:noFill/>
        </p:spPr>
        <p:txBody>
          <a:bodyPr wrap="square">
            <a:spAutoFit/>
          </a:bodyPr>
          <a:lstStyle/>
          <a:p>
            <a:pPr algn="l"/>
            <a:r>
              <a:rPr sz="1200" b="0">
                <a:solidFill>
                  <a:srgbClr val="1E293B"/>
                </a:solidFill>
                <a:latin typeface="Arial"/>
              </a:rPr>
              <a:t>Example: productName="Keyboard", price=300, quantity=2, isAvailable=true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37160"/>
            <a:ext cx="8229600" cy="274320"/>
          </a:xfrm>
          <a:prstGeom prst="rect">
            <a:avLst/>
          </a:prstGeom>
          <a:noFill/>
        </p:spPr>
        <p:txBody>
          <a:bodyPr wrap="square">
            <a:spAutoFit/>
          </a:bodyPr>
          <a:lstStyle/>
          <a:p>
            <a:pPr algn="l"/>
            <a:r>
              <a:rPr sz="1600" b="1">
                <a:solidFill>
                  <a:srgbClr val="0066CC"/>
                </a:solidFill>
                <a:latin typeface="Arial"/>
              </a:rPr>
              <a:t>TASK 2 — REFERENCE SOLUTION</a:t>
            </a:r>
          </a:p>
        </p:txBody>
      </p:sp>
      <p:sp>
        <p:nvSpPr>
          <p:cNvPr id="3" name="Rounded Rectangle 2"/>
          <p:cNvSpPr/>
          <p:nvPr/>
        </p:nvSpPr>
        <p:spPr>
          <a:xfrm>
            <a:off x="274320" y="502920"/>
            <a:ext cx="8595360" cy="4114800"/>
          </a:xfrm>
          <a:prstGeom prst="roundRect">
            <a:avLst>
              <a:gd name="adj" fmla="val 10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640080"/>
            <a:ext cx="8229600" cy="228600"/>
          </a:xfrm>
          <a:prstGeom prst="rect">
            <a:avLst/>
          </a:prstGeom>
          <a:noFill/>
        </p:spPr>
        <p:txBody>
          <a:bodyPr wrap="square">
            <a:spAutoFit/>
          </a:bodyPr>
          <a:lstStyle/>
          <a:p>
            <a:pPr algn="l"/>
            <a:r>
              <a:rPr sz="1400" b="0">
                <a:solidFill>
                  <a:srgbClr val="FFFFFF"/>
                </a:solidFill>
                <a:latin typeface="Consolas"/>
              </a:rPr>
              <a:t>let productName = "Keyboard";</a:t>
            </a:r>
          </a:p>
        </p:txBody>
      </p:sp>
      <p:sp>
        <p:nvSpPr>
          <p:cNvPr id="5" name="TextBox 4"/>
          <p:cNvSpPr txBox="1"/>
          <p:nvPr/>
        </p:nvSpPr>
        <p:spPr>
          <a:xfrm>
            <a:off x="457200" y="886968"/>
            <a:ext cx="8229600" cy="228600"/>
          </a:xfrm>
          <a:prstGeom prst="rect">
            <a:avLst/>
          </a:prstGeom>
          <a:noFill/>
        </p:spPr>
        <p:txBody>
          <a:bodyPr wrap="square">
            <a:spAutoFit/>
          </a:bodyPr>
          <a:lstStyle/>
          <a:p>
            <a:pPr algn="l"/>
            <a:r>
              <a:rPr sz="1400" b="0">
                <a:solidFill>
                  <a:srgbClr val="FFFFFF"/>
                </a:solidFill>
                <a:latin typeface="Consolas"/>
              </a:rPr>
              <a:t>let price = 300;</a:t>
            </a:r>
          </a:p>
        </p:txBody>
      </p:sp>
      <p:sp>
        <p:nvSpPr>
          <p:cNvPr id="6" name="TextBox 5"/>
          <p:cNvSpPr txBox="1"/>
          <p:nvPr/>
        </p:nvSpPr>
        <p:spPr>
          <a:xfrm>
            <a:off x="457200" y="1133856"/>
            <a:ext cx="8229600" cy="228600"/>
          </a:xfrm>
          <a:prstGeom prst="rect">
            <a:avLst/>
          </a:prstGeom>
          <a:noFill/>
        </p:spPr>
        <p:txBody>
          <a:bodyPr wrap="square">
            <a:spAutoFit/>
          </a:bodyPr>
          <a:lstStyle/>
          <a:p>
            <a:pPr algn="l"/>
            <a:r>
              <a:rPr sz="1400" b="0">
                <a:solidFill>
                  <a:srgbClr val="FFFFFF"/>
                </a:solidFill>
                <a:latin typeface="Consolas"/>
              </a:rPr>
              <a:t>let quantity = 2;</a:t>
            </a:r>
          </a:p>
        </p:txBody>
      </p:sp>
      <p:sp>
        <p:nvSpPr>
          <p:cNvPr id="7" name="TextBox 6"/>
          <p:cNvSpPr txBox="1"/>
          <p:nvPr/>
        </p:nvSpPr>
        <p:spPr>
          <a:xfrm>
            <a:off x="457200" y="1380744"/>
            <a:ext cx="8229600" cy="228600"/>
          </a:xfrm>
          <a:prstGeom prst="rect">
            <a:avLst/>
          </a:prstGeom>
          <a:noFill/>
        </p:spPr>
        <p:txBody>
          <a:bodyPr wrap="square">
            <a:spAutoFit/>
          </a:bodyPr>
          <a:lstStyle/>
          <a:p>
            <a:pPr algn="l"/>
            <a:r>
              <a:rPr sz="1400" b="0">
                <a:solidFill>
                  <a:srgbClr val="FFFFFF"/>
                </a:solidFill>
                <a:latin typeface="Consolas"/>
              </a:rPr>
              <a:t>let isAvailable = true;</a:t>
            </a:r>
          </a:p>
        </p:txBody>
      </p:sp>
      <p:sp>
        <p:nvSpPr>
          <p:cNvPr id="8" name="TextBox 7"/>
          <p:cNvSpPr txBox="1"/>
          <p:nvPr/>
        </p:nvSpPr>
        <p:spPr>
          <a:xfrm>
            <a:off x="457200" y="1874519"/>
            <a:ext cx="8229600" cy="228600"/>
          </a:xfrm>
          <a:prstGeom prst="rect">
            <a:avLst/>
          </a:prstGeom>
          <a:noFill/>
        </p:spPr>
        <p:txBody>
          <a:bodyPr wrap="square">
            <a:spAutoFit/>
          </a:bodyPr>
          <a:lstStyle/>
          <a:p>
            <a:pPr algn="l"/>
            <a:r>
              <a:rPr sz="1400" b="0">
                <a:solidFill>
                  <a:srgbClr val="7DD3FC"/>
                </a:solidFill>
                <a:latin typeface="Consolas"/>
              </a:rPr>
              <a:t>let totalPrice = price * quantity;</a:t>
            </a:r>
          </a:p>
        </p:txBody>
      </p:sp>
      <p:sp>
        <p:nvSpPr>
          <p:cNvPr id="9" name="TextBox 8"/>
          <p:cNvSpPr txBox="1"/>
          <p:nvPr/>
        </p:nvSpPr>
        <p:spPr>
          <a:xfrm>
            <a:off x="457200" y="2368296"/>
            <a:ext cx="8229600" cy="228600"/>
          </a:xfrm>
          <a:prstGeom prst="rect">
            <a:avLst/>
          </a:prstGeom>
          <a:noFill/>
        </p:spPr>
        <p:txBody>
          <a:bodyPr wrap="square">
            <a:spAutoFit/>
          </a:bodyPr>
          <a:lstStyle/>
          <a:p>
            <a:pPr algn="l"/>
            <a:r>
              <a:rPr sz="1400" b="0">
                <a:solidFill>
                  <a:srgbClr val="22C55E"/>
                </a:solidFill>
                <a:latin typeface="Consolas"/>
              </a:rPr>
              <a:t>console.log(productName);</a:t>
            </a:r>
          </a:p>
        </p:txBody>
      </p:sp>
      <p:sp>
        <p:nvSpPr>
          <p:cNvPr id="10" name="TextBox 9"/>
          <p:cNvSpPr txBox="1"/>
          <p:nvPr/>
        </p:nvSpPr>
        <p:spPr>
          <a:xfrm>
            <a:off x="457200" y="2615184"/>
            <a:ext cx="8229600" cy="228600"/>
          </a:xfrm>
          <a:prstGeom prst="rect">
            <a:avLst/>
          </a:prstGeom>
          <a:noFill/>
        </p:spPr>
        <p:txBody>
          <a:bodyPr wrap="square">
            <a:spAutoFit/>
          </a:bodyPr>
          <a:lstStyle/>
          <a:p>
            <a:pPr algn="l"/>
            <a:r>
              <a:rPr sz="1400" b="0">
                <a:solidFill>
                  <a:srgbClr val="22C55E"/>
                </a:solidFill>
                <a:latin typeface="Consolas"/>
              </a:rPr>
              <a:t>console.log(totalPrice);</a:t>
            </a:r>
          </a:p>
        </p:txBody>
      </p:sp>
      <p:sp>
        <p:nvSpPr>
          <p:cNvPr id="11" name="TextBox 10"/>
          <p:cNvSpPr txBox="1"/>
          <p:nvPr/>
        </p:nvSpPr>
        <p:spPr>
          <a:xfrm>
            <a:off x="457200" y="3108960"/>
            <a:ext cx="8229600" cy="228600"/>
          </a:xfrm>
          <a:prstGeom prst="rect">
            <a:avLst/>
          </a:prstGeom>
          <a:noFill/>
        </p:spPr>
        <p:txBody>
          <a:bodyPr wrap="square">
            <a:spAutoFit/>
          </a:bodyPr>
          <a:lstStyle/>
          <a:p>
            <a:pPr algn="l"/>
            <a:r>
              <a:rPr sz="1400" b="0">
                <a:solidFill>
                  <a:srgbClr val="22C55E"/>
                </a:solidFill>
                <a:latin typeface="Consolas"/>
              </a:rPr>
              <a:t>console.log(typeof productName);</a:t>
            </a:r>
          </a:p>
        </p:txBody>
      </p:sp>
      <p:sp>
        <p:nvSpPr>
          <p:cNvPr id="12" name="TextBox 11"/>
          <p:cNvSpPr txBox="1"/>
          <p:nvPr/>
        </p:nvSpPr>
        <p:spPr>
          <a:xfrm>
            <a:off x="457200" y="3355848"/>
            <a:ext cx="8229600" cy="228600"/>
          </a:xfrm>
          <a:prstGeom prst="rect">
            <a:avLst/>
          </a:prstGeom>
          <a:noFill/>
        </p:spPr>
        <p:txBody>
          <a:bodyPr wrap="square">
            <a:spAutoFit/>
          </a:bodyPr>
          <a:lstStyle/>
          <a:p>
            <a:pPr algn="l"/>
            <a:r>
              <a:rPr sz="1400" b="0">
                <a:solidFill>
                  <a:srgbClr val="22C55E"/>
                </a:solidFill>
                <a:latin typeface="Consolas"/>
              </a:rPr>
              <a:t>console.log(typeof price);</a:t>
            </a:r>
          </a:p>
        </p:txBody>
      </p:sp>
      <p:sp>
        <p:nvSpPr>
          <p:cNvPr id="13" name="TextBox 12"/>
          <p:cNvSpPr txBox="1"/>
          <p:nvPr/>
        </p:nvSpPr>
        <p:spPr>
          <a:xfrm>
            <a:off x="457200" y="3602736"/>
            <a:ext cx="8229600" cy="228600"/>
          </a:xfrm>
          <a:prstGeom prst="rect">
            <a:avLst/>
          </a:prstGeom>
          <a:noFill/>
        </p:spPr>
        <p:txBody>
          <a:bodyPr wrap="square">
            <a:spAutoFit/>
          </a:bodyPr>
          <a:lstStyle/>
          <a:p>
            <a:pPr algn="l"/>
            <a:r>
              <a:rPr sz="1400" b="0">
                <a:solidFill>
                  <a:srgbClr val="22C55E"/>
                </a:solidFill>
                <a:latin typeface="Consolas"/>
              </a:rPr>
              <a:t>console.log(typeof isAvailable);</a:t>
            </a:r>
          </a:p>
        </p:txBody>
      </p:sp>
      <p:sp>
        <p:nvSpPr>
          <p:cNvPr id="14" name="TextBox 13"/>
          <p:cNvSpPr txBox="1"/>
          <p:nvPr/>
        </p:nvSpPr>
        <p:spPr>
          <a:xfrm>
            <a:off x="457200" y="4096512"/>
            <a:ext cx="8229600" cy="228600"/>
          </a:xfrm>
          <a:prstGeom prst="rect">
            <a:avLst/>
          </a:prstGeom>
          <a:noFill/>
        </p:spPr>
        <p:txBody>
          <a:bodyPr wrap="square">
            <a:spAutoFit/>
          </a:bodyPr>
          <a:lstStyle/>
          <a:p>
            <a:pPr algn="l"/>
            <a:r>
              <a:rPr sz="1400" b="0">
                <a:solidFill>
                  <a:srgbClr val="22C55E"/>
                </a:solidFill>
                <a:latin typeface="Consolas"/>
              </a:rPr>
              <a:t>console.log(totalPrice &gt;= 500);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320040"/>
          </a:xfrm>
          <a:prstGeom prst="rect">
            <a:avLst/>
          </a:prstGeom>
          <a:noFill/>
        </p:spPr>
        <p:txBody>
          <a:bodyPr wrap="square">
            <a:spAutoFit/>
          </a:bodyPr>
          <a:lstStyle/>
          <a:p>
            <a:pPr algn="l"/>
            <a:r>
              <a:rPr sz="1400" b="1">
                <a:solidFill>
                  <a:srgbClr val="0066CC"/>
                </a:solidFill>
                <a:latin typeface="Arial"/>
              </a:rPr>
              <a:t>TOPIC 4</a:t>
            </a:r>
          </a:p>
        </p:txBody>
      </p:sp>
      <p:sp>
        <p:nvSpPr>
          <p:cNvPr id="3" name="TextBox 2"/>
          <p:cNvSpPr txBox="1"/>
          <p:nvPr/>
        </p:nvSpPr>
        <p:spPr>
          <a:xfrm>
            <a:off x="457200" y="731520"/>
            <a:ext cx="8229600" cy="502920"/>
          </a:xfrm>
          <a:prstGeom prst="rect">
            <a:avLst/>
          </a:prstGeom>
          <a:noFill/>
        </p:spPr>
        <p:txBody>
          <a:bodyPr wrap="square">
            <a:spAutoFit/>
          </a:bodyPr>
          <a:lstStyle/>
          <a:p>
            <a:pPr algn="l"/>
            <a:r>
              <a:rPr sz="2800" b="1">
                <a:solidFill>
                  <a:srgbClr val="0066CC"/>
                </a:solidFill>
                <a:latin typeface="Arial"/>
              </a:rPr>
              <a:t>=== is the Standard</a:t>
            </a:r>
          </a:p>
        </p:txBody>
      </p:sp>
      <p:sp>
        <p:nvSpPr>
          <p:cNvPr id="4" name="Rounded Rectangle 3"/>
          <p:cNvSpPr/>
          <p:nvPr/>
        </p:nvSpPr>
        <p:spPr>
          <a:xfrm>
            <a:off x="457200" y="1463040"/>
            <a:ext cx="8229600" cy="1371600"/>
          </a:xfrm>
          <a:prstGeom prst="roundRect">
            <a:avLst>
              <a:gd name="adj" fmla="val 10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691640"/>
            <a:ext cx="7680960" cy="914400"/>
          </a:xfrm>
          <a:prstGeom prst="rect">
            <a:avLst/>
          </a:prstGeom>
          <a:noFill/>
        </p:spPr>
        <p:txBody>
          <a:bodyPr wrap="square">
            <a:spAutoFit/>
          </a:bodyPr>
          <a:lstStyle/>
          <a:p>
            <a:pPr algn="l"/>
            <a:r>
              <a:rPr sz="1500" b="0">
                <a:solidFill>
                  <a:srgbClr val="1E293B"/>
                </a:solidFill>
                <a:latin typeface="Arial"/>
              </a:rPr>
              <a:t>The standard comparison operator we will use in this course is ===
It compares both the value AND the type.</a:t>
            </a:r>
          </a:p>
        </p:txBody>
      </p:sp>
      <p:sp>
        <p:nvSpPr>
          <p:cNvPr id="6" name="Rounded Rectangle 5"/>
          <p:cNvSpPr/>
          <p:nvPr/>
        </p:nvSpPr>
        <p:spPr>
          <a:xfrm>
            <a:off x="365760" y="3108960"/>
            <a:ext cx="4114800" cy="1554480"/>
          </a:xfrm>
          <a:prstGeom prst="roundRect">
            <a:avLst>
              <a:gd name="adj" fmla="val 10000"/>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3291840"/>
            <a:ext cx="3749039" cy="320040"/>
          </a:xfrm>
          <a:prstGeom prst="rect">
            <a:avLst/>
          </a:prstGeom>
          <a:noFill/>
        </p:spPr>
        <p:txBody>
          <a:bodyPr wrap="square">
            <a:spAutoFit/>
          </a:bodyPr>
          <a:lstStyle/>
          <a:p>
            <a:pPr algn="ctr"/>
            <a:r>
              <a:rPr sz="2000" b="1">
                <a:solidFill>
                  <a:srgbClr val="0066CC"/>
                </a:solidFill>
                <a:latin typeface="Consolas"/>
              </a:rPr>
              <a:t>==</a:t>
            </a:r>
          </a:p>
        </p:txBody>
      </p:sp>
      <p:sp>
        <p:nvSpPr>
          <p:cNvPr id="8" name="TextBox 7"/>
          <p:cNvSpPr txBox="1"/>
          <p:nvPr/>
        </p:nvSpPr>
        <p:spPr>
          <a:xfrm>
            <a:off x="548640" y="3840480"/>
            <a:ext cx="3749039" cy="457200"/>
          </a:xfrm>
          <a:prstGeom prst="rect">
            <a:avLst/>
          </a:prstGeom>
          <a:noFill/>
        </p:spPr>
        <p:txBody>
          <a:bodyPr wrap="square">
            <a:spAutoFit/>
          </a:bodyPr>
          <a:lstStyle/>
          <a:p>
            <a:pPr algn="ctr"/>
            <a:r>
              <a:rPr sz="1300" b="0">
                <a:solidFill>
                  <a:srgbClr val="334155"/>
                </a:solidFill>
                <a:latin typeface="Arial"/>
              </a:rPr>
              <a:t>Compares the value only
Does not require same types</a:t>
            </a:r>
          </a:p>
        </p:txBody>
      </p:sp>
      <p:sp>
        <p:nvSpPr>
          <p:cNvPr id="9" name="Rounded Rectangle 8"/>
          <p:cNvSpPr/>
          <p:nvPr/>
        </p:nvSpPr>
        <p:spPr>
          <a:xfrm>
            <a:off x="4754880" y="3108960"/>
            <a:ext cx="4023360" cy="1554480"/>
          </a:xfrm>
          <a:prstGeom prst="roundRect">
            <a:avLst>
              <a:gd name="adj" fmla="val 10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937760" y="3291840"/>
            <a:ext cx="3657600" cy="320040"/>
          </a:xfrm>
          <a:prstGeom prst="rect">
            <a:avLst/>
          </a:prstGeom>
          <a:noFill/>
        </p:spPr>
        <p:txBody>
          <a:bodyPr wrap="square">
            <a:spAutoFit/>
          </a:bodyPr>
          <a:lstStyle/>
          <a:p>
            <a:pPr algn="ctr"/>
            <a:r>
              <a:rPr sz="2000" b="1">
                <a:solidFill>
                  <a:srgbClr val="0066CC"/>
                </a:solidFill>
                <a:latin typeface="Consolas"/>
              </a:rPr>
              <a:t>===</a:t>
            </a:r>
          </a:p>
        </p:txBody>
      </p:sp>
      <p:sp>
        <p:nvSpPr>
          <p:cNvPr id="11" name="TextBox 10"/>
          <p:cNvSpPr txBox="1"/>
          <p:nvPr/>
        </p:nvSpPr>
        <p:spPr>
          <a:xfrm>
            <a:off x="4937760" y="3840480"/>
            <a:ext cx="3657600" cy="457200"/>
          </a:xfrm>
          <a:prstGeom prst="rect">
            <a:avLst/>
          </a:prstGeom>
          <a:noFill/>
        </p:spPr>
        <p:txBody>
          <a:bodyPr wrap="square">
            <a:spAutoFit/>
          </a:bodyPr>
          <a:lstStyle/>
          <a:p>
            <a:pPr algn="ctr"/>
            <a:r>
              <a:rPr sz="1300" b="0">
                <a:solidFill>
                  <a:srgbClr val="1E293B"/>
                </a:solidFill>
                <a:latin typeface="Arial"/>
              </a:rPr>
              <a:t>Compares value AND type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8229600" cy="365760"/>
          </a:xfrm>
          <a:prstGeom prst="rect">
            <a:avLst/>
          </a:prstGeom>
          <a:noFill/>
        </p:spPr>
        <p:txBody>
          <a:bodyPr wrap="square">
            <a:spAutoFit/>
          </a:bodyPr>
          <a:lstStyle/>
          <a:p>
            <a:pPr algn="l"/>
            <a:r>
              <a:rPr sz="2400" b="1">
                <a:solidFill>
                  <a:srgbClr val="0066CC"/>
                </a:solidFill>
                <a:latin typeface="Arial"/>
              </a:rPr>
              <a:t>=== EXAMPLES</a:t>
            </a:r>
          </a:p>
        </p:txBody>
      </p:sp>
      <p:sp>
        <p:nvSpPr>
          <p:cNvPr id="3" name="Rounded Rectangle 2"/>
          <p:cNvSpPr/>
          <p:nvPr/>
        </p:nvSpPr>
        <p:spPr>
          <a:xfrm>
            <a:off x="365760" y="822960"/>
            <a:ext cx="8412480" cy="1828800"/>
          </a:xfrm>
          <a:prstGeom prst="roundRect">
            <a:avLst>
              <a:gd name="adj" fmla="val 10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097280"/>
            <a:ext cx="7863840" cy="365760"/>
          </a:xfrm>
          <a:prstGeom prst="rect">
            <a:avLst/>
          </a:prstGeom>
          <a:noFill/>
        </p:spPr>
        <p:txBody>
          <a:bodyPr wrap="square">
            <a:spAutoFit/>
          </a:bodyPr>
          <a:lstStyle/>
          <a:p>
            <a:pPr algn="l"/>
            <a:r>
              <a:rPr sz="1500" b="0">
                <a:solidFill>
                  <a:srgbClr val="FFFFFF"/>
                </a:solidFill>
                <a:latin typeface="Consolas"/>
              </a:rPr>
              <a:t>console.log(5 == "5");  // true  — ignores the type difference</a:t>
            </a:r>
          </a:p>
        </p:txBody>
      </p:sp>
      <p:sp>
        <p:nvSpPr>
          <p:cNvPr id="5" name="TextBox 4"/>
          <p:cNvSpPr txBox="1"/>
          <p:nvPr/>
        </p:nvSpPr>
        <p:spPr>
          <a:xfrm>
            <a:off x="640080" y="1737360"/>
            <a:ext cx="7863840" cy="365760"/>
          </a:xfrm>
          <a:prstGeom prst="rect">
            <a:avLst/>
          </a:prstGeom>
          <a:noFill/>
        </p:spPr>
        <p:txBody>
          <a:bodyPr wrap="square">
            <a:spAutoFit/>
          </a:bodyPr>
          <a:lstStyle/>
          <a:p>
            <a:pPr algn="l"/>
            <a:r>
              <a:rPr sz="1500" b="0">
                <a:solidFill>
                  <a:srgbClr val="FFFFFF"/>
                </a:solidFill>
                <a:latin typeface="Consolas"/>
              </a:rPr>
              <a:t>console.log(5 === "5"); // false — the types are different</a:t>
            </a:r>
          </a:p>
        </p:txBody>
      </p:sp>
      <p:sp>
        <p:nvSpPr>
          <p:cNvPr id="6" name="Rounded Rectangle 5"/>
          <p:cNvSpPr/>
          <p:nvPr/>
        </p:nvSpPr>
        <p:spPr>
          <a:xfrm>
            <a:off x="365760" y="2926080"/>
            <a:ext cx="4114800" cy="1645920"/>
          </a:xfrm>
          <a:prstGeom prst="roundRect">
            <a:avLst>
              <a:gd name="adj" fmla="val 10000"/>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3154680"/>
            <a:ext cx="3749039" cy="320040"/>
          </a:xfrm>
          <a:prstGeom prst="rect">
            <a:avLst/>
          </a:prstGeom>
          <a:noFill/>
        </p:spPr>
        <p:txBody>
          <a:bodyPr wrap="square">
            <a:spAutoFit/>
          </a:bodyPr>
          <a:lstStyle/>
          <a:p>
            <a:pPr algn="ctr"/>
            <a:r>
              <a:rPr sz="1600" b="1">
                <a:solidFill>
                  <a:srgbClr val="0066CC"/>
                </a:solidFill>
                <a:latin typeface="Consolas"/>
              </a:rPr>
              <a:t>5 == "5"</a:t>
            </a:r>
          </a:p>
        </p:txBody>
      </p:sp>
      <p:sp>
        <p:nvSpPr>
          <p:cNvPr id="8" name="TextBox 7"/>
          <p:cNvSpPr txBox="1"/>
          <p:nvPr/>
        </p:nvSpPr>
        <p:spPr>
          <a:xfrm>
            <a:off x="548640" y="3657600"/>
            <a:ext cx="3749039" cy="548640"/>
          </a:xfrm>
          <a:prstGeom prst="rect">
            <a:avLst/>
          </a:prstGeom>
          <a:noFill/>
        </p:spPr>
        <p:txBody>
          <a:bodyPr wrap="square">
            <a:spAutoFit/>
          </a:bodyPr>
          <a:lstStyle/>
          <a:p>
            <a:pPr algn="ctr"/>
            <a:r>
              <a:rPr sz="1400" b="0">
                <a:solidFill>
                  <a:srgbClr val="22C55E"/>
                </a:solidFill>
                <a:latin typeface="Arial"/>
              </a:rPr>
              <a:t>value matches → true</a:t>
            </a:r>
          </a:p>
        </p:txBody>
      </p:sp>
      <p:sp>
        <p:nvSpPr>
          <p:cNvPr id="9" name="Rounded Rectangle 8"/>
          <p:cNvSpPr/>
          <p:nvPr/>
        </p:nvSpPr>
        <p:spPr>
          <a:xfrm>
            <a:off x="4754880" y="2926080"/>
            <a:ext cx="4023360" cy="1645920"/>
          </a:xfrm>
          <a:prstGeom prst="roundRect">
            <a:avLst>
              <a:gd name="adj" fmla="val 10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937760" y="3154680"/>
            <a:ext cx="3657600" cy="320040"/>
          </a:xfrm>
          <a:prstGeom prst="rect">
            <a:avLst/>
          </a:prstGeom>
          <a:noFill/>
        </p:spPr>
        <p:txBody>
          <a:bodyPr wrap="square">
            <a:spAutoFit/>
          </a:bodyPr>
          <a:lstStyle/>
          <a:p>
            <a:pPr algn="ctr"/>
            <a:r>
              <a:rPr sz="1600" b="1">
                <a:solidFill>
                  <a:srgbClr val="0066CC"/>
                </a:solidFill>
                <a:latin typeface="Consolas"/>
              </a:rPr>
              <a:t>5 === "5"</a:t>
            </a:r>
          </a:p>
        </p:txBody>
      </p:sp>
      <p:sp>
        <p:nvSpPr>
          <p:cNvPr id="11" name="TextBox 10"/>
          <p:cNvSpPr txBox="1"/>
          <p:nvPr/>
        </p:nvSpPr>
        <p:spPr>
          <a:xfrm>
            <a:off x="4937760" y="3657600"/>
            <a:ext cx="3657600" cy="548640"/>
          </a:xfrm>
          <a:prstGeom prst="rect">
            <a:avLst/>
          </a:prstGeom>
          <a:noFill/>
        </p:spPr>
        <p:txBody>
          <a:bodyPr wrap="square">
            <a:spAutoFit/>
          </a:bodyPr>
          <a:lstStyle/>
          <a:p>
            <a:pPr algn="ctr"/>
            <a:r>
              <a:rPr sz="1400" b="0">
                <a:solidFill>
                  <a:srgbClr val="EF4444"/>
                </a:solidFill>
                <a:latin typeface="Arial"/>
              </a:rPr>
              <a:t>value matches
type does NOT → false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320040"/>
          </a:xfrm>
          <a:prstGeom prst="rect">
            <a:avLst/>
          </a:prstGeom>
          <a:noFill/>
        </p:spPr>
        <p:txBody>
          <a:bodyPr wrap="square">
            <a:spAutoFit/>
          </a:bodyPr>
          <a:lstStyle/>
          <a:p>
            <a:pPr algn="l"/>
            <a:r>
              <a:rPr sz="1400" b="1">
                <a:solidFill>
                  <a:srgbClr val="0066CC"/>
                </a:solidFill>
                <a:latin typeface="Arial"/>
              </a:rPr>
              <a:t>TOPIC 5</a:t>
            </a:r>
          </a:p>
        </p:txBody>
      </p:sp>
      <p:sp>
        <p:nvSpPr>
          <p:cNvPr id="3" name="TextBox 2"/>
          <p:cNvSpPr txBox="1"/>
          <p:nvPr/>
        </p:nvSpPr>
        <p:spPr>
          <a:xfrm>
            <a:off x="457200" y="731520"/>
            <a:ext cx="8229600" cy="502920"/>
          </a:xfrm>
          <a:prstGeom prst="rect">
            <a:avLst/>
          </a:prstGeom>
          <a:noFill/>
        </p:spPr>
        <p:txBody>
          <a:bodyPr wrap="square">
            <a:spAutoFit/>
          </a:bodyPr>
          <a:lstStyle/>
          <a:p>
            <a:pPr algn="l"/>
            <a:r>
              <a:rPr sz="2400" b="1">
                <a:solidFill>
                  <a:srgbClr val="0066CC"/>
                </a:solidFill>
                <a:latin typeface="Arial"/>
              </a:rPr>
              <a:t>Type Coercion — Quick Warning</a:t>
            </a:r>
          </a:p>
        </p:txBody>
      </p:sp>
      <p:sp>
        <p:nvSpPr>
          <p:cNvPr id="4" name="Rounded Rectangle 3"/>
          <p:cNvSpPr/>
          <p:nvPr/>
        </p:nvSpPr>
        <p:spPr>
          <a:xfrm>
            <a:off x="457200" y="1463040"/>
            <a:ext cx="8229600" cy="1188720"/>
          </a:xfrm>
          <a:prstGeom prst="roundRect">
            <a:avLst>
              <a:gd name="adj" fmla="val 10000"/>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691640"/>
            <a:ext cx="7680960" cy="731520"/>
          </a:xfrm>
          <a:prstGeom prst="rect">
            <a:avLst/>
          </a:prstGeom>
          <a:noFill/>
        </p:spPr>
        <p:txBody>
          <a:bodyPr wrap="square">
            <a:spAutoFit/>
          </a:bodyPr>
          <a:lstStyle/>
          <a:p>
            <a:pPr algn="l"/>
            <a:r>
              <a:rPr sz="1400" b="0">
                <a:solidFill>
                  <a:srgbClr val="1E293B"/>
                </a:solidFill>
                <a:latin typeface="Arial"/>
              </a:rPr>
              <a:t>Sometimes JavaScript automatically converts one type into another.
This is called Type Coercion. Be aware of this behavior.</a:t>
            </a:r>
          </a:p>
        </p:txBody>
      </p:sp>
      <p:sp>
        <p:nvSpPr>
          <p:cNvPr id="6" name="Rounded Rectangle 5"/>
          <p:cNvSpPr/>
          <p:nvPr/>
        </p:nvSpPr>
        <p:spPr>
          <a:xfrm>
            <a:off x="365760" y="2926080"/>
            <a:ext cx="4114800" cy="1645920"/>
          </a:xfrm>
          <a:prstGeom prst="roundRect">
            <a:avLst>
              <a:gd name="adj" fmla="val 10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3200400"/>
            <a:ext cx="3749039" cy="320040"/>
          </a:xfrm>
          <a:prstGeom prst="rect">
            <a:avLst/>
          </a:prstGeom>
          <a:noFill/>
        </p:spPr>
        <p:txBody>
          <a:bodyPr wrap="square">
            <a:spAutoFit/>
          </a:bodyPr>
          <a:lstStyle/>
          <a:p>
            <a:pPr algn="ctr"/>
            <a:r>
              <a:rPr sz="1800" b="1">
                <a:solidFill>
                  <a:srgbClr val="FFFFFF"/>
                </a:solidFill>
                <a:latin typeface="Consolas"/>
              </a:rPr>
              <a:t>"5" + 5</a:t>
            </a:r>
          </a:p>
        </p:txBody>
      </p:sp>
      <p:sp>
        <p:nvSpPr>
          <p:cNvPr id="8" name="TextBox 7"/>
          <p:cNvSpPr txBox="1"/>
          <p:nvPr/>
        </p:nvSpPr>
        <p:spPr>
          <a:xfrm>
            <a:off x="548640" y="3794760"/>
            <a:ext cx="3749039" cy="457200"/>
          </a:xfrm>
          <a:prstGeom prst="rect">
            <a:avLst/>
          </a:prstGeom>
          <a:noFill/>
        </p:spPr>
        <p:txBody>
          <a:bodyPr wrap="square">
            <a:spAutoFit/>
          </a:bodyPr>
          <a:lstStyle/>
          <a:p>
            <a:pPr algn="ctr"/>
            <a:r>
              <a:rPr sz="1300" b="0">
                <a:solidFill>
                  <a:srgbClr val="7DD3FC"/>
                </a:solidFill>
                <a:latin typeface="Arial"/>
              </a:rPr>
              <a:t>→ "55"
(string + number = join)</a:t>
            </a:r>
          </a:p>
        </p:txBody>
      </p:sp>
      <p:sp>
        <p:nvSpPr>
          <p:cNvPr id="9" name="Rounded Rectangle 8"/>
          <p:cNvSpPr/>
          <p:nvPr/>
        </p:nvSpPr>
        <p:spPr>
          <a:xfrm>
            <a:off x="4754880" y="2926080"/>
            <a:ext cx="4023360" cy="1645920"/>
          </a:xfrm>
          <a:prstGeom prst="roundRect">
            <a:avLst>
              <a:gd name="adj" fmla="val 10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937760" y="3200400"/>
            <a:ext cx="3657600" cy="320040"/>
          </a:xfrm>
          <a:prstGeom prst="rect">
            <a:avLst/>
          </a:prstGeom>
          <a:noFill/>
        </p:spPr>
        <p:txBody>
          <a:bodyPr wrap="square">
            <a:spAutoFit/>
          </a:bodyPr>
          <a:lstStyle/>
          <a:p>
            <a:pPr algn="ctr"/>
            <a:r>
              <a:rPr sz="1800" b="1">
                <a:solidFill>
                  <a:srgbClr val="FFFFFF"/>
                </a:solidFill>
                <a:latin typeface="Consolas"/>
              </a:rPr>
              <a:t>"5" - 5</a:t>
            </a:r>
          </a:p>
        </p:txBody>
      </p:sp>
      <p:sp>
        <p:nvSpPr>
          <p:cNvPr id="11" name="TextBox 10"/>
          <p:cNvSpPr txBox="1"/>
          <p:nvPr/>
        </p:nvSpPr>
        <p:spPr>
          <a:xfrm>
            <a:off x="4937760" y="3794760"/>
            <a:ext cx="3657600" cy="457200"/>
          </a:xfrm>
          <a:prstGeom prst="rect">
            <a:avLst/>
          </a:prstGeom>
          <a:noFill/>
        </p:spPr>
        <p:txBody>
          <a:bodyPr wrap="square">
            <a:spAutoFit/>
          </a:bodyPr>
          <a:lstStyle/>
          <a:p>
            <a:pPr algn="ctr"/>
            <a:r>
              <a:rPr sz="1300" b="0">
                <a:solidFill>
                  <a:srgbClr val="7DD3FC"/>
                </a:solidFill>
                <a:latin typeface="Arial"/>
              </a:rPr>
              <a:t>→ 0
(string converted to number)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320040"/>
          </a:xfrm>
          <a:prstGeom prst="rect">
            <a:avLst/>
          </a:prstGeom>
          <a:noFill/>
        </p:spPr>
        <p:txBody>
          <a:bodyPr wrap="square">
            <a:spAutoFit/>
          </a:bodyPr>
          <a:lstStyle/>
          <a:p>
            <a:pPr algn="l"/>
            <a:r>
              <a:rPr sz="1400" b="1">
                <a:solidFill>
                  <a:srgbClr val="0066CC"/>
                </a:solidFill>
                <a:latin typeface="Arial"/>
              </a:rPr>
              <a:t>TOPIC 6</a:t>
            </a:r>
          </a:p>
        </p:txBody>
      </p:sp>
      <p:sp>
        <p:nvSpPr>
          <p:cNvPr id="3" name="TextBox 2"/>
          <p:cNvSpPr txBox="1"/>
          <p:nvPr/>
        </p:nvSpPr>
        <p:spPr>
          <a:xfrm>
            <a:off x="457200" y="731520"/>
            <a:ext cx="8229600" cy="502920"/>
          </a:xfrm>
          <a:prstGeom prst="rect">
            <a:avLst/>
          </a:prstGeom>
          <a:noFill/>
        </p:spPr>
        <p:txBody>
          <a:bodyPr wrap="square">
            <a:spAutoFit/>
          </a:bodyPr>
          <a:lstStyle/>
          <a:p>
            <a:pPr algn="l"/>
            <a:r>
              <a:rPr sz="2600" b="1">
                <a:solidFill>
                  <a:srgbClr val="0066CC"/>
                </a:solidFill>
                <a:latin typeface="Arial"/>
              </a:rPr>
              <a:t>if / else — Making Decisions</a:t>
            </a:r>
          </a:p>
        </p:txBody>
      </p:sp>
      <p:sp>
        <p:nvSpPr>
          <p:cNvPr id="4" name="Rounded Rectangle 3"/>
          <p:cNvSpPr/>
          <p:nvPr/>
        </p:nvSpPr>
        <p:spPr>
          <a:xfrm>
            <a:off x="457200" y="1463040"/>
            <a:ext cx="8229600" cy="2560320"/>
          </a:xfrm>
          <a:prstGeom prst="roundRect">
            <a:avLst>
              <a:gd name="adj" fmla="val 10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828800"/>
            <a:ext cx="7680960" cy="1828800"/>
          </a:xfrm>
          <a:prstGeom prst="rect">
            <a:avLst/>
          </a:prstGeom>
          <a:noFill/>
        </p:spPr>
        <p:txBody>
          <a:bodyPr wrap="square">
            <a:spAutoFit/>
          </a:bodyPr>
          <a:lstStyle/>
          <a:p>
            <a:pPr algn="l"/>
            <a:r>
              <a:rPr sz="1600" b="0">
                <a:solidFill>
                  <a:srgbClr val="1E293B"/>
                </a:solidFill>
                <a:latin typeface="Arial"/>
              </a:rPr>
              <a:t>One of the most important ideas in programming:
How can we make the code make a decision?
Conditionals — the basic structure is if / else.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8229600" cy="320040"/>
          </a:xfrm>
          <a:prstGeom prst="rect">
            <a:avLst/>
          </a:prstGeom>
          <a:noFill/>
        </p:spPr>
        <p:txBody>
          <a:bodyPr wrap="square">
            <a:spAutoFit/>
          </a:bodyPr>
          <a:lstStyle/>
          <a:p>
            <a:pPr algn="l"/>
            <a:r>
              <a:rPr sz="2200" b="1">
                <a:solidFill>
                  <a:srgbClr val="0066CC"/>
                </a:solidFill>
                <a:latin typeface="Arial"/>
              </a:rPr>
              <a:t>if / else EXAMPLE</a:t>
            </a:r>
          </a:p>
        </p:txBody>
      </p:sp>
      <p:sp>
        <p:nvSpPr>
          <p:cNvPr id="3" name="Rounded Rectangle 2"/>
          <p:cNvSpPr/>
          <p:nvPr/>
        </p:nvSpPr>
        <p:spPr>
          <a:xfrm>
            <a:off x="365760" y="731520"/>
            <a:ext cx="4572000" cy="3840480"/>
          </a:xfrm>
          <a:prstGeom prst="roundRect">
            <a:avLst>
              <a:gd name="adj" fmla="val 10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005840"/>
            <a:ext cx="4206240" cy="274320"/>
          </a:xfrm>
          <a:prstGeom prst="rect">
            <a:avLst/>
          </a:prstGeom>
          <a:noFill/>
        </p:spPr>
        <p:txBody>
          <a:bodyPr wrap="square">
            <a:spAutoFit/>
          </a:bodyPr>
          <a:lstStyle/>
          <a:p>
            <a:pPr algn="l"/>
            <a:r>
              <a:rPr sz="1400" b="0">
                <a:solidFill>
                  <a:srgbClr val="FFFFFF"/>
                </a:solidFill>
                <a:latin typeface="Consolas"/>
              </a:rPr>
              <a:t>let score = 85;</a:t>
            </a:r>
          </a:p>
        </p:txBody>
      </p:sp>
      <p:sp>
        <p:nvSpPr>
          <p:cNvPr id="5" name="TextBox 4"/>
          <p:cNvSpPr txBox="1"/>
          <p:nvPr/>
        </p:nvSpPr>
        <p:spPr>
          <a:xfrm>
            <a:off x="548640" y="1463040"/>
            <a:ext cx="4206240" cy="274320"/>
          </a:xfrm>
          <a:prstGeom prst="rect">
            <a:avLst/>
          </a:prstGeom>
          <a:noFill/>
        </p:spPr>
        <p:txBody>
          <a:bodyPr wrap="square">
            <a:spAutoFit/>
          </a:bodyPr>
          <a:lstStyle/>
          <a:p>
            <a:pPr algn="l"/>
            <a:r>
              <a:rPr sz="1400" b="0">
                <a:solidFill>
                  <a:srgbClr val="7DD3FC"/>
                </a:solidFill>
                <a:latin typeface="Consolas"/>
              </a:rPr>
              <a:t>if (score &gt;= 50) {</a:t>
            </a:r>
          </a:p>
        </p:txBody>
      </p:sp>
      <p:sp>
        <p:nvSpPr>
          <p:cNvPr id="6" name="TextBox 5"/>
          <p:cNvSpPr txBox="1"/>
          <p:nvPr/>
        </p:nvSpPr>
        <p:spPr>
          <a:xfrm>
            <a:off x="822960" y="1920240"/>
            <a:ext cx="3931920" cy="274320"/>
          </a:xfrm>
          <a:prstGeom prst="rect">
            <a:avLst/>
          </a:prstGeom>
          <a:noFill/>
        </p:spPr>
        <p:txBody>
          <a:bodyPr wrap="square">
            <a:spAutoFit/>
          </a:bodyPr>
          <a:lstStyle/>
          <a:p>
            <a:pPr algn="l"/>
            <a:r>
              <a:rPr sz="1400" b="0">
                <a:solidFill>
                  <a:srgbClr val="FFFFFF"/>
                </a:solidFill>
                <a:latin typeface="Consolas"/>
              </a:rPr>
              <a:t>console.log("Pass");</a:t>
            </a:r>
          </a:p>
        </p:txBody>
      </p:sp>
      <p:sp>
        <p:nvSpPr>
          <p:cNvPr id="7" name="TextBox 6"/>
          <p:cNvSpPr txBox="1"/>
          <p:nvPr/>
        </p:nvSpPr>
        <p:spPr>
          <a:xfrm>
            <a:off x="548640" y="2377440"/>
            <a:ext cx="4206240" cy="274320"/>
          </a:xfrm>
          <a:prstGeom prst="rect">
            <a:avLst/>
          </a:prstGeom>
          <a:noFill/>
        </p:spPr>
        <p:txBody>
          <a:bodyPr wrap="square">
            <a:spAutoFit/>
          </a:bodyPr>
          <a:lstStyle/>
          <a:p>
            <a:pPr algn="l"/>
            <a:r>
              <a:rPr sz="1400" b="0">
                <a:solidFill>
                  <a:srgbClr val="7DD3FC"/>
                </a:solidFill>
                <a:latin typeface="Consolas"/>
              </a:rPr>
              <a:t>} else {</a:t>
            </a:r>
          </a:p>
        </p:txBody>
      </p:sp>
      <p:sp>
        <p:nvSpPr>
          <p:cNvPr id="8" name="TextBox 7"/>
          <p:cNvSpPr txBox="1"/>
          <p:nvPr/>
        </p:nvSpPr>
        <p:spPr>
          <a:xfrm>
            <a:off x="822960" y="2834640"/>
            <a:ext cx="3931920" cy="274320"/>
          </a:xfrm>
          <a:prstGeom prst="rect">
            <a:avLst/>
          </a:prstGeom>
          <a:noFill/>
        </p:spPr>
        <p:txBody>
          <a:bodyPr wrap="square">
            <a:spAutoFit/>
          </a:bodyPr>
          <a:lstStyle/>
          <a:p>
            <a:pPr algn="l"/>
            <a:r>
              <a:rPr sz="1400" b="0">
                <a:solidFill>
                  <a:srgbClr val="FFFFFF"/>
                </a:solidFill>
                <a:latin typeface="Consolas"/>
              </a:rPr>
              <a:t>console.log("Fail");</a:t>
            </a:r>
          </a:p>
        </p:txBody>
      </p:sp>
      <p:sp>
        <p:nvSpPr>
          <p:cNvPr id="9" name="TextBox 8"/>
          <p:cNvSpPr txBox="1"/>
          <p:nvPr/>
        </p:nvSpPr>
        <p:spPr>
          <a:xfrm>
            <a:off x="548640" y="3291840"/>
            <a:ext cx="4206240" cy="274320"/>
          </a:xfrm>
          <a:prstGeom prst="rect">
            <a:avLst/>
          </a:prstGeom>
          <a:noFill/>
        </p:spPr>
        <p:txBody>
          <a:bodyPr wrap="square">
            <a:spAutoFit/>
          </a:bodyPr>
          <a:lstStyle/>
          <a:p>
            <a:pPr algn="l"/>
            <a:r>
              <a:rPr sz="1400" b="0">
                <a:solidFill>
                  <a:srgbClr val="7DD3FC"/>
                </a:solidFill>
                <a:latin typeface="Consolas"/>
              </a:rPr>
              <a:t>}</a:t>
            </a:r>
          </a:p>
        </p:txBody>
      </p:sp>
      <p:sp>
        <p:nvSpPr>
          <p:cNvPr id="10" name="Rounded Rectangle 9"/>
          <p:cNvSpPr/>
          <p:nvPr/>
        </p:nvSpPr>
        <p:spPr>
          <a:xfrm>
            <a:off x="5212080" y="731520"/>
            <a:ext cx="3566160" cy="3840480"/>
          </a:xfrm>
          <a:prstGeom prst="roundRect">
            <a:avLst>
              <a:gd name="adj" fmla="val 10000"/>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394960" y="1097280"/>
            <a:ext cx="3200400" cy="365760"/>
          </a:xfrm>
          <a:prstGeom prst="rect">
            <a:avLst/>
          </a:prstGeom>
          <a:noFill/>
        </p:spPr>
        <p:txBody>
          <a:bodyPr wrap="square">
            <a:spAutoFit/>
          </a:bodyPr>
          <a:lstStyle/>
          <a:p>
            <a:pPr algn="ctr"/>
            <a:r>
              <a:rPr sz="1500" b="1">
                <a:solidFill>
                  <a:srgbClr val="0066CC"/>
                </a:solidFill>
                <a:latin typeface="Arial"/>
              </a:rPr>
              <a:t>score &gt;= 50 ?</a:t>
            </a:r>
          </a:p>
        </p:txBody>
      </p:sp>
      <p:sp>
        <p:nvSpPr>
          <p:cNvPr id="12" name="TextBox 11"/>
          <p:cNvSpPr txBox="1"/>
          <p:nvPr/>
        </p:nvSpPr>
        <p:spPr>
          <a:xfrm>
            <a:off x="5394960" y="1737360"/>
            <a:ext cx="3200400" cy="274320"/>
          </a:xfrm>
          <a:prstGeom prst="rect">
            <a:avLst/>
          </a:prstGeom>
          <a:noFill/>
        </p:spPr>
        <p:txBody>
          <a:bodyPr wrap="square">
            <a:spAutoFit/>
          </a:bodyPr>
          <a:lstStyle/>
          <a:p>
            <a:pPr algn="ctr"/>
            <a:r>
              <a:rPr sz="1400" b="0">
                <a:solidFill>
                  <a:srgbClr val="334155"/>
                </a:solidFill>
                <a:latin typeface="Arial"/>
              </a:rPr>
              <a:t>YES          NO</a:t>
            </a:r>
          </a:p>
        </p:txBody>
      </p:sp>
      <p:sp>
        <p:nvSpPr>
          <p:cNvPr id="13" name="TextBox 12"/>
          <p:cNvSpPr txBox="1"/>
          <p:nvPr/>
        </p:nvSpPr>
        <p:spPr>
          <a:xfrm>
            <a:off x="5394960" y="2286000"/>
            <a:ext cx="1371600" cy="365760"/>
          </a:xfrm>
          <a:prstGeom prst="rect">
            <a:avLst/>
          </a:prstGeom>
          <a:noFill/>
        </p:spPr>
        <p:txBody>
          <a:bodyPr wrap="square">
            <a:spAutoFit/>
          </a:bodyPr>
          <a:lstStyle/>
          <a:p>
            <a:pPr algn="ctr"/>
            <a:r>
              <a:rPr sz="1600" b="1">
                <a:solidFill>
                  <a:srgbClr val="22C55E"/>
                </a:solidFill>
                <a:latin typeface="Arial"/>
              </a:rPr>
              <a:t>Pass</a:t>
            </a:r>
          </a:p>
        </p:txBody>
      </p:sp>
      <p:sp>
        <p:nvSpPr>
          <p:cNvPr id="14" name="TextBox 13"/>
          <p:cNvSpPr txBox="1"/>
          <p:nvPr/>
        </p:nvSpPr>
        <p:spPr>
          <a:xfrm>
            <a:off x="7040880" y="2286000"/>
            <a:ext cx="1371600" cy="365760"/>
          </a:xfrm>
          <a:prstGeom prst="rect">
            <a:avLst/>
          </a:prstGeom>
          <a:noFill/>
        </p:spPr>
        <p:txBody>
          <a:bodyPr wrap="square">
            <a:spAutoFit/>
          </a:bodyPr>
          <a:lstStyle/>
          <a:p>
            <a:pPr algn="ctr"/>
            <a:r>
              <a:rPr sz="1600" b="1">
                <a:solidFill>
                  <a:srgbClr val="EF4444"/>
                </a:solidFill>
                <a:latin typeface="Arial"/>
              </a:rPr>
              <a:t>Fail</a:t>
            </a:r>
          </a:p>
        </p:txBody>
      </p:sp>
      <p:sp>
        <p:nvSpPr>
          <p:cNvPr id="15" name="TextBox 14"/>
          <p:cNvSpPr txBox="1"/>
          <p:nvPr/>
        </p:nvSpPr>
        <p:spPr>
          <a:xfrm>
            <a:off x="5394960" y="3108960"/>
            <a:ext cx="3200400" cy="914400"/>
          </a:xfrm>
          <a:prstGeom prst="rect">
            <a:avLst/>
          </a:prstGeom>
          <a:noFill/>
        </p:spPr>
        <p:txBody>
          <a:bodyPr wrap="square">
            <a:spAutoFit/>
          </a:bodyPr>
          <a:lstStyle/>
          <a:p>
            <a:pPr algn="ctr"/>
            <a:r>
              <a:rPr sz="1300" b="0">
                <a:solidFill>
                  <a:srgbClr val="334155"/>
                </a:solidFill>
                <a:latin typeface="Arial"/>
              </a:rPr>
              <a:t>If true → if block
If false → else block</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8229600" cy="365760"/>
          </a:xfrm>
          <a:prstGeom prst="rect">
            <a:avLst/>
          </a:prstGeom>
          <a:noFill/>
        </p:spPr>
        <p:txBody>
          <a:bodyPr wrap="square">
            <a:spAutoFit/>
          </a:bodyPr>
          <a:lstStyle/>
          <a:p>
            <a:pPr algn="l"/>
            <a:r>
              <a:rPr sz="2200" b="1">
                <a:solidFill>
                  <a:srgbClr val="0066CC"/>
                </a:solidFill>
                <a:latin typeface="Arial"/>
              </a:rPr>
              <a:t>else if — MULTIPLE CONDITIONS</a:t>
            </a:r>
          </a:p>
        </p:txBody>
      </p:sp>
      <p:sp>
        <p:nvSpPr>
          <p:cNvPr id="3" name="TextBox 2"/>
          <p:cNvSpPr txBox="1"/>
          <p:nvPr/>
        </p:nvSpPr>
        <p:spPr>
          <a:xfrm>
            <a:off x="457200" y="731520"/>
            <a:ext cx="8229600" cy="274320"/>
          </a:xfrm>
          <a:prstGeom prst="rect">
            <a:avLst/>
          </a:prstGeom>
          <a:noFill/>
        </p:spPr>
        <p:txBody>
          <a:bodyPr wrap="square">
            <a:spAutoFit/>
          </a:bodyPr>
          <a:lstStyle/>
          <a:p>
            <a:pPr algn="l"/>
            <a:r>
              <a:rPr sz="1400" b="0">
                <a:solidFill>
                  <a:srgbClr val="334155"/>
                </a:solidFill>
                <a:latin typeface="Arial"/>
              </a:rPr>
              <a:t>What if there is more than one possible condition?</a:t>
            </a:r>
          </a:p>
        </p:txBody>
      </p:sp>
      <p:sp>
        <p:nvSpPr>
          <p:cNvPr id="4" name="Rounded Rectangle 3"/>
          <p:cNvSpPr/>
          <p:nvPr/>
        </p:nvSpPr>
        <p:spPr>
          <a:xfrm>
            <a:off x="365760" y="1188720"/>
            <a:ext cx="8412480" cy="3474720"/>
          </a:xfrm>
          <a:prstGeom prst="roundRect">
            <a:avLst>
              <a:gd name="adj" fmla="val 10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17320"/>
            <a:ext cx="7863840" cy="274320"/>
          </a:xfrm>
          <a:prstGeom prst="rect">
            <a:avLst/>
          </a:prstGeom>
          <a:noFill/>
        </p:spPr>
        <p:txBody>
          <a:bodyPr wrap="square">
            <a:spAutoFit/>
          </a:bodyPr>
          <a:lstStyle/>
          <a:p>
            <a:pPr algn="l"/>
            <a:r>
              <a:rPr sz="1500" b="0">
                <a:solidFill>
                  <a:srgbClr val="FFFFFF"/>
                </a:solidFill>
                <a:latin typeface="Consolas"/>
              </a:rPr>
              <a:t>let grade = 75;</a:t>
            </a:r>
          </a:p>
        </p:txBody>
      </p:sp>
      <p:sp>
        <p:nvSpPr>
          <p:cNvPr id="6" name="TextBox 5"/>
          <p:cNvSpPr txBox="1"/>
          <p:nvPr/>
        </p:nvSpPr>
        <p:spPr>
          <a:xfrm>
            <a:off x="640080" y="1920240"/>
            <a:ext cx="7863840" cy="274320"/>
          </a:xfrm>
          <a:prstGeom prst="rect">
            <a:avLst/>
          </a:prstGeom>
          <a:noFill/>
        </p:spPr>
        <p:txBody>
          <a:bodyPr wrap="square">
            <a:spAutoFit/>
          </a:bodyPr>
          <a:lstStyle/>
          <a:p>
            <a:pPr algn="l"/>
            <a:r>
              <a:rPr sz="1500" b="0">
                <a:solidFill>
                  <a:srgbClr val="7DD3FC"/>
                </a:solidFill>
                <a:latin typeface="Consolas"/>
              </a:rPr>
              <a:t>if (grade &gt;= 90) {</a:t>
            </a:r>
          </a:p>
        </p:txBody>
      </p:sp>
      <p:sp>
        <p:nvSpPr>
          <p:cNvPr id="7" name="TextBox 6"/>
          <p:cNvSpPr txBox="1"/>
          <p:nvPr/>
        </p:nvSpPr>
        <p:spPr>
          <a:xfrm>
            <a:off x="1005840" y="2331720"/>
            <a:ext cx="7498079" cy="274320"/>
          </a:xfrm>
          <a:prstGeom prst="rect">
            <a:avLst/>
          </a:prstGeom>
          <a:noFill/>
        </p:spPr>
        <p:txBody>
          <a:bodyPr wrap="square">
            <a:spAutoFit/>
          </a:bodyPr>
          <a:lstStyle/>
          <a:p>
            <a:pPr algn="l"/>
            <a:r>
              <a:rPr sz="1400" b="0">
                <a:solidFill>
                  <a:srgbClr val="FFFFFF"/>
                </a:solidFill>
                <a:latin typeface="Consolas"/>
              </a:rPr>
              <a:t>console.log("A");</a:t>
            </a:r>
          </a:p>
        </p:txBody>
      </p:sp>
      <p:sp>
        <p:nvSpPr>
          <p:cNvPr id="8" name="TextBox 7"/>
          <p:cNvSpPr txBox="1"/>
          <p:nvPr/>
        </p:nvSpPr>
        <p:spPr>
          <a:xfrm>
            <a:off x="640080" y="2743200"/>
            <a:ext cx="7863840" cy="274320"/>
          </a:xfrm>
          <a:prstGeom prst="rect">
            <a:avLst/>
          </a:prstGeom>
          <a:noFill/>
        </p:spPr>
        <p:txBody>
          <a:bodyPr wrap="square">
            <a:spAutoFit/>
          </a:bodyPr>
          <a:lstStyle/>
          <a:p>
            <a:pPr algn="l"/>
            <a:r>
              <a:rPr sz="1500" b="0">
                <a:solidFill>
                  <a:srgbClr val="7DD3FC"/>
                </a:solidFill>
                <a:latin typeface="Consolas"/>
              </a:rPr>
              <a:t>} else if (grade &gt;= 75) {</a:t>
            </a:r>
          </a:p>
        </p:txBody>
      </p:sp>
      <p:sp>
        <p:nvSpPr>
          <p:cNvPr id="9" name="TextBox 8"/>
          <p:cNvSpPr txBox="1"/>
          <p:nvPr/>
        </p:nvSpPr>
        <p:spPr>
          <a:xfrm>
            <a:off x="1005840" y="3154680"/>
            <a:ext cx="7498079" cy="274320"/>
          </a:xfrm>
          <a:prstGeom prst="rect">
            <a:avLst/>
          </a:prstGeom>
          <a:noFill/>
        </p:spPr>
        <p:txBody>
          <a:bodyPr wrap="square">
            <a:spAutoFit/>
          </a:bodyPr>
          <a:lstStyle/>
          <a:p>
            <a:pPr algn="l"/>
            <a:r>
              <a:rPr sz="1400" b="0">
                <a:solidFill>
                  <a:srgbClr val="FFFFFF"/>
                </a:solidFill>
                <a:latin typeface="Consolas"/>
              </a:rPr>
              <a:t>console.log("B");</a:t>
            </a:r>
          </a:p>
        </p:txBody>
      </p:sp>
      <p:sp>
        <p:nvSpPr>
          <p:cNvPr id="10" name="TextBox 9"/>
          <p:cNvSpPr txBox="1"/>
          <p:nvPr/>
        </p:nvSpPr>
        <p:spPr>
          <a:xfrm>
            <a:off x="640080" y="3566160"/>
            <a:ext cx="7863840" cy="274320"/>
          </a:xfrm>
          <a:prstGeom prst="rect">
            <a:avLst/>
          </a:prstGeom>
          <a:noFill/>
        </p:spPr>
        <p:txBody>
          <a:bodyPr wrap="square">
            <a:spAutoFit/>
          </a:bodyPr>
          <a:lstStyle/>
          <a:p>
            <a:pPr algn="l"/>
            <a:r>
              <a:rPr sz="1500" b="0">
                <a:solidFill>
                  <a:srgbClr val="7DD3FC"/>
                </a:solidFill>
                <a:latin typeface="Consolas"/>
              </a:rPr>
              <a:t>} else {</a:t>
            </a:r>
          </a:p>
        </p:txBody>
      </p:sp>
      <p:sp>
        <p:nvSpPr>
          <p:cNvPr id="11" name="TextBox 10"/>
          <p:cNvSpPr txBox="1"/>
          <p:nvPr/>
        </p:nvSpPr>
        <p:spPr>
          <a:xfrm>
            <a:off x="1005840" y="3977639"/>
            <a:ext cx="7498079" cy="274320"/>
          </a:xfrm>
          <a:prstGeom prst="rect">
            <a:avLst/>
          </a:prstGeom>
          <a:noFill/>
        </p:spPr>
        <p:txBody>
          <a:bodyPr wrap="square">
            <a:spAutoFit/>
          </a:bodyPr>
          <a:lstStyle/>
          <a:p>
            <a:pPr algn="l"/>
            <a:r>
              <a:rPr sz="1400" b="0">
                <a:solidFill>
                  <a:srgbClr val="FFFFFF"/>
                </a:solidFill>
                <a:latin typeface="Consolas"/>
              </a:rPr>
              <a:t>console.log("C");</a:t>
            </a:r>
          </a:p>
        </p:txBody>
      </p:sp>
      <p:sp>
        <p:nvSpPr>
          <p:cNvPr id="12" name="TextBox 11"/>
          <p:cNvSpPr txBox="1"/>
          <p:nvPr/>
        </p:nvSpPr>
        <p:spPr>
          <a:xfrm>
            <a:off x="640080" y="4343400"/>
            <a:ext cx="7863840" cy="228600"/>
          </a:xfrm>
          <a:prstGeom prst="rect">
            <a:avLst/>
          </a:prstGeom>
          <a:noFill/>
        </p:spPr>
        <p:txBody>
          <a:bodyPr wrap="square">
            <a:spAutoFit/>
          </a:bodyPr>
          <a:lstStyle/>
          <a:p>
            <a:pPr algn="l"/>
            <a:r>
              <a:rPr sz="1500" b="0">
                <a:solidFill>
                  <a:srgbClr val="7DD3FC"/>
                </a:solidFill>
                <a:latin typeface="Consolas"/>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320040"/>
          </a:xfrm>
          <a:prstGeom prst="rect">
            <a:avLst/>
          </a:prstGeom>
          <a:noFill/>
        </p:spPr>
        <p:txBody>
          <a:bodyPr wrap="square">
            <a:spAutoFit/>
          </a:bodyPr>
          <a:lstStyle/>
          <a:p>
            <a:pPr algn="l"/>
            <a:r>
              <a:rPr sz="1400" b="1">
                <a:solidFill>
                  <a:srgbClr val="0066CC"/>
                </a:solidFill>
                <a:latin typeface="Arial"/>
              </a:rPr>
              <a:t>TOPIC 7</a:t>
            </a:r>
          </a:p>
        </p:txBody>
      </p:sp>
      <p:sp>
        <p:nvSpPr>
          <p:cNvPr id="3" name="TextBox 2"/>
          <p:cNvSpPr txBox="1"/>
          <p:nvPr/>
        </p:nvSpPr>
        <p:spPr>
          <a:xfrm>
            <a:off x="457200" y="731520"/>
            <a:ext cx="8229600" cy="502920"/>
          </a:xfrm>
          <a:prstGeom prst="rect">
            <a:avLst/>
          </a:prstGeom>
          <a:noFill/>
        </p:spPr>
        <p:txBody>
          <a:bodyPr wrap="square">
            <a:spAutoFit/>
          </a:bodyPr>
          <a:lstStyle/>
          <a:p>
            <a:pPr algn="l"/>
            <a:r>
              <a:rPr sz="2400" b="1">
                <a:solidFill>
                  <a:srgbClr val="0066CC"/>
                </a:solidFill>
                <a:latin typeface="Arial"/>
              </a:rPr>
              <a:t>Logical Operators: &amp;&amp;  and  ||</a:t>
            </a:r>
          </a:p>
        </p:txBody>
      </p:sp>
      <p:sp>
        <p:nvSpPr>
          <p:cNvPr id="4" name="Rounded Rectangle 3"/>
          <p:cNvSpPr/>
          <p:nvPr/>
        </p:nvSpPr>
        <p:spPr>
          <a:xfrm>
            <a:off x="365760" y="1463040"/>
            <a:ext cx="4114800" cy="3017520"/>
          </a:xfrm>
          <a:prstGeom prst="roundRect">
            <a:avLst>
              <a:gd name="adj" fmla="val 12000"/>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737360"/>
            <a:ext cx="3749039" cy="365760"/>
          </a:xfrm>
          <a:prstGeom prst="rect">
            <a:avLst/>
          </a:prstGeom>
          <a:noFill/>
        </p:spPr>
        <p:txBody>
          <a:bodyPr wrap="square">
            <a:spAutoFit/>
          </a:bodyPr>
          <a:lstStyle/>
          <a:p>
            <a:pPr algn="ctr"/>
            <a:r>
              <a:rPr sz="2000" b="1">
                <a:solidFill>
                  <a:srgbClr val="0066CC"/>
                </a:solidFill>
                <a:latin typeface="Consolas"/>
              </a:rPr>
              <a:t>&amp;&amp;  (AND)</a:t>
            </a:r>
          </a:p>
        </p:txBody>
      </p:sp>
      <p:sp>
        <p:nvSpPr>
          <p:cNvPr id="6" name="TextBox 5"/>
          <p:cNvSpPr txBox="1"/>
          <p:nvPr/>
        </p:nvSpPr>
        <p:spPr>
          <a:xfrm>
            <a:off x="548640" y="2468880"/>
            <a:ext cx="3749039" cy="1371600"/>
          </a:xfrm>
          <a:prstGeom prst="rect">
            <a:avLst/>
          </a:prstGeom>
          <a:noFill/>
        </p:spPr>
        <p:txBody>
          <a:bodyPr wrap="square">
            <a:spAutoFit/>
          </a:bodyPr>
          <a:lstStyle/>
          <a:p>
            <a:pPr algn="ctr"/>
            <a:r>
              <a:rPr sz="1600" b="0">
                <a:solidFill>
                  <a:srgbClr val="334155"/>
                </a:solidFill>
                <a:latin typeface="Arial"/>
              </a:rPr>
              <a:t>Both conditions
must be true</a:t>
            </a:r>
          </a:p>
        </p:txBody>
      </p:sp>
      <p:sp>
        <p:nvSpPr>
          <p:cNvPr id="7" name="Rounded Rectangle 6"/>
          <p:cNvSpPr/>
          <p:nvPr/>
        </p:nvSpPr>
        <p:spPr>
          <a:xfrm>
            <a:off x="4754880" y="1463040"/>
            <a:ext cx="4023360" cy="3017520"/>
          </a:xfrm>
          <a:prstGeom prst="roundRect">
            <a:avLst>
              <a:gd name="adj" fmla="val 12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937760" y="1737360"/>
            <a:ext cx="3657600" cy="365760"/>
          </a:xfrm>
          <a:prstGeom prst="rect">
            <a:avLst/>
          </a:prstGeom>
          <a:noFill/>
        </p:spPr>
        <p:txBody>
          <a:bodyPr wrap="square">
            <a:spAutoFit/>
          </a:bodyPr>
          <a:lstStyle/>
          <a:p>
            <a:pPr algn="ctr"/>
            <a:r>
              <a:rPr sz="2000" b="1">
                <a:solidFill>
                  <a:srgbClr val="0066CC"/>
                </a:solidFill>
                <a:latin typeface="Consolas"/>
              </a:rPr>
              <a:t>||  (OR)</a:t>
            </a:r>
          </a:p>
        </p:txBody>
      </p:sp>
      <p:sp>
        <p:nvSpPr>
          <p:cNvPr id="9" name="TextBox 8"/>
          <p:cNvSpPr txBox="1"/>
          <p:nvPr/>
        </p:nvSpPr>
        <p:spPr>
          <a:xfrm>
            <a:off x="4937760" y="2468880"/>
            <a:ext cx="3657600" cy="1371600"/>
          </a:xfrm>
          <a:prstGeom prst="rect">
            <a:avLst/>
          </a:prstGeom>
          <a:noFill/>
        </p:spPr>
        <p:txBody>
          <a:bodyPr wrap="square">
            <a:spAutoFit/>
          </a:bodyPr>
          <a:lstStyle/>
          <a:p>
            <a:pPr algn="ctr"/>
            <a:r>
              <a:rPr sz="1600" b="0">
                <a:solidFill>
                  <a:srgbClr val="1E293B"/>
                </a:solidFill>
                <a:latin typeface="Arial"/>
              </a:rPr>
              <a:t>At least one condition
must be true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8229600" cy="320040"/>
          </a:xfrm>
          <a:prstGeom prst="rect">
            <a:avLst/>
          </a:prstGeom>
          <a:noFill/>
        </p:spPr>
        <p:txBody>
          <a:bodyPr wrap="square">
            <a:spAutoFit/>
          </a:bodyPr>
          <a:lstStyle/>
          <a:p>
            <a:pPr algn="l"/>
            <a:r>
              <a:rPr sz="2200" b="1">
                <a:solidFill>
                  <a:srgbClr val="0066CC"/>
                </a:solidFill>
                <a:latin typeface="Arial"/>
              </a:rPr>
              <a:t>&amp;&amp; EXAMPLE</a:t>
            </a:r>
          </a:p>
        </p:txBody>
      </p:sp>
      <p:sp>
        <p:nvSpPr>
          <p:cNvPr id="3" name="Rounded Rectangle 2"/>
          <p:cNvSpPr/>
          <p:nvPr/>
        </p:nvSpPr>
        <p:spPr>
          <a:xfrm>
            <a:off x="365760" y="822960"/>
            <a:ext cx="8412480" cy="3749039"/>
          </a:xfrm>
          <a:prstGeom prst="roundRect">
            <a:avLst>
              <a:gd name="adj" fmla="val 10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188720"/>
            <a:ext cx="7863840" cy="320040"/>
          </a:xfrm>
          <a:prstGeom prst="rect">
            <a:avLst/>
          </a:prstGeom>
          <a:noFill/>
        </p:spPr>
        <p:txBody>
          <a:bodyPr wrap="square">
            <a:spAutoFit/>
          </a:bodyPr>
          <a:lstStyle/>
          <a:p>
            <a:pPr algn="l"/>
            <a:r>
              <a:rPr sz="1600" b="0">
                <a:solidFill>
                  <a:srgbClr val="FFFFFF"/>
                </a:solidFill>
                <a:latin typeface="Consolas"/>
              </a:rPr>
              <a:t>let age = 20;</a:t>
            </a:r>
          </a:p>
        </p:txBody>
      </p:sp>
      <p:sp>
        <p:nvSpPr>
          <p:cNvPr id="5" name="TextBox 4"/>
          <p:cNvSpPr txBox="1"/>
          <p:nvPr/>
        </p:nvSpPr>
        <p:spPr>
          <a:xfrm>
            <a:off x="640080" y="1691640"/>
            <a:ext cx="7863840" cy="320040"/>
          </a:xfrm>
          <a:prstGeom prst="rect">
            <a:avLst/>
          </a:prstGeom>
          <a:noFill/>
        </p:spPr>
        <p:txBody>
          <a:bodyPr wrap="square">
            <a:spAutoFit/>
          </a:bodyPr>
          <a:lstStyle/>
          <a:p>
            <a:pPr algn="l"/>
            <a:r>
              <a:rPr sz="1600" b="0">
                <a:solidFill>
                  <a:srgbClr val="FFFFFF"/>
                </a:solidFill>
                <a:latin typeface="Consolas"/>
              </a:rPr>
              <a:t>let hasID = true;</a:t>
            </a:r>
          </a:p>
        </p:txBody>
      </p:sp>
      <p:sp>
        <p:nvSpPr>
          <p:cNvPr id="6" name="TextBox 5"/>
          <p:cNvSpPr txBox="1"/>
          <p:nvPr/>
        </p:nvSpPr>
        <p:spPr>
          <a:xfrm>
            <a:off x="640080" y="2286000"/>
            <a:ext cx="7863840" cy="320040"/>
          </a:xfrm>
          <a:prstGeom prst="rect">
            <a:avLst/>
          </a:prstGeom>
          <a:noFill/>
        </p:spPr>
        <p:txBody>
          <a:bodyPr wrap="square">
            <a:spAutoFit/>
          </a:bodyPr>
          <a:lstStyle/>
          <a:p>
            <a:pPr algn="l"/>
            <a:r>
              <a:rPr sz="1600" b="0">
                <a:solidFill>
                  <a:srgbClr val="7DD3FC"/>
                </a:solidFill>
                <a:latin typeface="Consolas"/>
              </a:rPr>
              <a:t>if (age &gt;= 18 &amp;&amp; hasID) {</a:t>
            </a:r>
          </a:p>
        </p:txBody>
      </p:sp>
      <p:sp>
        <p:nvSpPr>
          <p:cNvPr id="7" name="TextBox 6"/>
          <p:cNvSpPr txBox="1"/>
          <p:nvPr/>
        </p:nvSpPr>
        <p:spPr>
          <a:xfrm>
            <a:off x="1005840" y="2880360"/>
            <a:ext cx="7498079" cy="320040"/>
          </a:xfrm>
          <a:prstGeom prst="rect">
            <a:avLst/>
          </a:prstGeom>
          <a:noFill/>
        </p:spPr>
        <p:txBody>
          <a:bodyPr wrap="square">
            <a:spAutoFit/>
          </a:bodyPr>
          <a:lstStyle/>
          <a:p>
            <a:pPr algn="l"/>
            <a:r>
              <a:rPr sz="1600" b="0">
                <a:solidFill>
                  <a:srgbClr val="FFFFFF"/>
                </a:solidFill>
                <a:latin typeface="Consolas"/>
              </a:rPr>
              <a:t>console.log("Can enter");</a:t>
            </a:r>
          </a:p>
        </p:txBody>
      </p:sp>
      <p:sp>
        <p:nvSpPr>
          <p:cNvPr id="8" name="TextBox 7"/>
          <p:cNvSpPr txBox="1"/>
          <p:nvPr/>
        </p:nvSpPr>
        <p:spPr>
          <a:xfrm>
            <a:off x="640080" y="3474720"/>
            <a:ext cx="7863840" cy="320040"/>
          </a:xfrm>
          <a:prstGeom prst="rect">
            <a:avLst/>
          </a:prstGeom>
          <a:noFill/>
        </p:spPr>
        <p:txBody>
          <a:bodyPr wrap="square">
            <a:spAutoFit/>
          </a:bodyPr>
          <a:lstStyle/>
          <a:p>
            <a:pPr algn="l"/>
            <a:r>
              <a:rPr sz="1600" b="0">
                <a:solidFill>
                  <a:srgbClr val="7DD3FC"/>
                </a:solidFill>
                <a:latin typeface="Consolas"/>
              </a:rPr>
              <a:t>}</a:t>
            </a:r>
          </a:p>
        </p:txBody>
      </p:sp>
      <p:sp>
        <p:nvSpPr>
          <p:cNvPr id="9" name="TextBox 8"/>
          <p:cNvSpPr txBox="1"/>
          <p:nvPr/>
        </p:nvSpPr>
        <p:spPr>
          <a:xfrm>
            <a:off x="640080" y="4023360"/>
            <a:ext cx="7863840" cy="320040"/>
          </a:xfrm>
          <a:prstGeom prst="rect">
            <a:avLst/>
          </a:prstGeom>
          <a:noFill/>
        </p:spPr>
        <p:txBody>
          <a:bodyPr wrap="square">
            <a:spAutoFit/>
          </a:bodyPr>
          <a:lstStyle/>
          <a:p>
            <a:pPr algn="l"/>
            <a:r>
              <a:rPr sz="1400" b="0">
                <a:solidFill>
                  <a:srgbClr val="22C55E"/>
                </a:solidFill>
                <a:latin typeface="Consolas"/>
              </a:rPr>
              <a:t>// Both conditions true → Can enter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8229600" cy="320040"/>
          </a:xfrm>
          <a:prstGeom prst="rect">
            <a:avLst/>
          </a:prstGeom>
          <a:noFill/>
        </p:spPr>
        <p:txBody>
          <a:bodyPr wrap="square">
            <a:spAutoFit/>
          </a:bodyPr>
          <a:lstStyle/>
          <a:p>
            <a:pPr algn="l"/>
            <a:r>
              <a:rPr sz="2200" b="1">
                <a:solidFill>
                  <a:srgbClr val="0066CC"/>
                </a:solidFill>
                <a:latin typeface="Arial"/>
              </a:rPr>
              <a:t>|| EXAMPLE</a:t>
            </a:r>
          </a:p>
        </p:txBody>
      </p:sp>
      <p:sp>
        <p:nvSpPr>
          <p:cNvPr id="3" name="Rounded Rectangle 2"/>
          <p:cNvSpPr/>
          <p:nvPr/>
        </p:nvSpPr>
        <p:spPr>
          <a:xfrm>
            <a:off x="365760" y="822960"/>
            <a:ext cx="8412480" cy="3749039"/>
          </a:xfrm>
          <a:prstGeom prst="roundRect">
            <a:avLst>
              <a:gd name="adj" fmla="val 10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188720"/>
            <a:ext cx="7863840" cy="320040"/>
          </a:xfrm>
          <a:prstGeom prst="rect">
            <a:avLst/>
          </a:prstGeom>
          <a:noFill/>
        </p:spPr>
        <p:txBody>
          <a:bodyPr wrap="square">
            <a:spAutoFit/>
          </a:bodyPr>
          <a:lstStyle/>
          <a:p>
            <a:pPr algn="l"/>
            <a:r>
              <a:rPr sz="1600" b="0">
                <a:solidFill>
                  <a:srgbClr val="FFFFFF"/>
                </a:solidFill>
                <a:latin typeface="Consolas"/>
              </a:rPr>
              <a:t>let isWeekend = true;</a:t>
            </a:r>
          </a:p>
        </p:txBody>
      </p:sp>
      <p:sp>
        <p:nvSpPr>
          <p:cNvPr id="5" name="TextBox 4"/>
          <p:cNvSpPr txBox="1"/>
          <p:nvPr/>
        </p:nvSpPr>
        <p:spPr>
          <a:xfrm>
            <a:off x="640080" y="1691640"/>
            <a:ext cx="7863840" cy="320040"/>
          </a:xfrm>
          <a:prstGeom prst="rect">
            <a:avLst/>
          </a:prstGeom>
          <a:noFill/>
        </p:spPr>
        <p:txBody>
          <a:bodyPr wrap="square">
            <a:spAutoFit/>
          </a:bodyPr>
          <a:lstStyle/>
          <a:p>
            <a:pPr algn="l"/>
            <a:r>
              <a:rPr sz="1600" b="0">
                <a:solidFill>
                  <a:srgbClr val="FFFFFF"/>
                </a:solidFill>
                <a:latin typeface="Consolas"/>
              </a:rPr>
              <a:t>let isHoliday = false;</a:t>
            </a:r>
          </a:p>
        </p:txBody>
      </p:sp>
      <p:sp>
        <p:nvSpPr>
          <p:cNvPr id="6" name="TextBox 5"/>
          <p:cNvSpPr txBox="1"/>
          <p:nvPr/>
        </p:nvSpPr>
        <p:spPr>
          <a:xfrm>
            <a:off x="640080" y="2286000"/>
            <a:ext cx="7863840" cy="320040"/>
          </a:xfrm>
          <a:prstGeom prst="rect">
            <a:avLst/>
          </a:prstGeom>
          <a:noFill/>
        </p:spPr>
        <p:txBody>
          <a:bodyPr wrap="square">
            <a:spAutoFit/>
          </a:bodyPr>
          <a:lstStyle/>
          <a:p>
            <a:pPr algn="l"/>
            <a:r>
              <a:rPr sz="1600" b="0">
                <a:solidFill>
                  <a:srgbClr val="7DD3FC"/>
                </a:solidFill>
                <a:latin typeface="Consolas"/>
              </a:rPr>
              <a:t>if (isWeekend || isHoliday) {</a:t>
            </a:r>
          </a:p>
        </p:txBody>
      </p:sp>
      <p:sp>
        <p:nvSpPr>
          <p:cNvPr id="7" name="TextBox 6"/>
          <p:cNvSpPr txBox="1"/>
          <p:nvPr/>
        </p:nvSpPr>
        <p:spPr>
          <a:xfrm>
            <a:off x="1005840" y="2880360"/>
            <a:ext cx="7498079" cy="320040"/>
          </a:xfrm>
          <a:prstGeom prst="rect">
            <a:avLst/>
          </a:prstGeom>
          <a:noFill/>
        </p:spPr>
        <p:txBody>
          <a:bodyPr wrap="square">
            <a:spAutoFit/>
          </a:bodyPr>
          <a:lstStyle/>
          <a:p>
            <a:pPr algn="l"/>
            <a:r>
              <a:rPr sz="1600" b="0">
                <a:solidFill>
                  <a:srgbClr val="FFFFFF"/>
                </a:solidFill>
                <a:latin typeface="Consolas"/>
              </a:rPr>
              <a:t>console.log("No work today");</a:t>
            </a:r>
          </a:p>
        </p:txBody>
      </p:sp>
      <p:sp>
        <p:nvSpPr>
          <p:cNvPr id="8" name="TextBox 7"/>
          <p:cNvSpPr txBox="1"/>
          <p:nvPr/>
        </p:nvSpPr>
        <p:spPr>
          <a:xfrm>
            <a:off x="640080" y="3474720"/>
            <a:ext cx="7863840" cy="320040"/>
          </a:xfrm>
          <a:prstGeom prst="rect">
            <a:avLst/>
          </a:prstGeom>
          <a:noFill/>
        </p:spPr>
        <p:txBody>
          <a:bodyPr wrap="square">
            <a:spAutoFit/>
          </a:bodyPr>
          <a:lstStyle/>
          <a:p>
            <a:pPr algn="l"/>
            <a:r>
              <a:rPr sz="1600" b="0">
                <a:solidFill>
                  <a:srgbClr val="7DD3FC"/>
                </a:solidFill>
                <a:latin typeface="Consolas"/>
              </a:rPr>
              <a:t>}</a:t>
            </a:r>
          </a:p>
        </p:txBody>
      </p:sp>
      <p:sp>
        <p:nvSpPr>
          <p:cNvPr id="9" name="TextBox 8"/>
          <p:cNvSpPr txBox="1"/>
          <p:nvPr/>
        </p:nvSpPr>
        <p:spPr>
          <a:xfrm>
            <a:off x="640080" y="4023360"/>
            <a:ext cx="7863840" cy="320040"/>
          </a:xfrm>
          <a:prstGeom prst="rect">
            <a:avLst/>
          </a:prstGeom>
          <a:noFill/>
        </p:spPr>
        <p:txBody>
          <a:bodyPr wrap="square">
            <a:spAutoFit/>
          </a:bodyPr>
          <a:lstStyle/>
          <a:p>
            <a:pPr algn="l"/>
            <a:r>
              <a:rPr sz="1400" b="0">
                <a:solidFill>
                  <a:srgbClr val="22C55E"/>
                </a:solidFill>
                <a:latin typeface="Consolas"/>
              </a:rPr>
              <a:t>// One condition true → No work today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320040"/>
          </a:xfrm>
          <a:prstGeom prst="rect">
            <a:avLst/>
          </a:prstGeom>
          <a:noFill/>
        </p:spPr>
        <p:txBody>
          <a:bodyPr wrap="square">
            <a:spAutoFit/>
          </a:bodyPr>
          <a:lstStyle/>
          <a:p>
            <a:pPr algn="l"/>
            <a:r>
              <a:rPr sz="1400" b="1">
                <a:solidFill>
                  <a:srgbClr val="0066CC"/>
                </a:solidFill>
                <a:latin typeface="Arial"/>
              </a:rPr>
              <a:t>TOPIC 8</a:t>
            </a:r>
          </a:p>
        </p:txBody>
      </p:sp>
      <p:sp>
        <p:nvSpPr>
          <p:cNvPr id="3" name="TextBox 2"/>
          <p:cNvSpPr txBox="1"/>
          <p:nvPr/>
        </p:nvSpPr>
        <p:spPr>
          <a:xfrm>
            <a:off x="457200" y="731520"/>
            <a:ext cx="8229600" cy="502920"/>
          </a:xfrm>
          <a:prstGeom prst="rect">
            <a:avLst/>
          </a:prstGeom>
          <a:noFill/>
        </p:spPr>
        <p:txBody>
          <a:bodyPr wrap="square">
            <a:spAutoFit/>
          </a:bodyPr>
          <a:lstStyle/>
          <a:p>
            <a:pPr algn="l"/>
            <a:r>
              <a:rPr sz="2800" b="1">
                <a:solidFill>
                  <a:srgbClr val="0066CC"/>
                </a:solidFill>
                <a:latin typeface="Arial"/>
              </a:rPr>
              <a:t>Truthy / Falsy</a:t>
            </a:r>
          </a:p>
        </p:txBody>
      </p:sp>
      <p:sp>
        <p:nvSpPr>
          <p:cNvPr id="4" name="Rounded Rectangle 3"/>
          <p:cNvSpPr/>
          <p:nvPr/>
        </p:nvSpPr>
        <p:spPr>
          <a:xfrm>
            <a:off x="457200" y="1463040"/>
            <a:ext cx="8229600" cy="1371600"/>
          </a:xfrm>
          <a:prstGeom prst="roundRect">
            <a:avLst>
              <a:gd name="adj" fmla="val 10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691640"/>
            <a:ext cx="7680960" cy="914400"/>
          </a:xfrm>
          <a:prstGeom prst="rect">
            <a:avLst/>
          </a:prstGeom>
          <a:noFill/>
        </p:spPr>
        <p:txBody>
          <a:bodyPr wrap="square">
            <a:spAutoFit/>
          </a:bodyPr>
          <a:lstStyle/>
          <a:p>
            <a:pPr algn="l"/>
            <a:r>
              <a:rPr sz="1400" b="0">
                <a:solidFill>
                  <a:srgbClr val="1E293B"/>
                </a:solidFill>
                <a:latin typeface="Arial"/>
              </a:rPr>
              <a:t>The condition inside an if does not have to literally be true or false.
JavaScript can convert values into a boolean context.</a:t>
            </a:r>
          </a:p>
        </p:txBody>
      </p:sp>
      <p:sp>
        <p:nvSpPr>
          <p:cNvPr id="6" name="Rounded Rectangle 5"/>
          <p:cNvSpPr/>
          <p:nvPr/>
        </p:nvSpPr>
        <p:spPr>
          <a:xfrm>
            <a:off x="365760" y="3108960"/>
            <a:ext cx="4114800" cy="1554480"/>
          </a:xfrm>
          <a:prstGeom prst="roundRect">
            <a:avLst>
              <a:gd name="adj" fmla="val 10000"/>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3291840"/>
            <a:ext cx="3749039" cy="320040"/>
          </a:xfrm>
          <a:prstGeom prst="rect">
            <a:avLst/>
          </a:prstGeom>
          <a:noFill/>
        </p:spPr>
        <p:txBody>
          <a:bodyPr wrap="square">
            <a:spAutoFit/>
          </a:bodyPr>
          <a:lstStyle/>
          <a:p>
            <a:pPr algn="ctr"/>
            <a:r>
              <a:rPr sz="1600" b="1">
                <a:solidFill>
                  <a:srgbClr val="EF4444"/>
                </a:solidFill>
                <a:latin typeface="Arial"/>
              </a:rPr>
              <a:t>FALSY</a:t>
            </a:r>
          </a:p>
        </p:txBody>
      </p:sp>
      <p:sp>
        <p:nvSpPr>
          <p:cNvPr id="8" name="TextBox 7"/>
          <p:cNvSpPr txBox="1"/>
          <p:nvPr/>
        </p:nvSpPr>
        <p:spPr>
          <a:xfrm>
            <a:off x="548640" y="3794760"/>
            <a:ext cx="3749039" cy="640080"/>
          </a:xfrm>
          <a:prstGeom prst="rect">
            <a:avLst/>
          </a:prstGeom>
          <a:noFill/>
        </p:spPr>
        <p:txBody>
          <a:bodyPr wrap="square">
            <a:spAutoFit/>
          </a:bodyPr>
          <a:lstStyle/>
          <a:p>
            <a:pPr algn="ctr"/>
            <a:r>
              <a:rPr sz="1400" b="0">
                <a:solidFill>
                  <a:srgbClr val="334155"/>
                </a:solidFill>
                <a:latin typeface="Consolas"/>
              </a:rPr>
              <a:t>0    ""    null    undefined</a:t>
            </a:r>
          </a:p>
        </p:txBody>
      </p:sp>
      <p:sp>
        <p:nvSpPr>
          <p:cNvPr id="9" name="Rounded Rectangle 8"/>
          <p:cNvSpPr/>
          <p:nvPr/>
        </p:nvSpPr>
        <p:spPr>
          <a:xfrm>
            <a:off x="4754880" y="3108960"/>
            <a:ext cx="4023360" cy="1554480"/>
          </a:xfrm>
          <a:prstGeom prst="roundRect">
            <a:avLst>
              <a:gd name="adj" fmla="val 10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937760" y="3291840"/>
            <a:ext cx="3657600" cy="320040"/>
          </a:xfrm>
          <a:prstGeom prst="rect">
            <a:avLst/>
          </a:prstGeom>
          <a:noFill/>
        </p:spPr>
        <p:txBody>
          <a:bodyPr wrap="square">
            <a:spAutoFit/>
          </a:bodyPr>
          <a:lstStyle/>
          <a:p>
            <a:pPr algn="ctr"/>
            <a:r>
              <a:rPr sz="1600" b="1">
                <a:solidFill>
                  <a:srgbClr val="22C55E"/>
                </a:solidFill>
                <a:latin typeface="Arial"/>
              </a:rPr>
              <a:t>TRUTHY</a:t>
            </a:r>
          </a:p>
        </p:txBody>
      </p:sp>
      <p:sp>
        <p:nvSpPr>
          <p:cNvPr id="11" name="TextBox 10"/>
          <p:cNvSpPr txBox="1"/>
          <p:nvPr/>
        </p:nvSpPr>
        <p:spPr>
          <a:xfrm>
            <a:off x="4937760" y="3794760"/>
            <a:ext cx="3657600" cy="640080"/>
          </a:xfrm>
          <a:prstGeom prst="rect">
            <a:avLst/>
          </a:prstGeom>
          <a:noFill/>
        </p:spPr>
        <p:txBody>
          <a:bodyPr wrap="square">
            <a:spAutoFit/>
          </a:bodyPr>
          <a:lstStyle/>
          <a:p>
            <a:pPr algn="ctr"/>
            <a:r>
              <a:rPr sz="1400" b="0">
                <a:solidFill>
                  <a:srgbClr val="1E293B"/>
                </a:solidFill>
                <a:latin typeface="Arial"/>
              </a:rPr>
              <a:t>Everything else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8229600" cy="320040"/>
          </a:xfrm>
          <a:prstGeom prst="rect">
            <a:avLst/>
          </a:prstGeom>
          <a:noFill/>
        </p:spPr>
        <p:txBody>
          <a:bodyPr wrap="square">
            <a:spAutoFit/>
          </a:bodyPr>
          <a:lstStyle/>
          <a:p>
            <a:pPr algn="l"/>
            <a:r>
              <a:rPr sz="2200" b="1">
                <a:solidFill>
                  <a:srgbClr val="0066CC"/>
                </a:solidFill>
                <a:latin typeface="Arial"/>
              </a:rPr>
              <a:t>TRUTHY / FALSY EXAMPLE</a:t>
            </a:r>
          </a:p>
        </p:txBody>
      </p:sp>
      <p:sp>
        <p:nvSpPr>
          <p:cNvPr id="3" name="Rounded Rectangle 2"/>
          <p:cNvSpPr/>
          <p:nvPr/>
        </p:nvSpPr>
        <p:spPr>
          <a:xfrm>
            <a:off x="365760" y="822960"/>
            <a:ext cx="8412480" cy="2743200"/>
          </a:xfrm>
          <a:prstGeom prst="roundRect">
            <a:avLst>
              <a:gd name="adj" fmla="val 10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097280"/>
            <a:ext cx="7863840" cy="320040"/>
          </a:xfrm>
          <a:prstGeom prst="rect">
            <a:avLst/>
          </a:prstGeom>
          <a:noFill/>
        </p:spPr>
        <p:txBody>
          <a:bodyPr wrap="square">
            <a:spAutoFit/>
          </a:bodyPr>
          <a:lstStyle/>
          <a:p>
            <a:pPr algn="l"/>
            <a:r>
              <a:rPr sz="1600" b="0">
                <a:solidFill>
                  <a:srgbClr val="FFFFFF"/>
                </a:solidFill>
                <a:latin typeface="Consolas"/>
              </a:rPr>
              <a:t>let userName = "";</a:t>
            </a:r>
          </a:p>
        </p:txBody>
      </p:sp>
      <p:sp>
        <p:nvSpPr>
          <p:cNvPr id="5" name="TextBox 4"/>
          <p:cNvSpPr txBox="1"/>
          <p:nvPr/>
        </p:nvSpPr>
        <p:spPr>
          <a:xfrm>
            <a:off x="640080" y="1645920"/>
            <a:ext cx="7863840" cy="320040"/>
          </a:xfrm>
          <a:prstGeom prst="rect">
            <a:avLst/>
          </a:prstGeom>
          <a:noFill/>
        </p:spPr>
        <p:txBody>
          <a:bodyPr wrap="square">
            <a:spAutoFit/>
          </a:bodyPr>
          <a:lstStyle/>
          <a:p>
            <a:pPr algn="l"/>
            <a:r>
              <a:rPr sz="1600" b="0">
                <a:solidFill>
                  <a:srgbClr val="7DD3FC"/>
                </a:solidFill>
                <a:latin typeface="Consolas"/>
              </a:rPr>
              <a:t>if (userName) {</a:t>
            </a:r>
          </a:p>
        </p:txBody>
      </p:sp>
      <p:sp>
        <p:nvSpPr>
          <p:cNvPr id="6" name="TextBox 5"/>
          <p:cNvSpPr txBox="1"/>
          <p:nvPr/>
        </p:nvSpPr>
        <p:spPr>
          <a:xfrm>
            <a:off x="1005840" y="2148840"/>
            <a:ext cx="7498079" cy="320040"/>
          </a:xfrm>
          <a:prstGeom prst="rect">
            <a:avLst/>
          </a:prstGeom>
          <a:noFill/>
        </p:spPr>
        <p:txBody>
          <a:bodyPr wrap="square">
            <a:spAutoFit/>
          </a:bodyPr>
          <a:lstStyle/>
          <a:p>
            <a:pPr algn="l"/>
            <a:r>
              <a:rPr sz="1500" b="0">
                <a:solidFill>
                  <a:srgbClr val="FFFFFF"/>
                </a:solidFill>
                <a:latin typeface="Consolas"/>
              </a:rPr>
              <a:t>console.log("There is a name");</a:t>
            </a:r>
          </a:p>
        </p:txBody>
      </p:sp>
      <p:sp>
        <p:nvSpPr>
          <p:cNvPr id="7" name="TextBox 6"/>
          <p:cNvSpPr txBox="1"/>
          <p:nvPr/>
        </p:nvSpPr>
        <p:spPr>
          <a:xfrm>
            <a:off x="640080" y="2651760"/>
            <a:ext cx="7863840" cy="320040"/>
          </a:xfrm>
          <a:prstGeom prst="rect">
            <a:avLst/>
          </a:prstGeom>
          <a:noFill/>
        </p:spPr>
        <p:txBody>
          <a:bodyPr wrap="square">
            <a:spAutoFit/>
          </a:bodyPr>
          <a:lstStyle/>
          <a:p>
            <a:pPr algn="l"/>
            <a:r>
              <a:rPr sz="1600" b="0">
                <a:solidFill>
                  <a:srgbClr val="7DD3FC"/>
                </a:solidFill>
                <a:latin typeface="Consolas"/>
              </a:rPr>
              <a:t>} else {</a:t>
            </a:r>
          </a:p>
        </p:txBody>
      </p:sp>
      <p:sp>
        <p:nvSpPr>
          <p:cNvPr id="8" name="TextBox 7"/>
          <p:cNvSpPr txBox="1"/>
          <p:nvPr/>
        </p:nvSpPr>
        <p:spPr>
          <a:xfrm>
            <a:off x="1005840" y="3108960"/>
            <a:ext cx="7498079" cy="274320"/>
          </a:xfrm>
          <a:prstGeom prst="rect">
            <a:avLst/>
          </a:prstGeom>
          <a:noFill/>
        </p:spPr>
        <p:txBody>
          <a:bodyPr wrap="square">
            <a:spAutoFit/>
          </a:bodyPr>
          <a:lstStyle/>
          <a:p>
            <a:pPr algn="l"/>
            <a:r>
              <a:rPr sz="1500" b="0">
                <a:solidFill>
                  <a:srgbClr val="FFFFFF"/>
                </a:solidFill>
                <a:latin typeface="Consolas"/>
              </a:rPr>
              <a:t>console.log("The name is empty");</a:t>
            </a:r>
          </a:p>
        </p:txBody>
      </p:sp>
      <p:sp>
        <p:nvSpPr>
          <p:cNvPr id="9" name="Rounded Rectangle 8"/>
          <p:cNvSpPr/>
          <p:nvPr/>
        </p:nvSpPr>
        <p:spPr>
          <a:xfrm>
            <a:off x="457200" y="3840480"/>
            <a:ext cx="8229600" cy="822960"/>
          </a:xfrm>
          <a:prstGeom prst="roundRect">
            <a:avLst>
              <a:gd name="adj" fmla="val 10000"/>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4023360"/>
            <a:ext cx="7680960" cy="457200"/>
          </a:xfrm>
          <a:prstGeom prst="rect">
            <a:avLst/>
          </a:prstGeom>
          <a:noFill/>
        </p:spPr>
        <p:txBody>
          <a:bodyPr wrap="square">
            <a:spAutoFit/>
          </a:bodyPr>
          <a:lstStyle/>
          <a:p>
            <a:pPr algn="l"/>
            <a:r>
              <a:rPr sz="1400" b="0">
                <a:solidFill>
                  <a:srgbClr val="1E293B"/>
                </a:solidFill>
                <a:latin typeface="Arial"/>
              </a:rPr>
              <a:t>Because "" is an empty string, it is falsy → the else block runs.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320040"/>
          </a:xfrm>
          <a:prstGeom prst="rect">
            <a:avLst/>
          </a:prstGeom>
          <a:noFill/>
        </p:spPr>
        <p:txBody>
          <a:bodyPr wrap="square">
            <a:spAutoFit/>
          </a:bodyPr>
          <a:lstStyle/>
          <a:p>
            <a:pPr algn="l"/>
            <a:r>
              <a:rPr sz="1400" b="1">
                <a:solidFill>
                  <a:srgbClr val="0066CC"/>
                </a:solidFill>
                <a:latin typeface="Arial"/>
              </a:rPr>
              <a:t>TOPIC 9</a:t>
            </a:r>
          </a:p>
        </p:txBody>
      </p:sp>
      <p:sp>
        <p:nvSpPr>
          <p:cNvPr id="3" name="TextBox 2"/>
          <p:cNvSpPr txBox="1"/>
          <p:nvPr/>
        </p:nvSpPr>
        <p:spPr>
          <a:xfrm>
            <a:off x="457200" y="731520"/>
            <a:ext cx="8229600" cy="502920"/>
          </a:xfrm>
          <a:prstGeom prst="rect">
            <a:avLst/>
          </a:prstGeom>
          <a:noFill/>
        </p:spPr>
        <p:txBody>
          <a:bodyPr wrap="square">
            <a:spAutoFit/>
          </a:bodyPr>
          <a:lstStyle/>
          <a:p>
            <a:pPr algn="l"/>
            <a:r>
              <a:rPr sz="2800" b="1">
                <a:solidFill>
                  <a:srgbClr val="0066CC"/>
                </a:solidFill>
                <a:latin typeface="Arial"/>
              </a:rPr>
              <a:t>Ternary Operator</a:t>
            </a:r>
          </a:p>
        </p:txBody>
      </p:sp>
      <p:sp>
        <p:nvSpPr>
          <p:cNvPr id="4" name="Rounded Rectangle 3"/>
          <p:cNvSpPr/>
          <p:nvPr/>
        </p:nvSpPr>
        <p:spPr>
          <a:xfrm>
            <a:off x="457200" y="1463040"/>
            <a:ext cx="8229600" cy="1371600"/>
          </a:xfrm>
          <a:prstGeom prst="roundRect">
            <a:avLst>
              <a:gd name="adj" fmla="val 10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691640"/>
            <a:ext cx="7680960" cy="914400"/>
          </a:xfrm>
          <a:prstGeom prst="rect">
            <a:avLst/>
          </a:prstGeom>
          <a:noFill/>
        </p:spPr>
        <p:txBody>
          <a:bodyPr wrap="square">
            <a:spAutoFit/>
          </a:bodyPr>
          <a:lstStyle/>
          <a:p>
            <a:pPr algn="l"/>
            <a:r>
              <a:rPr sz="1400" b="0">
                <a:solidFill>
                  <a:srgbClr val="1E293B"/>
                </a:solidFill>
                <a:latin typeface="Arial"/>
              </a:rPr>
              <a:t>A shorter way to write a simple if / else decision.
It does NOT replace if / else in general — mainly recognize and read it.</a:t>
            </a:r>
          </a:p>
        </p:txBody>
      </p:sp>
      <p:sp>
        <p:nvSpPr>
          <p:cNvPr id="6" name="Rounded Rectangle 5"/>
          <p:cNvSpPr/>
          <p:nvPr/>
        </p:nvSpPr>
        <p:spPr>
          <a:xfrm>
            <a:off x="457200" y="3108960"/>
            <a:ext cx="8229600" cy="1463040"/>
          </a:xfrm>
          <a:prstGeom prst="roundRect">
            <a:avLst>
              <a:gd name="adj" fmla="val 10000"/>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3383280"/>
            <a:ext cx="7680960" cy="914400"/>
          </a:xfrm>
          <a:prstGeom prst="rect">
            <a:avLst/>
          </a:prstGeom>
          <a:noFill/>
        </p:spPr>
        <p:txBody>
          <a:bodyPr wrap="square">
            <a:spAutoFit/>
          </a:bodyPr>
          <a:lstStyle/>
          <a:p>
            <a:pPr algn="l"/>
            <a:r>
              <a:rPr sz="1500" b="0">
                <a:solidFill>
                  <a:srgbClr val="1E293B"/>
                </a:solidFill>
                <a:latin typeface="Arial"/>
              </a:rPr>
              <a:t>condition  ?  value if true  :  value if false
"The condition ? if true use this value : if false use the other value."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8229600" cy="320040"/>
          </a:xfrm>
          <a:prstGeom prst="rect">
            <a:avLst/>
          </a:prstGeom>
          <a:noFill/>
        </p:spPr>
        <p:txBody>
          <a:bodyPr wrap="square">
            <a:spAutoFit/>
          </a:bodyPr>
          <a:lstStyle/>
          <a:p>
            <a:pPr algn="l"/>
            <a:r>
              <a:rPr sz="2200" b="1">
                <a:solidFill>
                  <a:srgbClr val="0066CC"/>
                </a:solidFill>
                <a:latin typeface="Arial"/>
              </a:rPr>
              <a:t>TERNARY EXAMPLE</a:t>
            </a:r>
          </a:p>
        </p:txBody>
      </p:sp>
      <p:sp>
        <p:nvSpPr>
          <p:cNvPr id="3" name="Rounded Rectangle 2"/>
          <p:cNvSpPr/>
          <p:nvPr/>
        </p:nvSpPr>
        <p:spPr>
          <a:xfrm>
            <a:off x="365760" y="822960"/>
            <a:ext cx="8412480" cy="2286000"/>
          </a:xfrm>
          <a:prstGeom prst="roundRect">
            <a:avLst>
              <a:gd name="adj" fmla="val 10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097280"/>
            <a:ext cx="7863840" cy="320040"/>
          </a:xfrm>
          <a:prstGeom prst="rect">
            <a:avLst/>
          </a:prstGeom>
          <a:noFill/>
        </p:spPr>
        <p:txBody>
          <a:bodyPr wrap="square">
            <a:spAutoFit/>
          </a:bodyPr>
          <a:lstStyle/>
          <a:p>
            <a:pPr algn="l"/>
            <a:r>
              <a:rPr sz="1600" b="0">
                <a:solidFill>
                  <a:srgbClr val="FFFFFF"/>
                </a:solidFill>
                <a:latin typeface="Consolas"/>
              </a:rPr>
              <a:t>let age = 20;</a:t>
            </a:r>
          </a:p>
        </p:txBody>
      </p:sp>
      <p:sp>
        <p:nvSpPr>
          <p:cNvPr id="5" name="TextBox 4"/>
          <p:cNvSpPr txBox="1"/>
          <p:nvPr/>
        </p:nvSpPr>
        <p:spPr>
          <a:xfrm>
            <a:off x="640080" y="1645920"/>
            <a:ext cx="7863840" cy="320040"/>
          </a:xfrm>
          <a:prstGeom prst="rect">
            <a:avLst/>
          </a:prstGeom>
          <a:noFill/>
        </p:spPr>
        <p:txBody>
          <a:bodyPr wrap="square">
            <a:spAutoFit/>
          </a:bodyPr>
          <a:lstStyle/>
          <a:p>
            <a:pPr algn="l"/>
            <a:r>
              <a:rPr sz="1500" b="0">
                <a:solidFill>
                  <a:srgbClr val="FFFFFF"/>
                </a:solidFill>
                <a:latin typeface="Consolas"/>
              </a:rPr>
              <a:t>let result = age &gt;= 18 ? "Adult" : "Minor";</a:t>
            </a:r>
          </a:p>
        </p:txBody>
      </p:sp>
      <p:sp>
        <p:nvSpPr>
          <p:cNvPr id="6" name="TextBox 5"/>
          <p:cNvSpPr txBox="1"/>
          <p:nvPr/>
        </p:nvSpPr>
        <p:spPr>
          <a:xfrm>
            <a:off x="640080" y="2286000"/>
            <a:ext cx="7863840" cy="320040"/>
          </a:xfrm>
          <a:prstGeom prst="rect">
            <a:avLst/>
          </a:prstGeom>
          <a:noFill/>
        </p:spPr>
        <p:txBody>
          <a:bodyPr wrap="square">
            <a:spAutoFit/>
          </a:bodyPr>
          <a:lstStyle/>
          <a:p>
            <a:pPr algn="l"/>
            <a:r>
              <a:rPr sz="1500" b="0">
                <a:solidFill>
                  <a:srgbClr val="22C55E"/>
                </a:solidFill>
                <a:latin typeface="Consolas"/>
              </a:rPr>
              <a:t>console.log(result); // "Adult"</a:t>
            </a:r>
          </a:p>
        </p:txBody>
      </p:sp>
      <p:sp>
        <p:nvSpPr>
          <p:cNvPr id="7" name="Rounded Rectangle 6"/>
          <p:cNvSpPr/>
          <p:nvPr/>
        </p:nvSpPr>
        <p:spPr>
          <a:xfrm>
            <a:off x="457200" y="3383280"/>
            <a:ext cx="8229600" cy="1188720"/>
          </a:xfrm>
          <a:prstGeom prst="roundRect">
            <a:avLst>
              <a:gd name="adj" fmla="val 10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3657600"/>
            <a:ext cx="7680960" cy="640080"/>
          </a:xfrm>
          <a:prstGeom prst="rect">
            <a:avLst/>
          </a:prstGeom>
          <a:noFill/>
        </p:spPr>
        <p:txBody>
          <a:bodyPr wrap="square">
            <a:spAutoFit/>
          </a:bodyPr>
          <a:lstStyle/>
          <a:p>
            <a:pPr algn="l"/>
            <a:r>
              <a:rPr sz="1500" b="0">
                <a:solidFill>
                  <a:srgbClr val="1E293B"/>
                </a:solidFill>
                <a:latin typeface="Arial"/>
              </a:rPr>
              <a:t>age &gt;= 18  →  true  →  "Adult"
age &lt; 18   →  false →  "Minor"</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37160"/>
            <a:ext cx="8229600" cy="307777"/>
          </a:xfrm>
          <a:prstGeom prst="rect">
            <a:avLst/>
          </a:prstGeom>
          <a:noFill/>
        </p:spPr>
        <p:txBody>
          <a:bodyPr wrap="square">
            <a:spAutoFit/>
          </a:bodyPr>
          <a:lstStyle/>
          <a:p>
            <a:pPr algn="l"/>
            <a:r>
              <a:rPr sz="1400" b="1" dirty="0">
                <a:solidFill>
                  <a:srgbClr val="0066CC"/>
                </a:solidFill>
                <a:latin typeface="Arial"/>
              </a:rPr>
              <a:t>TASK 1</a:t>
            </a:r>
          </a:p>
        </p:txBody>
      </p:sp>
      <p:sp>
        <p:nvSpPr>
          <p:cNvPr id="3" name="TextBox 2"/>
          <p:cNvSpPr txBox="1"/>
          <p:nvPr/>
        </p:nvSpPr>
        <p:spPr>
          <a:xfrm>
            <a:off x="457200" y="457200"/>
            <a:ext cx="8229600" cy="365760"/>
          </a:xfrm>
          <a:prstGeom prst="rect">
            <a:avLst/>
          </a:prstGeom>
          <a:noFill/>
        </p:spPr>
        <p:txBody>
          <a:bodyPr wrap="square">
            <a:spAutoFit/>
          </a:bodyPr>
          <a:lstStyle/>
          <a:p>
            <a:pPr algn="l"/>
            <a:r>
              <a:rPr sz="2400" b="1">
                <a:solidFill>
                  <a:srgbClr val="0066CC"/>
                </a:solidFill>
                <a:latin typeface="Arial"/>
              </a:rPr>
              <a:t>Student Access System</a:t>
            </a:r>
          </a:p>
        </p:txBody>
      </p:sp>
      <p:sp>
        <p:nvSpPr>
          <p:cNvPr id="4" name="Rounded Rectangle 3"/>
          <p:cNvSpPr/>
          <p:nvPr/>
        </p:nvSpPr>
        <p:spPr>
          <a:xfrm>
            <a:off x="365760" y="960120"/>
            <a:ext cx="8412480" cy="3657600"/>
          </a:xfrm>
          <a:prstGeom prst="roundRect">
            <a:avLst>
              <a:gd name="adj" fmla="val 10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097280"/>
            <a:ext cx="8046720" cy="274320"/>
          </a:xfrm>
          <a:prstGeom prst="rect">
            <a:avLst/>
          </a:prstGeom>
          <a:noFill/>
        </p:spPr>
        <p:txBody>
          <a:bodyPr wrap="square">
            <a:spAutoFit/>
          </a:bodyPr>
          <a:lstStyle/>
          <a:p>
            <a:pPr algn="l"/>
            <a:r>
              <a:rPr sz="1200" b="0">
                <a:solidFill>
                  <a:srgbClr val="1E293B"/>
                </a:solidFill>
                <a:latin typeface="Arial"/>
              </a:rPr>
              <a:t>Create a simple program to check if a student can access an online course.</a:t>
            </a:r>
          </a:p>
        </p:txBody>
      </p:sp>
      <p:sp>
        <p:nvSpPr>
          <p:cNvPr id="6" name="TextBox 5"/>
          <p:cNvSpPr txBox="1"/>
          <p:nvPr/>
        </p:nvSpPr>
        <p:spPr>
          <a:xfrm>
            <a:off x="548640" y="1463040"/>
            <a:ext cx="8046720" cy="274320"/>
          </a:xfrm>
          <a:prstGeom prst="rect">
            <a:avLst/>
          </a:prstGeom>
          <a:noFill/>
        </p:spPr>
        <p:txBody>
          <a:bodyPr wrap="square">
            <a:spAutoFit/>
          </a:bodyPr>
          <a:lstStyle/>
          <a:p>
            <a:pPr algn="l"/>
            <a:r>
              <a:rPr sz="1200" b="0">
                <a:solidFill>
                  <a:srgbClr val="1E293B"/>
                </a:solidFill>
                <a:latin typeface="Arial"/>
              </a:rPr>
              <a:t>1. Create a studentName variable.</a:t>
            </a:r>
          </a:p>
        </p:txBody>
      </p:sp>
      <p:sp>
        <p:nvSpPr>
          <p:cNvPr id="7" name="TextBox 6"/>
          <p:cNvSpPr txBox="1"/>
          <p:nvPr/>
        </p:nvSpPr>
        <p:spPr>
          <a:xfrm>
            <a:off x="548640" y="1755648"/>
            <a:ext cx="8046720" cy="274320"/>
          </a:xfrm>
          <a:prstGeom prst="rect">
            <a:avLst/>
          </a:prstGeom>
          <a:noFill/>
        </p:spPr>
        <p:txBody>
          <a:bodyPr wrap="square">
            <a:spAutoFit/>
          </a:bodyPr>
          <a:lstStyle/>
          <a:p>
            <a:pPr algn="l"/>
            <a:r>
              <a:rPr sz="1200" b="0">
                <a:solidFill>
                  <a:srgbClr val="1E293B"/>
                </a:solidFill>
                <a:latin typeface="Arial"/>
              </a:rPr>
              <a:t>2. Create an age variable.</a:t>
            </a:r>
          </a:p>
        </p:txBody>
      </p:sp>
      <p:sp>
        <p:nvSpPr>
          <p:cNvPr id="8" name="TextBox 7"/>
          <p:cNvSpPr txBox="1"/>
          <p:nvPr/>
        </p:nvSpPr>
        <p:spPr>
          <a:xfrm>
            <a:off x="548640" y="2048256"/>
            <a:ext cx="8046720" cy="274320"/>
          </a:xfrm>
          <a:prstGeom prst="rect">
            <a:avLst/>
          </a:prstGeom>
          <a:noFill/>
        </p:spPr>
        <p:txBody>
          <a:bodyPr wrap="square">
            <a:spAutoFit/>
          </a:bodyPr>
          <a:lstStyle/>
          <a:p>
            <a:pPr algn="l"/>
            <a:r>
              <a:rPr sz="1200" b="0">
                <a:solidFill>
                  <a:srgbClr val="1E293B"/>
                </a:solidFill>
                <a:latin typeface="Arial"/>
              </a:rPr>
              <a:t>3. Create a hasAccount variable and set it to true or false.</a:t>
            </a:r>
          </a:p>
        </p:txBody>
      </p:sp>
      <p:sp>
        <p:nvSpPr>
          <p:cNvPr id="9" name="TextBox 8"/>
          <p:cNvSpPr txBox="1"/>
          <p:nvPr/>
        </p:nvSpPr>
        <p:spPr>
          <a:xfrm>
            <a:off x="548640" y="2340864"/>
            <a:ext cx="8046720" cy="274320"/>
          </a:xfrm>
          <a:prstGeom prst="rect">
            <a:avLst/>
          </a:prstGeom>
          <a:noFill/>
        </p:spPr>
        <p:txBody>
          <a:bodyPr wrap="square">
            <a:spAutoFit/>
          </a:bodyPr>
          <a:lstStyle/>
          <a:p>
            <a:pPr algn="l"/>
            <a:r>
              <a:rPr sz="1200" b="0">
                <a:solidFill>
                  <a:srgbClr val="1E293B"/>
                </a:solidFill>
                <a:latin typeface="Arial"/>
              </a:rPr>
              <a:t>4. Create a coursePrice variable.</a:t>
            </a:r>
          </a:p>
        </p:txBody>
      </p:sp>
      <p:sp>
        <p:nvSpPr>
          <p:cNvPr id="10" name="TextBox 9"/>
          <p:cNvSpPr txBox="1"/>
          <p:nvPr/>
        </p:nvSpPr>
        <p:spPr>
          <a:xfrm>
            <a:off x="548640" y="2633472"/>
            <a:ext cx="8046720" cy="274320"/>
          </a:xfrm>
          <a:prstGeom prst="rect">
            <a:avLst/>
          </a:prstGeom>
          <a:noFill/>
        </p:spPr>
        <p:txBody>
          <a:bodyPr wrap="square">
            <a:spAutoFit/>
          </a:bodyPr>
          <a:lstStyle/>
          <a:p>
            <a:pPr algn="l"/>
            <a:r>
              <a:rPr sz="1200" b="0">
                <a:solidFill>
                  <a:srgbClr val="1E293B"/>
                </a:solidFill>
                <a:latin typeface="Arial"/>
              </a:rPr>
              <a:t>5. Create a paidAmount variable.</a:t>
            </a:r>
          </a:p>
        </p:txBody>
      </p:sp>
      <p:sp>
        <p:nvSpPr>
          <p:cNvPr id="11" name="TextBox 10"/>
          <p:cNvSpPr txBox="1"/>
          <p:nvPr/>
        </p:nvSpPr>
        <p:spPr>
          <a:xfrm>
            <a:off x="548640" y="2926080"/>
            <a:ext cx="8046720" cy="274320"/>
          </a:xfrm>
          <a:prstGeom prst="rect">
            <a:avLst/>
          </a:prstGeom>
          <a:noFill/>
        </p:spPr>
        <p:txBody>
          <a:bodyPr wrap="square">
            <a:spAutoFit/>
          </a:bodyPr>
          <a:lstStyle/>
          <a:p>
            <a:pPr algn="l"/>
            <a:r>
              <a:rPr sz="1200" b="0">
                <a:solidFill>
                  <a:srgbClr val="1E293B"/>
                </a:solidFill>
                <a:latin typeface="Arial"/>
              </a:rPr>
              <a:t>6. Check if paidAmount is exactly equal to coursePrice using ===.</a:t>
            </a:r>
          </a:p>
        </p:txBody>
      </p:sp>
      <p:sp>
        <p:nvSpPr>
          <p:cNvPr id="12" name="TextBox 11"/>
          <p:cNvSpPr txBox="1"/>
          <p:nvPr/>
        </p:nvSpPr>
        <p:spPr>
          <a:xfrm>
            <a:off x="548640" y="3218688"/>
            <a:ext cx="8046720" cy="274320"/>
          </a:xfrm>
          <a:prstGeom prst="rect">
            <a:avLst/>
          </a:prstGeom>
          <a:noFill/>
        </p:spPr>
        <p:txBody>
          <a:bodyPr wrap="square">
            <a:spAutoFit/>
          </a:bodyPr>
          <a:lstStyle/>
          <a:p>
            <a:pPr algn="l"/>
            <a:r>
              <a:rPr sz="1200" b="0">
                <a:solidFill>
                  <a:srgbClr val="1E293B"/>
                </a:solidFill>
                <a:latin typeface="Arial"/>
              </a:rPr>
              <a:t>7. Access if: age &gt;= 18 AND hasAccount AND paid full price.</a:t>
            </a:r>
          </a:p>
        </p:txBody>
      </p:sp>
      <p:sp>
        <p:nvSpPr>
          <p:cNvPr id="13" name="TextBox 12"/>
          <p:cNvSpPr txBox="1"/>
          <p:nvPr/>
        </p:nvSpPr>
        <p:spPr>
          <a:xfrm>
            <a:off x="548640" y="3511296"/>
            <a:ext cx="8046720" cy="274320"/>
          </a:xfrm>
          <a:prstGeom prst="rect">
            <a:avLst/>
          </a:prstGeom>
          <a:noFill/>
        </p:spPr>
        <p:txBody>
          <a:bodyPr wrap="square">
            <a:spAutoFit/>
          </a:bodyPr>
          <a:lstStyle/>
          <a:p>
            <a:pPr algn="l"/>
            <a:r>
              <a:rPr sz="1200" b="0">
                <a:solidFill>
                  <a:srgbClr val="1E293B"/>
                </a:solidFill>
                <a:latin typeface="Arial"/>
              </a:rPr>
              <a:t>8. Print "Access Granted" if all conditions are true.</a:t>
            </a:r>
          </a:p>
        </p:txBody>
      </p:sp>
      <p:sp>
        <p:nvSpPr>
          <p:cNvPr id="14" name="TextBox 13"/>
          <p:cNvSpPr txBox="1"/>
          <p:nvPr/>
        </p:nvSpPr>
        <p:spPr>
          <a:xfrm>
            <a:off x="548640" y="3803904"/>
            <a:ext cx="8046720" cy="274320"/>
          </a:xfrm>
          <a:prstGeom prst="rect">
            <a:avLst/>
          </a:prstGeom>
          <a:noFill/>
        </p:spPr>
        <p:txBody>
          <a:bodyPr wrap="square">
            <a:spAutoFit/>
          </a:bodyPr>
          <a:lstStyle/>
          <a:p>
            <a:pPr algn="l"/>
            <a:r>
              <a:rPr sz="1200" b="0">
                <a:solidFill>
                  <a:srgbClr val="1E293B"/>
                </a:solidFill>
                <a:latin typeface="Arial"/>
              </a:rPr>
              <a:t>9. Otherwise, print "Access Denied".</a:t>
            </a:r>
          </a:p>
        </p:txBody>
      </p:sp>
      <p:sp>
        <p:nvSpPr>
          <p:cNvPr id="15" name="TextBox 14"/>
          <p:cNvSpPr txBox="1"/>
          <p:nvPr/>
        </p:nvSpPr>
        <p:spPr>
          <a:xfrm>
            <a:off x="548640" y="4096512"/>
            <a:ext cx="8046720" cy="274320"/>
          </a:xfrm>
          <a:prstGeom prst="rect">
            <a:avLst/>
          </a:prstGeom>
          <a:noFill/>
        </p:spPr>
        <p:txBody>
          <a:bodyPr wrap="square">
            <a:spAutoFit/>
          </a:bodyPr>
          <a:lstStyle/>
          <a:p>
            <a:pPr algn="l"/>
            <a:r>
              <a:rPr sz="1200" b="0">
                <a:solidFill>
                  <a:srgbClr val="1E293B"/>
                </a:solidFill>
                <a:latin typeface="Arial"/>
              </a:rPr>
              <a:t>10. Use a Ternary Operator to print "Adult" or "Minor".</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37160"/>
            <a:ext cx="8229600" cy="274320"/>
          </a:xfrm>
          <a:prstGeom prst="rect">
            <a:avLst/>
          </a:prstGeom>
          <a:noFill/>
        </p:spPr>
        <p:txBody>
          <a:bodyPr wrap="square">
            <a:spAutoFit/>
          </a:bodyPr>
          <a:lstStyle/>
          <a:p>
            <a:pPr algn="l"/>
            <a:r>
              <a:rPr sz="1600" b="1">
                <a:solidFill>
                  <a:srgbClr val="0066CC"/>
                </a:solidFill>
                <a:latin typeface="Arial"/>
              </a:rPr>
              <a:t>TASK 1 — REFERENCE SOLUTION</a:t>
            </a:r>
          </a:p>
        </p:txBody>
      </p:sp>
      <p:sp>
        <p:nvSpPr>
          <p:cNvPr id="3" name="Rounded Rectangle 2"/>
          <p:cNvSpPr/>
          <p:nvPr/>
        </p:nvSpPr>
        <p:spPr>
          <a:xfrm>
            <a:off x="274320" y="502920"/>
            <a:ext cx="8595360" cy="4114800"/>
          </a:xfrm>
          <a:prstGeom prst="roundRect">
            <a:avLst>
              <a:gd name="adj" fmla="val 10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640080"/>
            <a:ext cx="8229600" cy="201168"/>
          </a:xfrm>
          <a:prstGeom prst="rect">
            <a:avLst/>
          </a:prstGeom>
          <a:noFill/>
        </p:spPr>
        <p:txBody>
          <a:bodyPr wrap="square">
            <a:spAutoFit/>
          </a:bodyPr>
          <a:lstStyle/>
          <a:p>
            <a:pPr algn="l"/>
            <a:r>
              <a:rPr sz="1300" b="0">
                <a:solidFill>
                  <a:srgbClr val="FFFFFF"/>
                </a:solidFill>
                <a:latin typeface="Consolas"/>
              </a:rPr>
              <a:t>let studentName = "Ahmed";</a:t>
            </a:r>
          </a:p>
        </p:txBody>
      </p:sp>
      <p:sp>
        <p:nvSpPr>
          <p:cNvPr id="5" name="TextBox 4"/>
          <p:cNvSpPr txBox="1"/>
          <p:nvPr/>
        </p:nvSpPr>
        <p:spPr>
          <a:xfrm>
            <a:off x="457200" y="850392"/>
            <a:ext cx="8229600" cy="201168"/>
          </a:xfrm>
          <a:prstGeom prst="rect">
            <a:avLst/>
          </a:prstGeom>
          <a:noFill/>
        </p:spPr>
        <p:txBody>
          <a:bodyPr wrap="square">
            <a:spAutoFit/>
          </a:bodyPr>
          <a:lstStyle/>
          <a:p>
            <a:pPr algn="l"/>
            <a:r>
              <a:rPr sz="1300" b="0">
                <a:solidFill>
                  <a:srgbClr val="FFFFFF"/>
                </a:solidFill>
                <a:latin typeface="Consolas"/>
              </a:rPr>
              <a:t>let age = 20;</a:t>
            </a:r>
          </a:p>
        </p:txBody>
      </p:sp>
      <p:sp>
        <p:nvSpPr>
          <p:cNvPr id="6" name="TextBox 5"/>
          <p:cNvSpPr txBox="1"/>
          <p:nvPr/>
        </p:nvSpPr>
        <p:spPr>
          <a:xfrm>
            <a:off x="457200" y="1060704"/>
            <a:ext cx="8229600" cy="201168"/>
          </a:xfrm>
          <a:prstGeom prst="rect">
            <a:avLst/>
          </a:prstGeom>
          <a:noFill/>
        </p:spPr>
        <p:txBody>
          <a:bodyPr wrap="square">
            <a:spAutoFit/>
          </a:bodyPr>
          <a:lstStyle/>
          <a:p>
            <a:pPr algn="l"/>
            <a:r>
              <a:rPr sz="1300" b="0">
                <a:solidFill>
                  <a:srgbClr val="FFFFFF"/>
                </a:solidFill>
                <a:latin typeface="Consolas"/>
              </a:rPr>
              <a:t>let hasAccount = true;</a:t>
            </a:r>
          </a:p>
        </p:txBody>
      </p:sp>
      <p:sp>
        <p:nvSpPr>
          <p:cNvPr id="7" name="TextBox 6"/>
          <p:cNvSpPr txBox="1"/>
          <p:nvPr/>
        </p:nvSpPr>
        <p:spPr>
          <a:xfrm>
            <a:off x="457200" y="1481328"/>
            <a:ext cx="8229600" cy="201168"/>
          </a:xfrm>
          <a:prstGeom prst="rect">
            <a:avLst/>
          </a:prstGeom>
          <a:noFill/>
        </p:spPr>
        <p:txBody>
          <a:bodyPr wrap="square">
            <a:spAutoFit/>
          </a:bodyPr>
          <a:lstStyle/>
          <a:p>
            <a:pPr algn="l"/>
            <a:r>
              <a:rPr sz="1300" b="0">
                <a:solidFill>
                  <a:srgbClr val="FFFFFF"/>
                </a:solidFill>
                <a:latin typeface="Consolas"/>
              </a:rPr>
              <a:t>let coursePrice = 1000;</a:t>
            </a:r>
          </a:p>
        </p:txBody>
      </p:sp>
      <p:sp>
        <p:nvSpPr>
          <p:cNvPr id="8" name="TextBox 7"/>
          <p:cNvSpPr txBox="1"/>
          <p:nvPr/>
        </p:nvSpPr>
        <p:spPr>
          <a:xfrm>
            <a:off x="457200" y="1691640"/>
            <a:ext cx="8229600" cy="201168"/>
          </a:xfrm>
          <a:prstGeom prst="rect">
            <a:avLst/>
          </a:prstGeom>
          <a:noFill/>
        </p:spPr>
        <p:txBody>
          <a:bodyPr wrap="square">
            <a:spAutoFit/>
          </a:bodyPr>
          <a:lstStyle/>
          <a:p>
            <a:pPr algn="l"/>
            <a:r>
              <a:rPr sz="1300" b="0">
                <a:solidFill>
                  <a:srgbClr val="FFFFFF"/>
                </a:solidFill>
                <a:latin typeface="Consolas"/>
              </a:rPr>
              <a:t>let paidAmount = 1000;</a:t>
            </a:r>
          </a:p>
        </p:txBody>
      </p:sp>
      <p:sp>
        <p:nvSpPr>
          <p:cNvPr id="9" name="TextBox 8"/>
          <p:cNvSpPr txBox="1"/>
          <p:nvPr/>
        </p:nvSpPr>
        <p:spPr>
          <a:xfrm>
            <a:off x="457200" y="2112264"/>
            <a:ext cx="8229600" cy="201168"/>
          </a:xfrm>
          <a:prstGeom prst="rect">
            <a:avLst/>
          </a:prstGeom>
          <a:noFill/>
        </p:spPr>
        <p:txBody>
          <a:bodyPr wrap="square">
            <a:spAutoFit/>
          </a:bodyPr>
          <a:lstStyle/>
          <a:p>
            <a:pPr algn="l"/>
            <a:r>
              <a:rPr sz="1300" b="0">
                <a:solidFill>
                  <a:srgbClr val="7DD3FC"/>
                </a:solidFill>
                <a:latin typeface="Consolas"/>
              </a:rPr>
              <a:t>let isPaid = paidAmount === coursePrice;</a:t>
            </a:r>
          </a:p>
        </p:txBody>
      </p:sp>
      <p:sp>
        <p:nvSpPr>
          <p:cNvPr id="10" name="TextBox 9"/>
          <p:cNvSpPr txBox="1"/>
          <p:nvPr/>
        </p:nvSpPr>
        <p:spPr>
          <a:xfrm>
            <a:off x="457200" y="2532888"/>
            <a:ext cx="8229600" cy="201168"/>
          </a:xfrm>
          <a:prstGeom prst="rect">
            <a:avLst/>
          </a:prstGeom>
          <a:noFill/>
        </p:spPr>
        <p:txBody>
          <a:bodyPr wrap="square">
            <a:spAutoFit/>
          </a:bodyPr>
          <a:lstStyle/>
          <a:p>
            <a:pPr algn="l"/>
            <a:r>
              <a:rPr sz="1300" b="0">
                <a:solidFill>
                  <a:srgbClr val="7DD3FC"/>
                </a:solidFill>
                <a:latin typeface="Consolas"/>
              </a:rPr>
              <a:t>if (age &gt;= 18 &amp;&amp; hasAccount &amp;&amp; isPaid) {</a:t>
            </a:r>
          </a:p>
        </p:txBody>
      </p:sp>
      <p:sp>
        <p:nvSpPr>
          <p:cNvPr id="11" name="TextBox 10"/>
          <p:cNvSpPr txBox="1"/>
          <p:nvPr/>
        </p:nvSpPr>
        <p:spPr>
          <a:xfrm>
            <a:off x="457200" y="2743200"/>
            <a:ext cx="8229600" cy="201168"/>
          </a:xfrm>
          <a:prstGeom prst="rect">
            <a:avLst/>
          </a:prstGeom>
          <a:noFill/>
        </p:spPr>
        <p:txBody>
          <a:bodyPr wrap="square">
            <a:spAutoFit/>
          </a:bodyPr>
          <a:lstStyle/>
          <a:p>
            <a:pPr algn="l"/>
            <a:r>
              <a:rPr sz="1300" b="0">
                <a:solidFill>
                  <a:srgbClr val="22C55E"/>
                </a:solidFill>
                <a:latin typeface="Consolas"/>
              </a:rPr>
              <a:t>    console.log("Access Granted");</a:t>
            </a:r>
          </a:p>
        </p:txBody>
      </p:sp>
      <p:sp>
        <p:nvSpPr>
          <p:cNvPr id="12" name="TextBox 11"/>
          <p:cNvSpPr txBox="1"/>
          <p:nvPr/>
        </p:nvSpPr>
        <p:spPr>
          <a:xfrm>
            <a:off x="457200" y="2953512"/>
            <a:ext cx="8229600" cy="201168"/>
          </a:xfrm>
          <a:prstGeom prst="rect">
            <a:avLst/>
          </a:prstGeom>
          <a:noFill/>
        </p:spPr>
        <p:txBody>
          <a:bodyPr wrap="square">
            <a:spAutoFit/>
          </a:bodyPr>
          <a:lstStyle/>
          <a:p>
            <a:pPr algn="l"/>
            <a:r>
              <a:rPr sz="1300" b="0">
                <a:solidFill>
                  <a:srgbClr val="7DD3FC"/>
                </a:solidFill>
                <a:latin typeface="Consolas"/>
              </a:rPr>
              <a:t>} else {</a:t>
            </a:r>
          </a:p>
        </p:txBody>
      </p:sp>
      <p:sp>
        <p:nvSpPr>
          <p:cNvPr id="13" name="TextBox 12"/>
          <p:cNvSpPr txBox="1"/>
          <p:nvPr/>
        </p:nvSpPr>
        <p:spPr>
          <a:xfrm>
            <a:off x="457200" y="3163824"/>
            <a:ext cx="8229600" cy="201168"/>
          </a:xfrm>
          <a:prstGeom prst="rect">
            <a:avLst/>
          </a:prstGeom>
          <a:noFill/>
        </p:spPr>
        <p:txBody>
          <a:bodyPr wrap="square">
            <a:spAutoFit/>
          </a:bodyPr>
          <a:lstStyle/>
          <a:p>
            <a:pPr algn="l"/>
            <a:r>
              <a:rPr sz="1300" b="0">
                <a:solidFill>
                  <a:srgbClr val="22C55E"/>
                </a:solidFill>
                <a:latin typeface="Consolas"/>
              </a:rPr>
              <a:t>    console.log("Access Denied");</a:t>
            </a:r>
          </a:p>
        </p:txBody>
      </p:sp>
      <p:sp>
        <p:nvSpPr>
          <p:cNvPr id="14" name="TextBox 13"/>
          <p:cNvSpPr txBox="1"/>
          <p:nvPr/>
        </p:nvSpPr>
        <p:spPr>
          <a:xfrm>
            <a:off x="457200" y="3374136"/>
            <a:ext cx="8229600" cy="201168"/>
          </a:xfrm>
          <a:prstGeom prst="rect">
            <a:avLst/>
          </a:prstGeom>
          <a:noFill/>
        </p:spPr>
        <p:txBody>
          <a:bodyPr wrap="square">
            <a:spAutoFit/>
          </a:bodyPr>
          <a:lstStyle/>
          <a:p>
            <a:pPr algn="l"/>
            <a:r>
              <a:rPr sz="1300" b="0">
                <a:solidFill>
                  <a:srgbClr val="7DD3FC"/>
                </a:solidFill>
                <a:latin typeface="Consolas"/>
              </a:rPr>
              <a:t>}</a:t>
            </a:r>
          </a:p>
        </p:txBody>
      </p:sp>
      <p:sp>
        <p:nvSpPr>
          <p:cNvPr id="15" name="TextBox 14"/>
          <p:cNvSpPr txBox="1"/>
          <p:nvPr/>
        </p:nvSpPr>
        <p:spPr>
          <a:xfrm>
            <a:off x="457200" y="3794760"/>
            <a:ext cx="8229600" cy="201168"/>
          </a:xfrm>
          <a:prstGeom prst="rect">
            <a:avLst/>
          </a:prstGeom>
          <a:noFill/>
        </p:spPr>
        <p:txBody>
          <a:bodyPr wrap="square">
            <a:spAutoFit/>
          </a:bodyPr>
          <a:lstStyle/>
          <a:p>
            <a:pPr algn="l"/>
            <a:r>
              <a:rPr sz="1300" b="0">
                <a:solidFill>
                  <a:srgbClr val="FFFFFF"/>
                </a:solidFill>
                <a:latin typeface="Consolas"/>
              </a:rPr>
              <a:t>let ageStatus = age &gt;= 18 ? "Adult" : "Minor";</a:t>
            </a:r>
          </a:p>
        </p:txBody>
      </p:sp>
      <p:sp>
        <p:nvSpPr>
          <p:cNvPr id="16" name="TextBox 15"/>
          <p:cNvSpPr txBox="1"/>
          <p:nvPr/>
        </p:nvSpPr>
        <p:spPr>
          <a:xfrm>
            <a:off x="457200" y="4005072"/>
            <a:ext cx="8229600" cy="201168"/>
          </a:xfrm>
          <a:prstGeom prst="rect">
            <a:avLst/>
          </a:prstGeom>
          <a:noFill/>
        </p:spPr>
        <p:txBody>
          <a:bodyPr wrap="square">
            <a:spAutoFit/>
          </a:bodyPr>
          <a:lstStyle/>
          <a:p>
            <a:pPr algn="l"/>
            <a:r>
              <a:rPr sz="1300" b="0">
                <a:solidFill>
                  <a:srgbClr val="FFFFFF"/>
                </a:solidFill>
                <a:latin typeface="Consolas"/>
              </a:rPr>
              <a:t>console.log(studentName);</a:t>
            </a:r>
          </a:p>
        </p:txBody>
      </p:sp>
      <p:sp>
        <p:nvSpPr>
          <p:cNvPr id="17" name="TextBox 16"/>
          <p:cNvSpPr txBox="1"/>
          <p:nvPr/>
        </p:nvSpPr>
        <p:spPr>
          <a:xfrm>
            <a:off x="457200" y="4215384"/>
            <a:ext cx="8229600" cy="201168"/>
          </a:xfrm>
          <a:prstGeom prst="rect">
            <a:avLst/>
          </a:prstGeom>
          <a:noFill/>
        </p:spPr>
        <p:txBody>
          <a:bodyPr wrap="square">
            <a:spAutoFit/>
          </a:bodyPr>
          <a:lstStyle/>
          <a:p>
            <a:pPr algn="l"/>
            <a:r>
              <a:rPr sz="1300" b="0">
                <a:solidFill>
                  <a:srgbClr val="FFFFFF"/>
                </a:solidFill>
                <a:latin typeface="Consolas"/>
              </a:rPr>
              <a:t>console.log(ageStatus);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91440"/>
            <a:ext cx="8229600" cy="307777"/>
          </a:xfrm>
          <a:prstGeom prst="rect">
            <a:avLst/>
          </a:prstGeom>
          <a:noFill/>
        </p:spPr>
        <p:txBody>
          <a:bodyPr wrap="square">
            <a:spAutoFit/>
          </a:bodyPr>
          <a:lstStyle/>
          <a:p>
            <a:pPr algn="l"/>
            <a:r>
              <a:rPr sz="1400" b="1" dirty="0">
                <a:solidFill>
                  <a:srgbClr val="0066CC"/>
                </a:solidFill>
                <a:latin typeface="Arial"/>
              </a:rPr>
              <a:t>TASK 2</a:t>
            </a:r>
          </a:p>
        </p:txBody>
      </p:sp>
      <p:sp>
        <p:nvSpPr>
          <p:cNvPr id="3" name="TextBox 2"/>
          <p:cNvSpPr txBox="1"/>
          <p:nvPr/>
        </p:nvSpPr>
        <p:spPr>
          <a:xfrm>
            <a:off x="457200" y="365760"/>
            <a:ext cx="8229600" cy="320040"/>
          </a:xfrm>
          <a:prstGeom prst="rect">
            <a:avLst/>
          </a:prstGeom>
          <a:noFill/>
        </p:spPr>
        <p:txBody>
          <a:bodyPr wrap="square">
            <a:spAutoFit/>
          </a:bodyPr>
          <a:lstStyle/>
          <a:p>
            <a:pPr algn="l"/>
            <a:r>
              <a:rPr sz="2200" b="1">
                <a:solidFill>
                  <a:srgbClr val="0066CC"/>
                </a:solidFill>
                <a:latin typeface="Arial"/>
              </a:rPr>
              <a:t>Shopping Discount System</a:t>
            </a:r>
          </a:p>
        </p:txBody>
      </p:sp>
      <p:sp>
        <p:nvSpPr>
          <p:cNvPr id="4" name="Rounded Rectangle 3"/>
          <p:cNvSpPr/>
          <p:nvPr/>
        </p:nvSpPr>
        <p:spPr>
          <a:xfrm>
            <a:off x="365760" y="822960"/>
            <a:ext cx="8412480" cy="3840480"/>
          </a:xfrm>
          <a:prstGeom prst="roundRect">
            <a:avLst>
              <a:gd name="adj" fmla="val 10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960120"/>
            <a:ext cx="8046720" cy="228600"/>
          </a:xfrm>
          <a:prstGeom prst="rect">
            <a:avLst/>
          </a:prstGeom>
          <a:noFill/>
        </p:spPr>
        <p:txBody>
          <a:bodyPr wrap="square">
            <a:spAutoFit/>
          </a:bodyPr>
          <a:lstStyle/>
          <a:p>
            <a:pPr algn="l"/>
            <a:r>
              <a:rPr sz="1200" b="0">
                <a:solidFill>
                  <a:srgbClr val="1E293B"/>
                </a:solidFill>
                <a:latin typeface="Arial"/>
              </a:rPr>
              <a:t>Create a simple program for a shopping discount system.</a:t>
            </a:r>
          </a:p>
        </p:txBody>
      </p:sp>
      <p:sp>
        <p:nvSpPr>
          <p:cNvPr id="6" name="TextBox 5"/>
          <p:cNvSpPr txBox="1"/>
          <p:nvPr/>
        </p:nvSpPr>
        <p:spPr>
          <a:xfrm>
            <a:off x="548640" y="1280160"/>
            <a:ext cx="8046720" cy="228600"/>
          </a:xfrm>
          <a:prstGeom prst="rect">
            <a:avLst/>
          </a:prstGeom>
          <a:noFill/>
        </p:spPr>
        <p:txBody>
          <a:bodyPr wrap="square">
            <a:spAutoFit/>
          </a:bodyPr>
          <a:lstStyle/>
          <a:p>
            <a:pPr algn="l"/>
            <a:r>
              <a:rPr sz="1100" b="0">
                <a:solidFill>
                  <a:srgbClr val="1E293B"/>
                </a:solidFill>
                <a:latin typeface="Arial"/>
              </a:rPr>
              <a:t>1. Create a customerName variable.</a:t>
            </a:r>
          </a:p>
        </p:txBody>
      </p:sp>
      <p:sp>
        <p:nvSpPr>
          <p:cNvPr id="7" name="TextBox 6"/>
          <p:cNvSpPr txBox="1"/>
          <p:nvPr/>
        </p:nvSpPr>
        <p:spPr>
          <a:xfrm>
            <a:off x="548640" y="1527048"/>
            <a:ext cx="8046720" cy="228600"/>
          </a:xfrm>
          <a:prstGeom prst="rect">
            <a:avLst/>
          </a:prstGeom>
          <a:noFill/>
        </p:spPr>
        <p:txBody>
          <a:bodyPr wrap="square">
            <a:spAutoFit/>
          </a:bodyPr>
          <a:lstStyle/>
          <a:p>
            <a:pPr algn="l"/>
            <a:r>
              <a:rPr sz="1100" b="0">
                <a:solidFill>
                  <a:srgbClr val="1E293B"/>
                </a:solidFill>
                <a:latin typeface="Arial"/>
              </a:rPr>
              <a:t>2. Create an age variable.</a:t>
            </a:r>
          </a:p>
        </p:txBody>
      </p:sp>
      <p:sp>
        <p:nvSpPr>
          <p:cNvPr id="8" name="TextBox 7"/>
          <p:cNvSpPr txBox="1"/>
          <p:nvPr/>
        </p:nvSpPr>
        <p:spPr>
          <a:xfrm>
            <a:off x="548640" y="1773936"/>
            <a:ext cx="8046720" cy="228600"/>
          </a:xfrm>
          <a:prstGeom prst="rect">
            <a:avLst/>
          </a:prstGeom>
          <a:noFill/>
        </p:spPr>
        <p:txBody>
          <a:bodyPr wrap="square">
            <a:spAutoFit/>
          </a:bodyPr>
          <a:lstStyle/>
          <a:p>
            <a:pPr algn="l"/>
            <a:r>
              <a:rPr sz="1100" b="0">
                <a:solidFill>
                  <a:srgbClr val="1E293B"/>
                </a:solidFill>
                <a:latin typeface="Arial"/>
              </a:rPr>
              <a:t>3. Create a totalPrice variable.</a:t>
            </a:r>
          </a:p>
        </p:txBody>
      </p:sp>
      <p:sp>
        <p:nvSpPr>
          <p:cNvPr id="9" name="TextBox 8"/>
          <p:cNvSpPr txBox="1"/>
          <p:nvPr/>
        </p:nvSpPr>
        <p:spPr>
          <a:xfrm>
            <a:off x="548640" y="2020824"/>
            <a:ext cx="8046720" cy="228600"/>
          </a:xfrm>
          <a:prstGeom prst="rect">
            <a:avLst/>
          </a:prstGeom>
          <a:noFill/>
        </p:spPr>
        <p:txBody>
          <a:bodyPr wrap="square">
            <a:spAutoFit/>
          </a:bodyPr>
          <a:lstStyle/>
          <a:p>
            <a:pPr algn="l"/>
            <a:r>
              <a:rPr sz="1100" b="0">
                <a:solidFill>
                  <a:srgbClr val="1E293B"/>
                </a:solidFill>
                <a:latin typeface="Arial"/>
              </a:rPr>
              <a:t>4. Create an isMember variable and set it to true or false.</a:t>
            </a:r>
          </a:p>
        </p:txBody>
      </p:sp>
      <p:sp>
        <p:nvSpPr>
          <p:cNvPr id="10" name="TextBox 9"/>
          <p:cNvSpPr txBox="1"/>
          <p:nvPr/>
        </p:nvSpPr>
        <p:spPr>
          <a:xfrm>
            <a:off x="548640" y="2267712"/>
            <a:ext cx="8046720" cy="228600"/>
          </a:xfrm>
          <a:prstGeom prst="rect">
            <a:avLst/>
          </a:prstGeom>
          <a:noFill/>
        </p:spPr>
        <p:txBody>
          <a:bodyPr wrap="square">
            <a:spAutoFit/>
          </a:bodyPr>
          <a:lstStyle/>
          <a:p>
            <a:pPr algn="l"/>
            <a:r>
              <a:rPr sz="1100" b="0">
                <a:solidFill>
                  <a:srgbClr val="1E293B"/>
                </a:solidFill>
                <a:latin typeface="Arial"/>
              </a:rPr>
              <a:t>5. Create a coupon variable and store a coupon code as a string.</a:t>
            </a:r>
          </a:p>
        </p:txBody>
      </p:sp>
      <p:sp>
        <p:nvSpPr>
          <p:cNvPr id="11" name="TextBox 10"/>
          <p:cNvSpPr txBox="1"/>
          <p:nvPr/>
        </p:nvSpPr>
        <p:spPr>
          <a:xfrm>
            <a:off x="548640" y="2514600"/>
            <a:ext cx="8046720" cy="228600"/>
          </a:xfrm>
          <a:prstGeom prst="rect">
            <a:avLst/>
          </a:prstGeom>
          <a:noFill/>
        </p:spPr>
        <p:txBody>
          <a:bodyPr wrap="square">
            <a:spAutoFit/>
          </a:bodyPr>
          <a:lstStyle/>
          <a:p>
            <a:pPr algn="l"/>
            <a:r>
              <a:rPr sz="1100" b="0">
                <a:solidFill>
                  <a:srgbClr val="1E293B"/>
                </a:solidFill>
                <a:latin typeface="Arial"/>
              </a:rPr>
              <a:t>6. Check if the customer has a valid coupon using ===.</a:t>
            </a:r>
          </a:p>
        </p:txBody>
      </p:sp>
      <p:sp>
        <p:nvSpPr>
          <p:cNvPr id="12" name="TextBox 11"/>
          <p:cNvSpPr txBox="1"/>
          <p:nvPr/>
        </p:nvSpPr>
        <p:spPr>
          <a:xfrm>
            <a:off x="548640" y="2761488"/>
            <a:ext cx="8046720" cy="228600"/>
          </a:xfrm>
          <a:prstGeom prst="rect">
            <a:avLst/>
          </a:prstGeom>
          <a:noFill/>
        </p:spPr>
        <p:txBody>
          <a:bodyPr wrap="square">
            <a:spAutoFit/>
          </a:bodyPr>
          <a:lstStyle/>
          <a:p>
            <a:pPr algn="l"/>
            <a:r>
              <a:rPr sz="1100" b="0">
                <a:solidFill>
                  <a:srgbClr val="1E293B"/>
                </a:solidFill>
                <a:latin typeface="Arial"/>
              </a:rPr>
              <a:t>7. Discount if: (totalPrice &gt;= 500 AND isMember) OR has valid coupon.</a:t>
            </a:r>
          </a:p>
        </p:txBody>
      </p:sp>
      <p:sp>
        <p:nvSpPr>
          <p:cNvPr id="13" name="TextBox 12"/>
          <p:cNvSpPr txBox="1"/>
          <p:nvPr/>
        </p:nvSpPr>
        <p:spPr>
          <a:xfrm>
            <a:off x="548640" y="3008376"/>
            <a:ext cx="8046720" cy="228600"/>
          </a:xfrm>
          <a:prstGeom prst="rect">
            <a:avLst/>
          </a:prstGeom>
          <a:noFill/>
        </p:spPr>
        <p:txBody>
          <a:bodyPr wrap="square">
            <a:spAutoFit/>
          </a:bodyPr>
          <a:lstStyle/>
          <a:p>
            <a:pPr algn="l"/>
            <a:r>
              <a:rPr sz="1100" b="0">
                <a:solidFill>
                  <a:srgbClr val="1E293B"/>
                </a:solidFill>
                <a:latin typeface="Arial"/>
              </a:rPr>
              <a:t>8. Print "Discount Applied" or "No Discount".</a:t>
            </a:r>
          </a:p>
        </p:txBody>
      </p:sp>
      <p:sp>
        <p:nvSpPr>
          <p:cNvPr id="14" name="TextBox 13"/>
          <p:cNvSpPr txBox="1"/>
          <p:nvPr/>
        </p:nvSpPr>
        <p:spPr>
          <a:xfrm>
            <a:off x="548640" y="3255264"/>
            <a:ext cx="8046720" cy="228600"/>
          </a:xfrm>
          <a:prstGeom prst="rect">
            <a:avLst/>
          </a:prstGeom>
          <a:noFill/>
        </p:spPr>
        <p:txBody>
          <a:bodyPr wrap="square">
            <a:spAutoFit/>
          </a:bodyPr>
          <a:lstStyle/>
          <a:p>
            <a:pPr algn="l"/>
            <a:r>
              <a:rPr sz="1100" b="0">
                <a:solidFill>
                  <a:srgbClr val="1E293B"/>
                </a:solidFill>
                <a:latin typeface="Arial"/>
              </a:rPr>
              <a:t>9. Ternary for "Adult" / "Minor".</a:t>
            </a:r>
          </a:p>
        </p:txBody>
      </p:sp>
      <p:sp>
        <p:nvSpPr>
          <p:cNvPr id="15" name="TextBox 14"/>
          <p:cNvSpPr txBox="1"/>
          <p:nvPr/>
        </p:nvSpPr>
        <p:spPr>
          <a:xfrm>
            <a:off x="548640" y="3502152"/>
            <a:ext cx="8046720" cy="228600"/>
          </a:xfrm>
          <a:prstGeom prst="rect">
            <a:avLst/>
          </a:prstGeom>
          <a:noFill/>
        </p:spPr>
        <p:txBody>
          <a:bodyPr wrap="square">
            <a:spAutoFit/>
          </a:bodyPr>
          <a:lstStyle/>
          <a:p>
            <a:pPr algn="l"/>
            <a:r>
              <a:rPr sz="1100" b="0">
                <a:solidFill>
                  <a:srgbClr val="1E293B"/>
                </a:solidFill>
                <a:latin typeface="Arial"/>
              </a:rPr>
              <a:t>10. Use typeof on customerName, totalPrice, and isMember.</a:t>
            </a:r>
          </a:p>
        </p:txBody>
      </p:sp>
      <p:sp>
        <p:nvSpPr>
          <p:cNvPr id="16" name="TextBox 15"/>
          <p:cNvSpPr txBox="1"/>
          <p:nvPr/>
        </p:nvSpPr>
        <p:spPr>
          <a:xfrm>
            <a:off x="548640" y="3995928"/>
            <a:ext cx="8046720" cy="228600"/>
          </a:xfrm>
          <a:prstGeom prst="rect">
            <a:avLst/>
          </a:prstGeom>
          <a:noFill/>
        </p:spPr>
        <p:txBody>
          <a:bodyPr wrap="square">
            <a:spAutoFit/>
          </a:bodyPr>
          <a:lstStyle/>
          <a:p>
            <a:pPr algn="l"/>
            <a:r>
              <a:rPr sz="1100" b="0">
                <a:solidFill>
                  <a:srgbClr val="1E293B"/>
                </a:solidFill>
                <a:latin typeface="Arial"/>
              </a:rPr>
              <a:t>Example: customerName="Sara", age=22, totalPrice=750,</a:t>
            </a:r>
          </a:p>
        </p:txBody>
      </p:sp>
      <p:sp>
        <p:nvSpPr>
          <p:cNvPr id="17" name="TextBox 16"/>
          <p:cNvSpPr txBox="1"/>
          <p:nvPr/>
        </p:nvSpPr>
        <p:spPr>
          <a:xfrm>
            <a:off x="548640" y="4242816"/>
            <a:ext cx="8046720" cy="228600"/>
          </a:xfrm>
          <a:prstGeom prst="rect">
            <a:avLst/>
          </a:prstGeom>
          <a:noFill/>
        </p:spPr>
        <p:txBody>
          <a:bodyPr wrap="square">
            <a:spAutoFit/>
          </a:bodyPr>
          <a:lstStyle/>
          <a:p>
            <a:pPr algn="l"/>
            <a:r>
              <a:rPr sz="1100" b="0">
                <a:solidFill>
                  <a:srgbClr val="1E293B"/>
                </a:solidFill>
                <a:latin typeface="Arial"/>
              </a:rPr>
              <a:t>         isMember=true, coupon="SAVE10"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37160"/>
            <a:ext cx="8229600" cy="274320"/>
          </a:xfrm>
          <a:prstGeom prst="rect">
            <a:avLst/>
          </a:prstGeom>
          <a:noFill/>
        </p:spPr>
        <p:txBody>
          <a:bodyPr wrap="square">
            <a:spAutoFit/>
          </a:bodyPr>
          <a:lstStyle/>
          <a:p>
            <a:pPr algn="l"/>
            <a:r>
              <a:rPr sz="1600" b="1">
                <a:solidFill>
                  <a:srgbClr val="0066CC"/>
                </a:solidFill>
                <a:latin typeface="Arial"/>
              </a:rPr>
              <a:t>TASK 2 — REFERENCE SOLUTION</a:t>
            </a:r>
          </a:p>
        </p:txBody>
      </p:sp>
      <p:sp>
        <p:nvSpPr>
          <p:cNvPr id="3" name="Rounded Rectangle 2"/>
          <p:cNvSpPr/>
          <p:nvPr/>
        </p:nvSpPr>
        <p:spPr>
          <a:xfrm>
            <a:off x="274320" y="502920"/>
            <a:ext cx="8595360" cy="4114800"/>
          </a:xfrm>
          <a:prstGeom prst="roundRect">
            <a:avLst>
              <a:gd name="adj" fmla="val 10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640080"/>
            <a:ext cx="8229600" cy="192024"/>
          </a:xfrm>
          <a:prstGeom prst="rect">
            <a:avLst/>
          </a:prstGeom>
          <a:noFill/>
        </p:spPr>
        <p:txBody>
          <a:bodyPr wrap="square">
            <a:spAutoFit/>
          </a:bodyPr>
          <a:lstStyle/>
          <a:p>
            <a:pPr algn="l"/>
            <a:r>
              <a:rPr sz="1200" b="0">
                <a:solidFill>
                  <a:srgbClr val="FFFFFF"/>
                </a:solidFill>
                <a:latin typeface="Consolas"/>
              </a:rPr>
              <a:t>let customerName = "Sara";</a:t>
            </a:r>
          </a:p>
        </p:txBody>
      </p:sp>
      <p:sp>
        <p:nvSpPr>
          <p:cNvPr id="5" name="TextBox 4"/>
          <p:cNvSpPr txBox="1"/>
          <p:nvPr/>
        </p:nvSpPr>
        <p:spPr>
          <a:xfrm>
            <a:off x="457200" y="841247"/>
            <a:ext cx="8229600" cy="192024"/>
          </a:xfrm>
          <a:prstGeom prst="rect">
            <a:avLst/>
          </a:prstGeom>
          <a:noFill/>
        </p:spPr>
        <p:txBody>
          <a:bodyPr wrap="square">
            <a:spAutoFit/>
          </a:bodyPr>
          <a:lstStyle/>
          <a:p>
            <a:pPr algn="l"/>
            <a:r>
              <a:rPr sz="1200" b="0">
                <a:solidFill>
                  <a:srgbClr val="FFFFFF"/>
                </a:solidFill>
                <a:latin typeface="Consolas"/>
              </a:rPr>
              <a:t>let age = 22;</a:t>
            </a:r>
          </a:p>
        </p:txBody>
      </p:sp>
      <p:sp>
        <p:nvSpPr>
          <p:cNvPr id="6" name="TextBox 5"/>
          <p:cNvSpPr txBox="1"/>
          <p:nvPr/>
        </p:nvSpPr>
        <p:spPr>
          <a:xfrm>
            <a:off x="457200" y="1042415"/>
            <a:ext cx="8229600" cy="192024"/>
          </a:xfrm>
          <a:prstGeom prst="rect">
            <a:avLst/>
          </a:prstGeom>
          <a:noFill/>
        </p:spPr>
        <p:txBody>
          <a:bodyPr wrap="square">
            <a:spAutoFit/>
          </a:bodyPr>
          <a:lstStyle/>
          <a:p>
            <a:pPr algn="l"/>
            <a:r>
              <a:rPr sz="1200" b="0">
                <a:solidFill>
                  <a:srgbClr val="FFFFFF"/>
                </a:solidFill>
                <a:latin typeface="Consolas"/>
              </a:rPr>
              <a:t>let totalPrice = 750;</a:t>
            </a:r>
          </a:p>
        </p:txBody>
      </p:sp>
      <p:sp>
        <p:nvSpPr>
          <p:cNvPr id="7" name="TextBox 6"/>
          <p:cNvSpPr txBox="1"/>
          <p:nvPr/>
        </p:nvSpPr>
        <p:spPr>
          <a:xfrm>
            <a:off x="457200" y="1243584"/>
            <a:ext cx="8229600" cy="192024"/>
          </a:xfrm>
          <a:prstGeom prst="rect">
            <a:avLst/>
          </a:prstGeom>
          <a:noFill/>
        </p:spPr>
        <p:txBody>
          <a:bodyPr wrap="square">
            <a:spAutoFit/>
          </a:bodyPr>
          <a:lstStyle/>
          <a:p>
            <a:pPr algn="l"/>
            <a:r>
              <a:rPr sz="1200" b="0">
                <a:solidFill>
                  <a:srgbClr val="FFFFFF"/>
                </a:solidFill>
                <a:latin typeface="Consolas"/>
              </a:rPr>
              <a:t>let isMember = true;</a:t>
            </a:r>
          </a:p>
        </p:txBody>
      </p:sp>
      <p:sp>
        <p:nvSpPr>
          <p:cNvPr id="8" name="TextBox 7"/>
          <p:cNvSpPr txBox="1"/>
          <p:nvPr/>
        </p:nvSpPr>
        <p:spPr>
          <a:xfrm>
            <a:off x="457200" y="1444752"/>
            <a:ext cx="8229600" cy="192024"/>
          </a:xfrm>
          <a:prstGeom prst="rect">
            <a:avLst/>
          </a:prstGeom>
          <a:noFill/>
        </p:spPr>
        <p:txBody>
          <a:bodyPr wrap="square">
            <a:spAutoFit/>
          </a:bodyPr>
          <a:lstStyle/>
          <a:p>
            <a:pPr algn="l"/>
            <a:r>
              <a:rPr sz="1200" b="0">
                <a:solidFill>
                  <a:srgbClr val="FFFFFF"/>
                </a:solidFill>
                <a:latin typeface="Consolas"/>
              </a:rPr>
              <a:t>let coupon = "SAVE10";</a:t>
            </a:r>
          </a:p>
        </p:txBody>
      </p:sp>
      <p:sp>
        <p:nvSpPr>
          <p:cNvPr id="9" name="TextBox 8"/>
          <p:cNvSpPr txBox="1"/>
          <p:nvPr/>
        </p:nvSpPr>
        <p:spPr>
          <a:xfrm>
            <a:off x="457200" y="1847088"/>
            <a:ext cx="8229600" cy="192024"/>
          </a:xfrm>
          <a:prstGeom prst="rect">
            <a:avLst/>
          </a:prstGeom>
          <a:noFill/>
        </p:spPr>
        <p:txBody>
          <a:bodyPr wrap="square">
            <a:spAutoFit/>
          </a:bodyPr>
          <a:lstStyle/>
          <a:p>
            <a:pPr algn="l"/>
            <a:r>
              <a:rPr sz="1200" b="0">
                <a:solidFill>
                  <a:srgbClr val="7DD3FC"/>
                </a:solidFill>
                <a:latin typeface="Consolas"/>
              </a:rPr>
              <a:t>let hasCoupon = coupon === "SAVE10";</a:t>
            </a:r>
          </a:p>
        </p:txBody>
      </p:sp>
      <p:sp>
        <p:nvSpPr>
          <p:cNvPr id="10" name="TextBox 9"/>
          <p:cNvSpPr txBox="1"/>
          <p:nvPr/>
        </p:nvSpPr>
        <p:spPr>
          <a:xfrm>
            <a:off x="457200" y="2249424"/>
            <a:ext cx="8229600" cy="192024"/>
          </a:xfrm>
          <a:prstGeom prst="rect">
            <a:avLst/>
          </a:prstGeom>
          <a:noFill/>
        </p:spPr>
        <p:txBody>
          <a:bodyPr wrap="square">
            <a:spAutoFit/>
          </a:bodyPr>
          <a:lstStyle/>
          <a:p>
            <a:pPr algn="l"/>
            <a:r>
              <a:rPr sz="1200" b="0">
                <a:solidFill>
                  <a:srgbClr val="7DD3FC"/>
                </a:solidFill>
                <a:latin typeface="Consolas"/>
              </a:rPr>
              <a:t>if ((totalPrice &gt;= 500 &amp;&amp; isMember) || hasCoupon) {</a:t>
            </a:r>
          </a:p>
        </p:txBody>
      </p:sp>
      <p:sp>
        <p:nvSpPr>
          <p:cNvPr id="11" name="TextBox 10"/>
          <p:cNvSpPr txBox="1"/>
          <p:nvPr/>
        </p:nvSpPr>
        <p:spPr>
          <a:xfrm>
            <a:off x="457200" y="2450591"/>
            <a:ext cx="8229600" cy="192024"/>
          </a:xfrm>
          <a:prstGeom prst="rect">
            <a:avLst/>
          </a:prstGeom>
          <a:noFill/>
        </p:spPr>
        <p:txBody>
          <a:bodyPr wrap="square">
            <a:spAutoFit/>
          </a:bodyPr>
          <a:lstStyle/>
          <a:p>
            <a:pPr algn="l"/>
            <a:r>
              <a:rPr sz="1200" b="0">
                <a:solidFill>
                  <a:srgbClr val="22C55E"/>
                </a:solidFill>
                <a:latin typeface="Consolas"/>
              </a:rPr>
              <a:t>    console.log("Discount Applied");</a:t>
            </a:r>
          </a:p>
        </p:txBody>
      </p:sp>
      <p:sp>
        <p:nvSpPr>
          <p:cNvPr id="12" name="TextBox 11"/>
          <p:cNvSpPr txBox="1"/>
          <p:nvPr/>
        </p:nvSpPr>
        <p:spPr>
          <a:xfrm>
            <a:off x="457200" y="2651760"/>
            <a:ext cx="8229600" cy="192024"/>
          </a:xfrm>
          <a:prstGeom prst="rect">
            <a:avLst/>
          </a:prstGeom>
          <a:noFill/>
        </p:spPr>
        <p:txBody>
          <a:bodyPr wrap="square">
            <a:spAutoFit/>
          </a:bodyPr>
          <a:lstStyle/>
          <a:p>
            <a:pPr algn="l"/>
            <a:r>
              <a:rPr sz="1200" b="0">
                <a:solidFill>
                  <a:srgbClr val="7DD3FC"/>
                </a:solidFill>
                <a:latin typeface="Consolas"/>
              </a:rPr>
              <a:t>} else {</a:t>
            </a:r>
          </a:p>
        </p:txBody>
      </p:sp>
      <p:sp>
        <p:nvSpPr>
          <p:cNvPr id="13" name="TextBox 12"/>
          <p:cNvSpPr txBox="1"/>
          <p:nvPr/>
        </p:nvSpPr>
        <p:spPr>
          <a:xfrm>
            <a:off x="457200" y="2852928"/>
            <a:ext cx="8229600" cy="192024"/>
          </a:xfrm>
          <a:prstGeom prst="rect">
            <a:avLst/>
          </a:prstGeom>
          <a:noFill/>
        </p:spPr>
        <p:txBody>
          <a:bodyPr wrap="square">
            <a:spAutoFit/>
          </a:bodyPr>
          <a:lstStyle/>
          <a:p>
            <a:pPr algn="l"/>
            <a:r>
              <a:rPr sz="1200" b="0">
                <a:solidFill>
                  <a:srgbClr val="22C55E"/>
                </a:solidFill>
                <a:latin typeface="Consolas"/>
              </a:rPr>
              <a:t>    console.log("No Discount");</a:t>
            </a:r>
          </a:p>
        </p:txBody>
      </p:sp>
      <p:sp>
        <p:nvSpPr>
          <p:cNvPr id="14" name="TextBox 13"/>
          <p:cNvSpPr txBox="1"/>
          <p:nvPr/>
        </p:nvSpPr>
        <p:spPr>
          <a:xfrm>
            <a:off x="457200" y="3054096"/>
            <a:ext cx="8229600" cy="192024"/>
          </a:xfrm>
          <a:prstGeom prst="rect">
            <a:avLst/>
          </a:prstGeom>
          <a:noFill/>
        </p:spPr>
        <p:txBody>
          <a:bodyPr wrap="square">
            <a:spAutoFit/>
          </a:bodyPr>
          <a:lstStyle/>
          <a:p>
            <a:pPr algn="l"/>
            <a:r>
              <a:rPr sz="1200" b="0">
                <a:solidFill>
                  <a:srgbClr val="7DD3FC"/>
                </a:solidFill>
                <a:latin typeface="Consolas"/>
              </a:rPr>
              <a:t>}</a:t>
            </a:r>
          </a:p>
        </p:txBody>
      </p:sp>
      <p:sp>
        <p:nvSpPr>
          <p:cNvPr id="15" name="TextBox 14"/>
          <p:cNvSpPr txBox="1"/>
          <p:nvPr/>
        </p:nvSpPr>
        <p:spPr>
          <a:xfrm>
            <a:off x="457200" y="3456432"/>
            <a:ext cx="8229600" cy="192024"/>
          </a:xfrm>
          <a:prstGeom prst="rect">
            <a:avLst/>
          </a:prstGeom>
          <a:noFill/>
        </p:spPr>
        <p:txBody>
          <a:bodyPr wrap="square">
            <a:spAutoFit/>
          </a:bodyPr>
          <a:lstStyle/>
          <a:p>
            <a:pPr algn="l"/>
            <a:r>
              <a:rPr sz="1200" b="0">
                <a:solidFill>
                  <a:srgbClr val="FFFFFF"/>
                </a:solidFill>
                <a:latin typeface="Consolas"/>
              </a:rPr>
              <a:t>let ageStatus = age &gt;= 18 ? "Adult" : "Minor";</a:t>
            </a:r>
          </a:p>
        </p:txBody>
      </p:sp>
      <p:sp>
        <p:nvSpPr>
          <p:cNvPr id="16" name="TextBox 15"/>
          <p:cNvSpPr txBox="1"/>
          <p:nvPr/>
        </p:nvSpPr>
        <p:spPr>
          <a:xfrm>
            <a:off x="457200" y="3657600"/>
            <a:ext cx="8229600" cy="192024"/>
          </a:xfrm>
          <a:prstGeom prst="rect">
            <a:avLst/>
          </a:prstGeom>
          <a:noFill/>
        </p:spPr>
        <p:txBody>
          <a:bodyPr wrap="square">
            <a:spAutoFit/>
          </a:bodyPr>
          <a:lstStyle/>
          <a:p>
            <a:pPr algn="l"/>
            <a:r>
              <a:rPr sz="1200" b="0">
                <a:solidFill>
                  <a:srgbClr val="FFFFFF"/>
                </a:solidFill>
                <a:latin typeface="Consolas"/>
              </a:rPr>
              <a:t>console.log(ageStatus);</a:t>
            </a:r>
          </a:p>
        </p:txBody>
      </p:sp>
      <p:sp>
        <p:nvSpPr>
          <p:cNvPr id="17" name="TextBox 16"/>
          <p:cNvSpPr txBox="1"/>
          <p:nvPr/>
        </p:nvSpPr>
        <p:spPr>
          <a:xfrm>
            <a:off x="457200" y="3858768"/>
            <a:ext cx="8229600" cy="192024"/>
          </a:xfrm>
          <a:prstGeom prst="rect">
            <a:avLst/>
          </a:prstGeom>
          <a:noFill/>
        </p:spPr>
        <p:txBody>
          <a:bodyPr wrap="square">
            <a:spAutoFit/>
          </a:bodyPr>
          <a:lstStyle/>
          <a:p>
            <a:pPr algn="l"/>
            <a:r>
              <a:rPr sz="1200" b="0">
                <a:solidFill>
                  <a:srgbClr val="FFFFFF"/>
                </a:solidFill>
                <a:latin typeface="Consolas"/>
              </a:rPr>
              <a:t>console.log(typeof customerName);</a:t>
            </a:r>
          </a:p>
        </p:txBody>
      </p:sp>
      <p:sp>
        <p:nvSpPr>
          <p:cNvPr id="18" name="TextBox 17"/>
          <p:cNvSpPr txBox="1"/>
          <p:nvPr/>
        </p:nvSpPr>
        <p:spPr>
          <a:xfrm>
            <a:off x="457200" y="4059936"/>
            <a:ext cx="8229600" cy="192024"/>
          </a:xfrm>
          <a:prstGeom prst="rect">
            <a:avLst/>
          </a:prstGeom>
          <a:noFill/>
        </p:spPr>
        <p:txBody>
          <a:bodyPr wrap="square">
            <a:spAutoFit/>
          </a:bodyPr>
          <a:lstStyle/>
          <a:p>
            <a:pPr algn="l"/>
            <a:r>
              <a:rPr sz="1200" b="0">
                <a:solidFill>
                  <a:srgbClr val="FFFFFF"/>
                </a:solidFill>
                <a:latin typeface="Consolas"/>
              </a:rPr>
              <a:t>console.log(typeof totalPrice);</a:t>
            </a:r>
          </a:p>
        </p:txBody>
      </p:sp>
      <p:sp>
        <p:nvSpPr>
          <p:cNvPr id="19" name="TextBox 18"/>
          <p:cNvSpPr txBox="1"/>
          <p:nvPr/>
        </p:nvSpPr>
        <p:spPr>
          <a:xfrm>
            <a:off x="457200" y="4261104"/>
            <a:ext cx="8229600" cy="192024"/>
          </a:xfrm>
          <a:prstGeom prst="rect">
            <a:avLst/>
          </a:prstGeom>
          <a:noFill/>
        </p:spPr>
        <p:txBody>
          <a:bodyPr wrap="square">
            <a:spAutoFit/>
          </a:bodyPr>
          <a:lstStyle/>
          <a:p>
            <a:pPr algn="l"/>
            <a:r>
              <a:rPr sz="1200" b="0">
                <a:solidFill>
                  <a:srgbClr val="FFFFFF"/>
                </a:solidFill>
                <a:latin typeface="Consolas"/>
              </a:rPr>
              <a:t>console.log(typeof isMember);</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320040"/>
          </a:xfrm>
          <a:prstGeom prst="rect">
            <a:avLst/>
          </a:prstGeom>
          <a:noFill/>
        </p:spPr>
        <p:txBody>
          <a:bodyPr wrap="square">
            <a:spAutoFit/>
          </a:bodyPr>
          <a:lstStyle/>
          <a:p>
            <a:pPr algn="l"/>
            <a:r>
              <a:rPr sz="1400" b="1">
                <a:solidFill>
                  <a:srgbClr val="0066CC"/>
                </a:solidFill>
                <a:latin typeface="Arial"/>
              </a:rPr>
              <a:t>TOPIC 10</a:t>
            </a:r>
          </a:p>
        </p:txBody>
      </p:sp>
      <p:sp>
        <p:nvSpPr>
          <p:cNvPr id="3" name="TextBox 2"/>
          <p:cNvSpPr txBox="1"/>
          <p:nvPr/>
        </p:nvSpPr>
        <p:spPr>
          <a:xfrm>
            <a:off x="457200" y="731520"/>
            <a:ext cx="8229600" cy="502920"/>
          </a:xfrm>
          <a:prstGeom prst="rect">
            <a:avLst/>
          </a:prstGeom>
          <a:noFill/>
        </p:spPr>
        <p:txBody>
          <a:bodyPr wrap="square">
            <a:spAutoFit/>
          </a:bodyPr>
          <a:lstStyle/>
          <a:p>
            <a:pPr algn="l"/>
            <a:r>
              <a:rPr sz="2800" b="1">
                <a:solidFill>
                  <a:srgbClr val="0066CC"/>
                </a:solidFill>
                <a:latin typeface="Arial"/>
              </a:rPr>
              <a:t>switch</a:t>
            </a:r>
          </a:p>
        </p:txBody>
      </p:sp>
      <p:sp>
        <p:nvSpPr>
          <p:cNvPr id="4" name="Rounded Rectangle 3"/>
          <p:cNvSpPr/>
          <p:nvPr/>
        </p:nvSpPr>
        <p:spPr>
          <a:xfrm>
            <a:off x="457200" y="1463040"/>
            <a:ext cx="8229600" cy="1371600"/>
          </a:xfrm>
          <a:prstGeom prst="roundRect">
            <a:avLst>
              <a:gd name="adj" fmla="val 10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691640"/>
            <a:ext cx="7680960" cy="914400"/>
          </a:xfrm>
          <a:prstGeom prst="rect">
            <a:avLst/>
          </a:prstGeom>
          <a:noFill/>
        </p:spPr>
        <p:txBody>
          <a:bodyPr wrap="square">
            <a:spAutoFit/>
          </a:bodyPr>
          <a:lstStyle/>
          <a:p>
            <a:pPr algn="l"/>
            <a:r>
              <a:rPr sz="1500" b="0">
                <a:solidFill>
                  <a:srgbClr val="1E293B"/>
                </a:solidFill>
                <a:latin typeface="Arial"/>
              </a:rPr>
              <a:t>An alternative to if / else when we have ONE VALUE
and want to compare it with MULTIPLE POSSIBILITIES.</a:t>
            </a:r>
          </a:p>
        </p:txBody>
      </p:sp>
      <p:sp>
        <p:nvSpPr>
          <p:cNvPr id="6" name="TextBox 5"/>
          <p:cNvSpPr txBox="1"/>
          <p:nvPr/>
        </p:nvSpPr>
        <p:spPr>
          <a:xfrm>
            <a:off x="640080" y="3108960"/>
            <a:ext cx="2011680" cy="320040"/>
          </a:xfrm>
          <a:prstGeom prst="rect">
            <a:avLst/>
          </a:prstGeom>
          <a:noFill/>
        </p:spPr>
        <p:txBody>
          <a:bodyPr wrap="square">
            <a:spAutoFit/>
          </a:bodyPr>
          <a:lstStyle/>
          <a:p>
            <a:pPr algn="l"/>
            <a:r>
              <a:rPr sz="1400" b="1">
                <a:solidFill>
                  <a:srgbClr val="0066CC"/>
                </a:solidFill>
                <a:latin typeface="Consolas"/>
              </a:rPr>
              <a:t>switch</a:t>
            </a:r>
          </a:p>
        </p:txBody>
      </p:sp>
      <p:sp>
        <p:nvSpPr>
          <p:cNvPr id="7" name="TextBox 6"/>
          <p:cNvSpPr txBox="1"/>
          <p:nvPr/>
        </p:nvSpPr>
        <p:spPr>
          <a:xfrm>
            <a:off x="2926080" y="3108960"/>
            <a:ext cx="5760720" cy="320040"/>
          </a:xfrm>
          <a:prstGeom prst="rect">
            <a:avLst/>
          </a:prstGeom>
          <a:noFill/>
        </p:spPr>
        <p:txBody>
          <a:bodyPr wrap="square">
            <a:spAutoFit/>
          </a:bodyPr>
          <a:lstStyle/>
          <a:p>
            <a:pPr algn="l"/>
            <a:r>
              <a:rPr sz="1400" b="0">
                <a:solidFill>
                  <a:srgbClr val="334155"/>
                </a:solidFill>
                <a:latin typeface="Arial"/>
              </a:rPr>
              <a:t>The value we are checking</a:t>
            </a:r>
          </a:p>
        </p:txBody>
      </p:sp>
      <p:sp>
        <p:nvSpPr>
          <p:cNvPr id="8" name="TextBox 7"/>
          <p:cNvSpPr txBox="1"/>
          <p:nvPr/>
        </p:nvSpPr>
        <p:spPr>
          <a:xfrm>
            <a:off x="640080" y="3520440"/>
            <a:ext cx="2011680" cy="320040"/>
          </a:xfrm>
          <a:prstGeom prst="rect">
            <a:avLst/>
          </a:prstGeom>
          <a:noFill/>
        </p:spPr>
        <p:txBody>
          <a:bodyPr wrap="square">
            <a:spAutoFit/>
          </a:bodyPr>
          <a:lstStyle/>
          <a:p>
            <a:pPr algn="l"/>
            <a:r>
              <a:rPr sz="1400" b="1">
                <a:solidFill>
                  <a:srgbClr val="0066CC"/>
                </a:solidFill>
                <a:latin typeface="Consolas"/>
              </a:rPr>
              <a:t>case</a:t>
            </a:r>
          </a:p>
        </p:txBody>
      </p:sp>
      <p:sp>
        <p:nvSpPr>
          <p:cNvPr id="9" name="TextBox 8"/>
          <p:cNvSpPr txBox="1"/>
          <p:nvPr/>
        </p:nvSpPr>
        <p:spPr>
          <a:xfrm>
            <a:off x="2926080" y="3520440"/>
            <a:ext cx="5760720" cy="320040"/>
          </a:xfrm>
          <a:prstGeom prst="rect">
            <a:avLst/>
          </a:prstGeom>
          <a:noFill/>
        </p:spPr>
        <p:txBody>
          <a:bodyPr wrap="square">
            <a:spAutoFit/>
          </a:bodyPr>
          <a:lstStyle/>
          <a:p>
            <a:pPr algn="l"/>
            <a:r>
              <a:rPr sz="1400" b="0">
                <a:solidFill>
                  <a:srgbClr val="334155"/>
                </a:solidFill>
                <a:latin typeface="Arial"/>
              </a:rPr>
              <a:t>One possible matching value</a:t>
            </a:r>
          </a:p>
        </p:txBody>
      </p:sp>
      <p:sp>
        <p:nvSpPr>
          <p:cNvPr id="10" name="TextBox 9"/>
          <p:cNvSpPr txBox="1"/>
          <p:nvPr/>
        </p:nvSpPr>
        <p:spPr>
          <a:xfrm>
            <a:off x="640080" y="3931920"/>
            <a:ext cx="2011680" cy="320040"/>
          </a:xfrm>
          <a:prstGeom prst="rect">
            <a:avLst/>
          </a:prstGeom>
          <a:noFill/>
        </p:spPr>
        <p:txBody>
          <a:bodyPr wrap="square">
            <a:spAutoFit/>
          </a:bodyPr>
          <a:lstStyle/>
          <a:p>
            <a:pPr algn="l"/>
            <a:r>
              <a:rPr sz="1400" b="1">
                <a:solidFill>
                  <a:srgbClr val="0066CC"/>
                </a:solidFill>
                <a:latin typeface="Consolas"/>
              </a:rPr>
              <a:t>break</a:t>
            </a:r>
          </a:p>
        </p:txBody>
      </p:sp>
      <p:sp>
        <p:nvSpPr>
          <p:cNvPr id="11" name="TextBox 10"/>
          <p:cNvSpPr txBox="1"/>
          <p:nvPr/>
        </p:nvSpPr>
        <p:spPr>
          <a:xfrm>
            <a:off x="2926080" y="3931920"/>
            <a:ext cx="5760720" cy="320040"/>
          </a:xfrm>
          <a:prstGeom prst="rect">
            <a:avLst/>
          </a:prstGeom>
          <a:noFill/>
        </p:spPr>
        <p:txBody>
          <a:bodyPr wrap="square">
            <a:spAutoFit/>
          </a:bodyPr>
          <a:lstStyle/>
          <a:p>
            <a:pPr algn="l"/>
            <a:r>
              <a:rPr sz="1400" b="0">
                <a:solidFill>
                  <a:srgbClr val="334155"/>
                </a:solidFill>
                <a:latin typeface="Arial"/>
              </a:rPr>
              <a:t>Stops execution of the current case</a:t>
            </a:r>
          </a:p>
        </p:txBody>
      </p:sp>
      <p:sp>
        <p:nvSpPr>
          <p:cNvPr id="12" name="TextBox 11"/>
          <p:cNvSpPr txBox="1"/>
          <p:nvPr/>
        </p:nvSpPr>
        <p:spPr>
          <a:xfrm>
            <a:off x="640080" y="4343400"/>
            <a:ext cx="2011680" cy="320040"/>
          </a:xfrm>
          <a:prstGeom prst="rect">
            <a:avLst/>
          </a:prstGeom>
          <a:noFill/>
        </p:spPr>
        <p:txBody>
          <a:bodyPr wrap="square">
            <a:spAutoFit/>
          </a:bodyPr>
          <a:lstStyle/>
          <a:p>
            <a:pPr algn="l"/>
            <a:r>
              <a:rPr sz="1400" b="1">
                <a:solidFill>
                  <a:srgbClr val="0066CC"/>
                </a:solidFill>
                <a:latin typeface="Consolas"/>
              </a:rPr>
              <a:t>default</a:t>
            </a:r>
          </a:p>
        </p:txBody>
      </p:sp>
      <p:sp>
        <p:nvSpPr>
          <p:cNvPr id="13" name="TextBox 12"/>
          <p:cNvSpPr txBox="1"/>
          <p:nvPr/>
        </p:nvSpPr>
        <p:spPr>
          <a:xfrm>
            <a:off x="2926080" y="4343400"/>
            <a:ext cx="5760720" cy="320040"/>
          </a:xfrm>
          <a:prstGeom prst="rect">
            <a:avLst/>
          </a:prstGeom>
          <a:noFill/>
        </p:spPr>
        <p:txBody>
          <a:bodyPr wrap="square">
            <a:spAutoFit/>
          </a:bodyPr>
          <a:lstStyle/>
          <a:p>
            <a:pPr algn="l"/>
            <a:r>
              <a:rPr sz="1400" b="0">
                <a:solidFill>
                  <a:srgbClr val="334155"/>
                </a:solidFill>
                <a:latin typeface="Arial"/>
              </a:rPr>
              <a:t>Runs when no case matches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2880"/>
            <a:ext cx="8229600" cy="320040"/>
          </a:xfrm>
          <a:prstGeom prst="rect">
            <a:avLst/>
          </a:prstGeom>
          <a:noFill/>
        </p:spPr>
        <p:txBody>
          <a:bodyPr wrap="square">
            <a:spAutoFit/>
          </a:bodyPr>
          <a:lstStyle/>
          <a:p>
            <a:pPr algn="l"/>
            <a:r>
              <a:rPr sz="2200" b="1">
                <a:solidFill>
                  <a:srgbClr val="0066CC"/>
                </a:solidFill>
                <a:latin typeface="Arial"/>
              </a:rPr>
              <a:t>switch EXAMPLE</a:t>
            </a:r>
          </a:p>
        </p:txBody>
      </p:sp>
      <p:sp>
        <p:nvSpPr>
          <p:cNvPr id="3" name="Rounded Rectangle 2"/>
          <p:cNvSpPr/>
          <p:nvPr/>
        </p:nvSpPr>
        <p:spPr>
          <a:xfrm>
            <a:off x="365760" y="640080"/>
            <a:ext cx="8412480" cy="4023360"/>
          </a:xfrm>
          <a:prstGeom prst="roundRect">
            <a:avLst>
              <a:gd name="adj" fmla="val 10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868680"/>
            <a:ext cx="7863840" cy="256032"/>
          </a:xfrm>
          <a:prstGeom prst="rect">
            <a:avLst/>
          </a:prstGeom>
          <a:noFill/>
        </p:spPr>
        <p:txBody>
          <a:bodyPr wrap="square">
            <a:spAutoFit/>
          </a:bodyPr>
          <a:lstStyle/>
          <a:p>
            <a:pPr algn="l"/>
            <a:r>
              <a:rPr sz="1400" b="0">
                <a:solidFill>
                  <a:srgbClr val="FFFFFF"/>
                </a:solidFill>
                <a:latin typeface="Consolas"/>
              </a:rPr>
              <a:t>let day = "Monday";</a:t>
            </a:r>
          </a:p>
        </p:txBody>
      </p:sp>
      <p:sp>
        <p:nvSpPr>
          <p:cNvPr id="5" name="TextBox 4"/>
          <p:cNvSpPr txBox="1"/>
          <p:nvPr/>
        </p:nvSpPr>
        <p:spPr>
          <a:xfrm>
            <a:off x="640080" y="1280160"/>
            <a:ext cx="7863840" cy="256032"/>
          </a:xfrm>
          <a:prstGeom prst="rect">
            <a:avLst/>
          </a:prstGeom>
          <a:noFill/>
        </p:spPr>
        <p:txBody>
          <a:bodyPr wrap="square">
            <a:spAutoFit/>
          </a:bodyPr>
          <a:lstStyle/>
          <a:p>
            <a:pPr algn="l"/>
            <a:r>
              <a:rPr sz="1400" b="0">
                <a:solidFill>
                  <a:srgbClr val="7DD3FC"/>
                </a:solidFill>
                <a:latin typeface="Consolas"/>
              </a:rPr>
              <a:t>switch (day) {</a:t>
            </a:r>
          </a:p>
        </p:txBody>
      </p:sp>
      <p:sp>
        <p:nvSpPr>
          <p:cNvPr id="6" name="TextBox 5"/>
          <p:cNvSpPr txBox="1"/>
          <p:nvPr/>
        </p:nvSpPr>
        <p:spPr>
          <a:xfrm>
            <a:off x="1005840" y="1691640"/>
            <a:ext cx="7498079" cy="256032"/>
          </a:xfrm>
          <a:prstGeom prst="rect">
            <a:avLst/>
          </a:prstGeom>
          <a:noFill/>
        </p:spPr>
        <p:txBody>
          <a:bodyPr wrap="square">
            <a:spAutoFit/>
          </a:bodyPr>
          <a:lstStyle/>
          <a:p>
            <a:pPr algn="l"/>
            <a:r>
              <a:rPr sz="1400" b="0">
                <a:solidFill>
                  <a:srgbClr val="FBBF24"/>
                </a:solidFill>
                <a:latin typeface="Consolas"/>
              </a:rPr>
              <a:t>case "Saturday":</a:t>
            </a:r>
          </a:p>
        </p:txBody>
      </p:sp>
      <p:sp>
        <p:nvSpPr>
          <p:cNvPr id="7" name="TextBox 6"/>
          <p:cNvSpPr txBox="1"/>
          <p:nvPr/>
        </p:nvSpPr>
        <p:spPr>
          <a:xfrm>
            <a:off x="1371600" y="2057400"/>
            <a:ext cx="7132320" cy="256032"/>
          </a:xfrm>
          <a:prstGeom prst="rect">
            <a:avLst/>
          </a:prstGeom>
          <a:noFill/>
        </p:spPr>
        <p:txBody>
          <a:bodyPr wrap="square">
            <a:spAutoFit/>
          </a:bodyPr>
          <a:lstStyle/>
          <a:p>
            <a:pPr algn="l"/>
            <a:r>
              <a:rPr sz="1300" b="0">
                <a:solidFill>
                  <a:srgbClr val="FFFFFF"/>
                </a:solidFill>
                <a:latin typeface="Consolas"/>
              </a:rPr>
              <a:t>console.log("First day of the week");</a:t>
            </a:r>
          </a:p>
        </p:txBody>
      </p:sp>
      <p:sp>
        <p:nvSpPr>
          <p:cNvPr id="8" name="TextBox 7"/>
          <p:cNvSpPr txBox="1"/>
          <p:nvPr/>
        </p:nvSpPr>
        <p:spPr>
          <a:xfrm>
            <a:off x="1371600" y="2423160"/>
            <a:ext cx="7132320" cy="256032"/>
          </a:xfrm>
          <a:prstGeom prst="rect">
            <a:avLst/>
          </a:prstGeom>
          <a:noFill/>
        </p:spPr>
        <p:txBody>
          <a:bodyPr wrap="square">
            <a:spAutoFit/>
          </a:bodyPr>
          <a:lstStyle/>
          <a:p>
            <a:pPr algn="l"/>
            <a:r>
              <a:rPr sz="1300" b="0">
                <a:solidFill>
                  <a:srgbClr val="A5B4FC"/>
                </a:solidFill>
                <a:latin typeface="Consolas"/>
              </a:rPr>
              <a:t>break;</a:t>
            </a:r>
          </a:p>
        </p:txBody>
      </p:sp>
      <p:sp>
        <p:nvSpPr>
          <p:cNvPr id="9" name="TextBox 8"/>
          <p:cNvSpPr txBox="1"/>
          <p:nvPr/>
        </p:nvSpPr>
        <p:spPr>
          <a:xfrm>
            <a:off x="1005840" y="2834640"/>
            <a:ext cx="7498079" cy="256032"/>
          </a:xfrm>
          <a:prstGeom prst="rect">
            <a:avLst/>
          </a:prstGeom>
          <a:noFill/>
        </p:spPr>
        <p:txBody>
          <a:bodyPr wrap="square">
            <a:spAutoFit/>
          </a:bodyPr>
          <a:lstStyle/>
          <a:p>
            <a:pPr algn="l"/>
            <a:r>
              <a:rPr sz="1400" b="0">
                <a:solidFill>
                  <a:srgbClr val="FBBF24"/>
                </a:solidFill>
                <a:latin typeface="Consolas"/>
              </a:rPr>
              <a:t>case "Monday":</a:t>
            </a:r>
          </a:p>
        </p:txBody>
      </p:sp>
      <p:sp>
        <p:nvSpPr>
          <p:cNvPr id="10" name="TextBox 9"/>
          <p:cNvSpPr txBox="1"/>
          <p:nvPr/>
        </p:nvSpPr>
        <p:spPr>
          <a:xfrm>
            <a:off x="1371600" y="3200400"/>
            <a:ext cx="7132320" cy="256032"/>
          </a:xfrm>
          <a:prstGeom prst="rect">
            <a:avLst/>
          </a:prstGeom>
          <a:noFill/>
        </p:spPr>
        <p:txBody>
          <a:bodyPr wrap="square">
            <a:spAutoFit/>
          </a:bodyPr>
          <a:lstStyle/>
          <a:p>
            <a:pPr algn="l"/>
            <a:r>
              <a:rPr sz="1300" b="0">
                <a:solidFill>
                  <a:srgbClr val="FFFFFF"/>
                </a:solidFill>
                <a:latin typeface="Consolas"/>
              </a:rPr>
              <a:t>console.log("First workday");</a:t>
            </a:r>
          </a:p>
        </p:txBody>
      </p:sp>
      <p:sp>
        <p:nvSpPr>
          <p:cNvPr id="11" name="TextBox 10"/>
          <p:cNvSpPr txBox="1"/>
          <p:nvPr/>
        </p:nvSpPr>
        <p:spPr>
          <a:xfrm>
            <a:off x="1371600" y="3566160"/>
            <a:ext cx="7132320" cy="256032"/>
          </a:xfrm>
          <a:prstGeom prst="rect">
            <a:avLst/>
          </a:prstGeom>
          <a:noFill/>
        </p:spPr>
        <p:txBody>
          <a:bodyPr wrap="square">
            <a:spAutoFit/>
          </a:bodyPr>
          <a:lstStyle/>
          <a:p>
            <a:pPr algn="l"/>
            <a:r>
              <a:rPr sz="1300" b="0">
                <a:solidFill>
                  <a:srgbClr val="A5B4FC"/>
                </a:solidFill>
                <a:latin typeface="Consolas"/>
              </a:rPr>
              <a:t>break;</a:t>
            </a:r>
          </a:p>
        </p:txBody>
      </p:sp>
      <p:sp>
        <p:nvSpPr>
          <p:cNvPr id="12" name="TextBox 11"/>
          <p:cNvSpPr txBox="1"/>
          <p:nvPr/>
        </p:nvSpPr>
        <p:spPr>
          <a:xfrm>
            <a:off x="1005840" y="3931920"/>
            <a:ext cx="7498079" cy="256032"/>
          </a:xfrm>
          <a:prstGeom prst="rect">
            <a:avLst/>
          </a:prstGeom>
          <a:noFill/>
        </p:spPr>
        <p:txBody>
          <a:bodyPr wrap="square">
            <a:spAutoFit/>
          </a:bodyPr>
          <a:lstStyle/>
          <a:p>
            <a:pPr algn="l"/>
            <a:r>
              <a:rPr sz="1400" b="0">
                <a:solidFill>
                  <a:srgbClr val="FBBF24"/>
                </a:solidFill>
                <a:latin typeface="Consolas"/>
              </a:rPr>
              <a:t>default:</a:t>
            </a:r>
          </a:p>
        </p:txBody>
      </p:sp>
      <p:sp>
        <p:nvSpPr>
          <p:cNvPr id="13" name="TextBox 12"/>
          <p:cNvSpPr txBox="1"/>
          <p:nvPr/>
        </p:nvSpPr>
        <p:spPr>
          <a:xfrm>
            <a:off x="1371600" y="4297680"/>
            <a:ext cx="7132320" cy="228600"/>
          </a:xfrm>
          <a:prstGeom prst="rect">
            <a:avLst/>
          </a:prstGeom>
          <a:noFill/>
        </p:spPr>
        <p:txBody>
          <a:bodyPr wrap="square">
            <a:spAutoFit/>
          </a:bodyPr>
          <a:lstStyle/>
          <a:p>
            <a:pPr algn="l"/>
            <a:r>
              <a:rPr sz="1300" b="0">
                <a:solidFill>
                  <a:srgbClr val="FFFFFF"/>
                </a:solidFill>
                <a:latin typeface="Consolas"/>
              </a:rPr>
              <a:t>console.log("Normal day");</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86888" y="534983"/>
            <a:ext cx="8229600" cy="274320"/>
          </a:xfrm>
          <a:prstGeom prst="rect">
            <a:avLst/>
          </a:prstGeom>
          <a:noFill/>
        </p:spPr>
        <p:txBody>
          <a:bodyPr wrap="square">
            <a:spAutoFit/>
          </a:bodyPr>
          <a:lstStyle/>
          <a:p>
            <a:pPr algn="l"/>
            <a:r>
              <a:rPr sz="1800" b="1" dirty="0">
                <a:solidFill>
                  <a:srgbClr val="0066CC"/>
                </a:solidFill>
                <a:latin typeface="Arial"/>
              </a:rPr>
              <a:t>HOMEWORK 1 — Grade Calculator</a:t>
            </a:r>
          </a:p>
        </p:txBody>
      </p:sp>
      <p:sp>
        <p:nvSpPr>
          <p:cNvPr id="3" name="Rounded Rectangle 2"/>
          <p:cNvSpPr/>
          <p:nvPr/>
        </p:nvSpPr>
        <p:spPr>
          <a:xfrm>
            <a:off x="357447" y="1927959"/>
            <a:ext cx="8412480" cy="1188720"/>
          </a:xfrm>
          <a:prstGeom prst="roundRect">
            <a:avLst>
              <a:gd name="adj" fmla="val 10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0327" y="2065119"/>
            <a:ext cx="8046720" cy="914400"/>
          </a:xfrm>
          <a:prstGeom prst="rect">
            <a:avLst/>
          </a:prstGeom>
          <a:noFill/>
        </p:spPr>
        <p:txBody>
          <a:bodyPr wrap="square">
            <a:spAutoFit/>
          </a:bodyPr>
          <a:lstStyle/>
          <a:p>
            <a:pPr algn="l"/>
            <a:r>
              <a:rPr sz="1200" b="0">
                <a:solidFill>
                  <a:srgbClr val="1E293B"/>
                </a:solidFill>
                <a:latin typeface="Arial"/>
              </a:rPr>
              <a:t>Create a variable named score and store any score from 0 to 100.
Then use if / else to print:
"A" when score &gt;= 90 · "B" when score &gt;= 75 · "C" when score &gt;= 50 · "Fail" otherwise.</a:t>
            </a:r>
          </a:p>
        </p:txBody>
      </p:sp>
    </p:spTree>
    <p:extLst>
      <p:ext uri="{BB962C8B-B14F-4D97-AF65-F5344CB8AC3E}">
        <p14:creationId xmlns:p14="http://schemas.microsoft.com/office/powerpoint/2010/main" val="40193799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2880"/>
            <a:ext cx="8229600" cy="320040"/>
          </a:xfrm>
          <a:prstGeom prst="rect">
            <a:avLst/>
          </a:prstGeom>
          <a:noFill/>
        </p:spPr>
        <p:txBody>
          <a:bodyPr wrap="square">
            <a:spAutoFit/>
          </a:bodyPr>
          <a:lstStyle/>
          <a:p>
            <a:pPr algn="l"/>
            <a:r>
              <a:rPr sz="2000" b="1">
                <a:solidFill>
                  <a:srgbClr val="0066CC"/>
                </a:solidFill>
                <a:latin typeface="Arial"/>
              </a:rPr>
              <a:t>HOMEWORK 2 — Even / Odd Checker</a:t>
            </a:r>
          </a:p>
        </p:txBody>
      </p:sp>
      <p:sp>
        <p:nvSpPr>
          <p:cNvPr id="3" name="Rounded Rectangle 2"/>
          <p:cNvSpPr/>
          <p:nvPr/>
        </p:nvSpPr>
        <p:spPr>
          <a:xfrm>
            <a:off x="365760" y="640080"/>
            <a:ext cx="8412480" cy="914400"/>
          </a:xfrm>
          <a:prstGeom prst="roundRect">
            <a:avLst>
              <a:gd name="adj" fmla="val 10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822960"/>
            <a:ext cx="8046720" cy="548640"/>
          </a:xfrm>
          <a:prstGeom prst="rect">
            <a:avLst/>
          </a:prstGeom>
          <a:noFill/>
        </p:spPr>
        <p:txBody>
          <a:bodyPr wrap="square">
            <a:spAutoFit/>
          </a:bodyPr>
          <a:lstStyle/>
          <a:p>
            <a:pPr algn="l"/>
            <a:r>
              <a:rPr sz="1400" b="0">
                <a:solidFill>
                  <a:srgbClr val="1E293B"/>
                </a:solidFill>
                <a:latin typeface="Arial"/>
              </a:rPr>
              <a:t>Create a variable named number.
Determine whether the number is Even or Odd using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2880"/>
            <a:ext cx="8229600" cy="320040"/>
          </a:xfrm>
          <a:prstGeom prst="rect">
            <a:avLst/>
          </a:prstGeom>
          <a:noFill/>
        </p:spPr>
        <p:txBody>
          <a:bodyPr wrap="square">
            <a:spAutoFit/>
          </a:bodyPr>
          <a:lstStyle/>
          <a:p>
            <a:pPr algn="l"/>
            <a:r>
              <a:rPr sz="2000" b="1">
                <a:solidFill>
                  <a:srgbClr val="0066CC"/>
                </a:solidFill>
                <a:latin typeface="Arial"/>
              </a:rPr>
              <a:t>HOMEWORK 3 — Discount Calculation</a:t>
            </a:r>
          </a:p>
        </p:txBody>
      </p:sp>
      <p:sp>
        <p:nvSpPr>
          <p:cNvPr id="3" name="Rounded Rectangle 2"/>
          <p:cNvSpPr/>
          <p:nvPr/>
        </p:nvSpPr>
        <p:spPr>
          <a:xfrm>
            <a:off x="365760" y="640080"/>
            <a:ext cx="8412480" cy="1097280"/>
          </a:xfrm>
          <a:prstGeom prst="roundRect">
            <a:avLst>
              <a:gd name="adj" fmla="val 10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822960"/>
            <a:ext cx="8046720" cy="731520"/>
          </a:xfrm>
          <a:prstGeom prst="rect">
            <a:avLst/>
          </a:prstGeom>
          <a:noFill/>
        </p:spPr>
        <p:txBody>
          <a:bodyPr wrap="square">
            <a:spAutoFit/>
          </a:bodyPr>
          <a:lstStyle/>
          <a:p>
            <a:pPr algn="l"/>
            <a:r>
              <a:rPr sz="1200" b="0">
                <a:solidFill>
                  <a:srgbClr val="1E293B"/>
                </a:solidFill>
                <a:latin typeface="Arial"/>
              </a:rPr>
              <a:t>Create a variable named price.
If the price is greater than or equal to 500, calculate the price after a 10% discount.
Otherwise, print the price as it is. Use the Ternary Operator.</a:t>
            </a:r>
          </a:p>
        </p:txBody>
      </p:sp>
    </p:spTree>
    <p:extLst>
      <p:ext uri="{BB962C8B-B14F-4D97-AF65-F5344CB8AC3E}">
        <p14:creationId xmlns:p14="http://schemas.microsoft.com/office/powerpoint/2010/main" val="20084562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2880"/>
            <a:ext cx="8229600" cy="320040"/>
          </a:xfrm>
          <a:prstGeom prst="rect">
            <a:avLst/>
          </a:prstGeom>
          <a:noFill/>
        </p:spPr>
        <p:txBody>
          <a:bodyPr wrap="square">
            <a:spAutoFit/>
          </a:bodyPr>
          <a:lstStyle/>
          <a:p>
            <a:pPr algn="l"/>
            <a:r>
              <a:rPr sz="2000" b="1">
                <a:solidFill>
                  <a:srgbClr val="0066CC"/>
                </a:solidFill>
                <a:latin typeface="Arial"/>
              </a:rPr>
              <a:t>HOMEWORK 4 — Simple Form Validation</a:t>
            </a:r>
          </a:p>
        </p:txBody>
      </p:sp>
      <p:sp>
        <p:nvSpPr>
          <p:cNvPr id="3" name="Rounded Rectangle 2"/>
          <p:cNvSpPr/>
          <p:nvPr/>
        </p:nvSpPr>
        <p:spPr>
          <a:xfrm>
            <a:off x="365760" y="640080"/>
            <a:ext cx="8412480" cy="1097280"/>
          </a:xfrm>
          <a:prstGeom prst="roundRect">
            <a:avLst>
              <a:gd name="adj" fmla="val 10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822960"/>
            <a:ext cx="8046720" cy="731520"/>
          </a:xfrm>
          <a:prstGeom prst="rect">
            <a:avLst/>
          </a:prstGeom>
          <a:noFill/>
        </p:spPr>
        <p:txBody>
          <a:bodyPr wrap="square">
            <a:spAutoFit/>
          </a:bodyPr>
          <a:lstStyle/>
          <a:p>
            <a:pPr algn="l"/>
            <a:r>
              <a:rPr sz="1300" b="0">
                <a:solidFill>
                  <a:srgbClr val="1E293B"/>
                </a:solidFill>
                <a:latin typeface="Arial"/>
              </a:rPr>
              <a:t>Create a variable named userName.
Using Truthy / Falsy:
If it is empty → print "Name is required"
Otherwise → print "Name entered successfully"</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320040"/>
          </a:xfrm>
          <a:prstGeom prst="rect">
            <a:avLst/>
          </a:prstGeom>
          <a:noFill/>
        </p:spPr>
        <p:txBody>
          <a:bodyPr wrap="square">
            <a:spAutoFit/>
          </a:bodyPr>
          <a:lstStyle/>
          <a:p>
            <a:pPr algn="l"/>
            <a:r>
              <a:rPr sz="1400" b="1">
                <a:solidFill>
                  <a:srgbClr val="0066CC"/>
                </a:solidFill>
                <a:latin typeface="Arial"/>
              </a:rPr>
              <a:t>BLOCK 2</a:t>
            </a:r>
          </a:p>
        </p:txBody>
      </p:sp>
      <p:sp>
        <p:nvSpPr>
          <p:cNvPr id="3" name="TextBox 2"/>
          <p:cNvSpPr txBox="1"/>
          <p:nvPr/>
        </p:nvSpPr>
        <p:spPr>
          <a:xfrm>
            <a:off x="457200" y="731520"/>
            <a:ext cx="8229600" cy="502920"/>
          </a:xfrm>
          <a:prstGeom prst="rect">
            <a:avLst/>
          </a:prstGeom>
          <a:noFill/>
        </p:spPr>
        <p:txBody>
          <a:bodyPr wrap="square">
            <a:spAutoFit/>
          </a:bodyPr>
          <a:lstStyle/>
          <a:p>
            <a:pPr algn="l"/>
            <a:r>
              <a:rPr sz="2600" b="1">
                <a:solidFill>
                  <a:srgbClr val="0066CC"/>
                </a:solidFill>
                <a:latin typeface="Arial"/>
              </a:rPr>
              <a:t>Loops · Functions · Scope</a:t>
            </a:r>
          </a:p>
        </p:txBody>
      </p:sp>
      <p:sp>
        <p:nvSpPr>
          <p:cNvPr id="4" name="Rounded Rectangle 3"/>
          <p:cNvSpPr/>
          <p:nvPr/>
        </p:nvSpPr>
        <p:spPr>
          <a:xfrm>
            <a:off x="457200" y="1554480"/>
            <a:ext cx="8229600" cy="2926080"/>
          </a:xfrm>
          <a:prstGeom prst="roundRect">
            <a:avLst>
              <a:gd name="adj" fmla="val 10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828800"/>
            <a:ext cx="7680960" cy="2377440"/>
          </a:xfrm>
          <a:prstGeom prst="rect">
            <a:avLst/>
          </a:prstGeom>
          <a:noFill/>
        </p:spPr>
        <p:txBody>
          <a:bodyPr wrap="square">
            <a:spAutoFit/>
          </a:bodyPr>
          <a:lstStyle/>
          <a:p>
            <a:pPr algn="l"/>
            <a:r>
              <a:rPr sz="1400" b="0">
                <a:solidFill>
                  <a:srgbClr val="1E293B"/>
                </a:solidFill>
                <a:latin typeface="Arial"/>
              </a:rPr>
              <a:t>Until now, we learned how to store values and how the code can make decisions using if / else.
But what if we want to repeat the same operation several times?
Would we write the same code twenty times?
Of course not.
That brings us to one of the most important concepts in this session:
LOOPS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320040"/>
          </a:xfrm>
          <a:prstGeom prst="rect">
            <a:avLst/>
          </a:prstGeom>
          <a:noFill/>
        </p:spPr>
        <p:txBody>
          <a:bodyPr wrap="square">
            <a:spAutoFit/>
          </a:bodyPr>
          <a:lstStyle/>
          <a:p>
            <a:pPr algn="l"/>
            <a:r>
              <a:rPr sz="1400" b="1">
                <a:solidFill>
                  <a:srgbClr val="0066CC"/>
                </a:solidFill>
                <a:latin typeface="Arial"/>
              </a:rPr>
              <a:t>TOPIC 1</a:t>
            </a:r>
          </a:p>
        </p:txBody>
      </p:sp>
      <p:sp>
        <p:nvSpPr>
          <p:cNvPr id="3" name="TextBox 2"/>
          <p:cNvSpPr txBox="1"/>
          <p:nvPr/>
        </p:nvSpPr>
        <p:spPr>
          <a:xfrm>
            <a:off x="457200" y="731520"/>
            <a:ext cx="8229600" cy="502920"/>
          </a:xfrm>
          <a:prstGeom prst="rect">
            <a:avLst/>
          </a:prstGeom>
          <a:noFill/>
        </p:spPr>
        <p:txBody>
          <a:bodyPr wrap="square">
            <a:spAutoFit/>
          </a:bodyPr>
          <a:lstStyle/>
          <a:p>
            <a:pPr algn="l"/>
            <a:r>
              <a:rPr sz="2800" b="1">
                <a:solidFill>
                  <a:srgbClr val="0066CC"/>
                </a:solidFill>
                <a:latin typeface="Arial"/>
              </a:rPr>
              <a:t>Loops</a:t>
            </a:r>
          </a:p>
        </p:txBody>
      </p:sp>
      <p:sp>
        <p:nvSpPr>
          <p:cNvPr id="4" name="Rounded Rectangle 3"/>
          <p:cNvSpPr/>
          <p:nvPr/>
        </p:nvSpPr>
        <p:spPr>
          <a:xfrm>
            <a:off x="457200" y="1463040"/>
            <a:ext cx="8229600" cy="1371600"/>
          </a:xfrm>
          <a:prstGeom prst="roundRect">
            <a:avLst>
              <a:gd name="adj" fmla="val 10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737360"/>
            <a:ext cx="7680960" cy="914400"/>
          </a:xfrm>
          <a:prstGeom prst="rect">
            <a:avLst/>
          </a:prstGeom>
          <a:noFill/>
        </p:spPr>
        <p:txBody>
          <a:bodyPr wrap="square">
            <a:spAutoFit/>
          </a:bodyPr>
          <a:lstStyle/>
          <a:p>
            <a:pPr algn="l"/>
            <a:r>
              <a:rPr sz="1500" b="0">
                <a:solidFill>
                  <a:srgbClr val="1E293B"/>
                </a:solidFill>
                <a:latin typeface="Arial"/>
              </a:rPr>
              <a:t>A loop allows us to repeat the same operation multiple times
without writing the same code again and again.</a:t>
            </a:r>
          </a:p>
        </p:txBody>
      </p:sp>
      <p:sp>
        <p:nvSpPr>
          <p:cNvPr id="6" name="Rounded Rectangle 5"/>
          <p:cNvSpPr/>
          <p:nvPr/>
        </p:nvSpPr>
        <p:spPr>
          <a:xfrm>
            <a:off x="457200" y="3200400"/>
            <a:ext cx="1600200" cy="1280160"/>
          </a:xfrm>
          <a:prstGeom prst="roundRect">
            <a:avLst>
              <a:gd name="adj" fmla="val 10000"/>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3566160"/>
            <a:ext cx="1600200" cy="457200"/>
          </a:xfrm>
          <a:prstGeom prst="rect">
            <a:avLst/>
          </a:prstGeom>
          <a:noFill/>
        </p:spPr>
        <p:txBody>
          <a:bodyPr wrap="square">
            <a:spAutoFit/>
          </a:bodyPr>
          <a:lstStyle/>
          <a:p>
            <a:pPr algn="ctr"/>
            <a:r>
              <a:rPr sz="1400" b="1">
                <a:solidFill>
                  <a:srgbClr val="0066CC"/>
                </a:solidFill>
                <a:latin typeface="Consolas"/>
              </a:rPr>
              <a:t>for</a:t>
            </a:r>
          </a:p>
        </p:txBody>
      </p:sp>
      <p:sp>
        <p:nvSpPr>
          <p:cNvPr id="8" name="Rounded Rectangle 7"/>
          <p:cNvSpPr/>
          <p:nvPr/>
        </p:nvSpPr>
        <p:spPr>
          <a:xfrm>
            <a:off x="2194560" y="3200400"/>
            <a:ext cx="1600200" cy="1280160"/>
          </a:xfrm>
          <a:prstGeom prst="roundRect">
            <a:avLst>
              <a:gd name="adj" fmla="val 10000"/>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194560" y="3566160"/>
            <a:ext cx="1600200" cy="457200"/>
          </a:xfrm>
          <a:prstGeom prst="rect">
            <a:avLst/>
          </a:prstGeom>
          <a:noFill/>
        </p:spPr>
        <p:txBody>
          <a:bodyPr wrap="square">
            <a:spAutoFit/>
          </a:bodyPr>
          <a:lstStyle/>
          <a:p>
            <a:pPr algn="ctr"/>
            <a:r>
              <a:rPr sz="1400" b="1">
                <a:solidFill>
                  <a:srgbClr val="0066CC"/>
                </a:solidFill>
                <a:latin typeface="Consolas"/>
              </a:rPr>
              <a:t>while</a:t>
            </a:r>
          </a:p>
        </p:txBody>
      </p:sp>
      <p:sp>
        <p:nvSpPr>
          <p:cNvPr id="10" name="Rounded Rectangle 9"/>
          <p:cNvSpPr/>
          <p:nvPr/>
        </p:nvSpPr>
        <p:spPr>
          <a:xfrm>
            <a:off x="3931920" y="3200400"/>
            <a:ext cx="1600200" cy="1280160"/>
          </a:xfrm>
          <a:prstGeom prst="roundRect">
            <a:avLst>
              <a:gd name="adj" fmla="val 10000"/>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931920" y="3566160"/>
            <a:ext cx="1600200" cy="457200"/>
          </a:xfrm>
          <a:prstGeom prst="rect">
            <a:avLst/>
          </a:prstGeom>
          <a:noFill/>
        </p:spPr>
        <p:txBody>
          <a:bodyPr wrap="square">
            <a:spAutoFit/>
          </a:bodyPr>
          <a:lstStyle/>
          <a:p>
            <a:pPr algn="ctr"/>
            <a:r>
              <a:rPr sz="1400" b="1">
                <a:solidFill>
                  <a:srgbClr val="0066CC"/>
                </a:solidFill>
                <a:latin typeface="Consolas"/>
              </a:rPr>
              <a:t>for...of</a:t>
            </a:r>
          </a:p>
        </p:txBody>
      </p:sp>
      <p:sp>
        <p:nvSpPr>
          <p:cNvPr id="12" name="Rounded Rectangle 11"/>
          <p:cNvSpPr/>
          <p:nvPr/>
        </p:nvSpPr>
        <p:spPr>
          <a:xfrm>
            <a:off x="5669279" y="3200400"/>
            <a:ext cx="1600200" cy="1280160"/>
          </a:xfrm>
          <a:prstGeom prst="roundRect">
            <a:avLst>
              <a:gd name="adj" fmla="val 10000"/>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79" y="3566160"/>
            <a:ext cx="1600200" cy="457200"/>
          </a:xfrm>
          <a:prstGeom prst="rect">
            <a:avLst/>
          </a:prstGeom>
          <a:noFill/>
        </p:spPr>
        <p:txBody>
          <a:bodyPr wrap="square">
            <a:spAutoFit/>
          </a:bodyPr>
          <a:lstStyle/>
          <a:p>
            <a:pPr algn="ctr"/>
            <a:r>
              <a:rPr sz="1400" b="1">
                <a:solidFill>
                  <a:srgbClr val="0066CC"/>
                </a:solidFill>
                <a:latin typeface="Consolas"/>
              </a:rPr>
              <a:t>break</a:t>
            </a:r>
          </a:p>
        </p:txBody>
      </p:sp>
      <p:sp>
        <p:nvSpPr>
          <p:cNvPr id="14" name="Rounded Rectangle 13"/>
          <p:cNvSpPr/>
          <p:nvPr/>
        </p:nvSpPr>
        <p:spPr>
          <a:xfrm>
            <a:off x="7406640" y="3200400"/>
            <a:ext cx="1600200" cy="1280160"/>
          </a:xfrm>
          <a:prstGeom prst="roundRect">
            <a:avLst>
              <a:gd name="adj" fmla="val 10000"/>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06640" y="3566160"/>
            <a:ext cx="1600200" cy="457200"/>
          </a:xfrm>
          <a:prstGeom prst="rect">
            <a:avLst/>
          </a:prstGeom>
          <a:noFill/>
        </p:spPr>
        <p:txBody>
          <a:bodyPr wrap="square">
            <a:spAutoFit/>
          </a:bodyPr>
          <a:lstStyle/>
          <a:p>
            <a:pPr algn="ctr"/>
            <a:r>
              <a:rPr sz="1400" b="1">
                <a:solidFill>
                  <a:srgbClr val="0066CC"/>
                </a:solidFill>
                <a:latin typeface="Consolas"/>
              </a:rPr>
              <a:t>continue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2880"/>
            <a:ext cx="8229600" cy="320040"/>
          </a:xfrm>
          <a:prstGeom prst="rect">
            <a:avLst/>
          </a:prstGeom>
          <a:noFill/>
        </p:spPr>
        <p:txBody>
          <a:bodyPr wrap="square">
            <a:spAutoFit/>
          </a:bodyPr>
          <a:lstStyle/>
          <a:p>
            <a:pPr algn="l"/>
            <a:r>
              <a:rPr sz="2400" b="1">
                <a:solidFill>
                  <a:srgbClr val="0066CC"/>
                </a:solidFill>
                <a:latin typeface="Arial"/>
              </a:rPr>
              <a:t>FOR LOOP</a:t>
            </a:r>
          </a:p>
        </p:txBody>
      </p:sp>
      <p:sp>
        <p:nvSpPr>
          <p:cNvPr id="3" name="TextBox 2"/>
          <p:cNvSpPr txBox="1"/>
          <p:nvPr/>
        </p:nvSpPr>
        <p:spPr>
          <a:xfrm>
            <a:off x="457200" y="594360"/>
            <a:ext cx="8229600" cy="274320"/>
          </a:xfrm>
          <a:prstGeom prst="rect">
            <a:avLst/>
          </a:prstGeom>
          <a:noFill/>
        </p:spPr>
        <p:txBody>
          <a:bodyPr wrap="square">
            <a:spAutoFit/>
          </a:bodyPr>
          <a:lstStyle/>
          <a:p>
            <a:pPr algn="l"/>
            <a:r>
              <a:rPr sz="1300" b="0">
                <a:solidFill>
                  <a:srgbClr val="334155"/>
                </a:solidFill>
                <a:latin typeface="Arial"/>
              </a:rPr>
              <a:t>Start → keep repeating while condition is true → step after each iteration</a:t>
            </a:r>
          </a:p>
        </p:txBody>
      </p:sp>
      <p:sp>
        <p:nvSpPr>
          <p:cNvPr id="4" name="Rounded Rectangle 3"/>
          <p:cNvSpPr/>
          <p:nvPr/>
        </p:nvSpPr>
        <p:spPr>
          <a:xfrm>
            <a:off x="365760" y="1005840"/>
            <a:ext cx="8412480" cy="1828800"/>
          </a:xfrm>
          <a:prstGeom prst="roundRect">
            <a:avLst>
              <a:gd name="adj" fmla="val 10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234440"/>
            <a:ext cx="7863840" cy="320040"/>
          </a:xfrm>
          <a:prstGeom prst="rect">
            <a:avLst/>
          </a:prstGeom>
          <a:noFill/>
        </p:spPr>
        <p:txBody>
          <a:bodyPr wrap="square">
            <a:spAutoFit/>
          </a:bodyPr>
          <a:lstStyle/>
          <a:p>
            <a:pPr algn="l"/>
            <a:r>
              <a:rPr sz="1600" b="0">
                <a:solidFill>
                  <a:srgbClr val="7DD3FC"/>
                </a:solidFill>
                <a:latin typeface="Consolas"/>
              </a:rPr>
              <a:t>for (let i = 1; i &lt;= 5; i++) {</a:t>
            </a:r>
          </a:p>
        </p:txBody>
      </p:sp>
      <p:sp>
        <p:nvSpPr>
          <p:cNvPr id="6" name="TextBox 5"/>
          <p:cNvSpPr txBox="1"/>
          <p:nvPr/>
        </p:nvSpPr>
        <p:spPr>
          <a:xfrm>
            <a:off x="1005840" y="1691640"/>
            <a:ext cx="7498079" cy="320040"/>
          </a:xfrm>
          <a:prstGeom prst="rect">
            <a:avLst/>
          </a:prstGeom>
          <a:noFill/>
        </p:spPr>
        <p:txBody>
          <a:bodyPr wrap="square">
            <a:spAutoFit/>
          </a:bodyPr>
          <a:lstStyle/>
          <a:p>
            <a:pPr algn="l"/>
            <a:r>
              <a:rPr sz="1600" b="0">
                <a:solidFill>
                  <a:srgbClr val="FFFFFF"/>
                </a:solidFill>
                <a:latin typeface="Consolas"/>
              </a:rPr>
              <a:t>console.log(i);</a:t>
            </a:r>
          </a:p>
        </p:txBody>
      </p:sp>
      <p:sp>
        <p:nvSpPr>
          <p:cNvPr id="7" name="TextBox 6"/>
          <p:cNvSpPr txBox="1"/>
          <p:nvPr/>
        </p:nvSpPr>
        <p:spPr>
          <a:xfrm>
            <a:off x="640080" y="2148840"/>
            <a:ext cx="7863840" cy="320040"/>
          </a:xfrm>
          <a:prstGeom prst="rect">
            <a:avLst/>
          </a:prstGeom>
          <a:noFill/>
        </p:spPr>
        <p:txBody>
          <a:bodyPr wrap="square">
            <a:spAutoFit/>
          </a:bodyPr>
          <a:lstStyle/>
          <a:p>
            <a:pPr algn="l"/>
            <a:r>
              <a:rPr sz="1600" b="0">
                <a:solidFill>
                  <a:srgbClr val="7DD3FC"/>
                </a:solidFill>
                <a:latin typeface="Consolas"/>
              </a:rPr>
              <a:t>}</a:t>
            </a:r>
          </a:p>
        </p:txBody>
      </p:sp>
      <p:sp>
        <p:nvSpPr>
          <p:cNvPr id="8" name="TextBox 7"/>
          <p:cNvSpPr txBox="1"/>
          <p:nvPr/>
        </p:nvSpPr>
        <p:spPr>
          <a:xfrm>
            <a:off x="640080" y="2514600"/>
            <a:ext cx="7863840" cy="228600"/>
          </a:xfrm>
          <a:prstGeom prst="rect">
            <a:avLst/>
          </a:prstGeom>
          <a:noFill/>
        </p:spPr>
        <p:txBody>
          <a:bodyPr wrap="square">
            <a:spAutoFit/>
          </a:bodyPr>
          <a:lstStyle/>
          <a:p>
            <a:pPr algn="l"/>
            <a:r>
              <a:rPr sz="1300" b="0">
                <a:solidFill>
                  <a:srgbClr val="64748B"/>
                </a:solidFill>
                <a:latin typeface="Consolas"/>
              </a:rPr>
              <a:t>// Prints 1 through 5</a:t>
            </a:r>
          </a:p>
        </p:txBody>
      </p:sp>
      <p:sp>
        <p:nvSpPr>
          <p:cNvPr id="9" name="Rounded Rectangle 8"/>
          <p:cNvSpPr/>
          <p:nvPr/>
        </p:nvSpPr>
        <p:spPr>
          <a:xfrm>
            <a:off x="457200" y="3108960"/>
            <a:ext cx="2743200" cy="1463040"/>
          </a:xfrm>
          <a:prstGeom prst="roundRect">
            <a:avLst>
              <a:gd name="adj" fmla="val 10000"/>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3291840"/>
            <a:ext cx="2743200" cy="320040"/>
          </a:xfrm>
          <a:prstGeom prst="rect">
            <a:avLst/>
          </a:prstGeom>
          <a:noFill/>
        </p:spPr>
        <p:txBody>
          <a:bodyPr wrap="square">
            <a:spAutoFit/>
          </a:bodyPr>
          <a:lstStyle/>
          <a:p>
            <a:pPr algn="ctr"/>
            <a:r>
              <a:rPr sz="1300" b="1">
                <a:solidFill>
                  <a:srgbClr val="0066CC"/>
                </a:solidFill>
                <a:latin typeface="Arial"/>
              </a:rPr>
              <a:t>Initialization</a:t>
            </a:r>
          </a:p>
        </p:txBody>
      </p:sp>
      <p:sp>
        <p:nvSpPr>
          <p:cNvPr id="11" name="TextBox 10"/>
          <p:cNvSpPr txBox="1"/>
          <p:nvPr/>
        </p:nvSpPr>
        <p:spPr>
          <a:xfrm>
            <a:off x="457200" y="3840480"/>
            <a:ext cx="2743200" cy="365760"/>
          </a:xfrm>
          <a:prstGeom prst="rect">
            <a:avLst/>
          </a:prstGeom>
          <a:noFill/>
        </p:spPr>
        <p:txBody>
          <a:bodyPr wrap="square">
            <a:spAutoFit/>
          </a:bodyPr>
          <a:lstStyle/>
          <a:p>
            <a:pPr algn="ctr"/>
            <a:r>
              <a:rPr sz="1400" b="0">
                <a:solidFill>
                  <a:srgbClr val="1E293B"/>
                </a:solidFill>
                <a:latin typeface="Consolas"/>
              </a:rPr>
              <a:t>let i = 1</a:t>
            </a:r>
          </a:p>
        </p:txBody>
      </p:sp>
      <p:sp>
        <p:nvSpPr>
          <p:cNvPr id="12" name="Rounded Rectangle 11"/>
          <p:cNvSpPr/>
          <p:nvPr/>
        </p:nvSpPr>
        <p:spPr>
          <a:xfrm>
            <a:off x="3337560" y="3108960"/>
            <a:ext cx="2743200" cy="1463040"/>
          </a:xfrm>
          <a:prstGeom prst="roundRect">
            <a:avLst>
              <a:gd name="adj" fmla="val 10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337560" y="3291840"/>
            <a:ext cx="2743200" cy="320040"/>
          </a:xfrm>
          <a:prstGeom prst="rect">
            <a:avLst/>
          </a:prstGeom>
          <a:noFill/>
        </p:spPr>
        <p:txBody>
          <a:bodyPr wrap="square">
            <a:spAutoFit/>
          </a:bodyPr>
          <a:lstStyle/>
          <a:p>
            <a:pPr algn="ctr"/>
            <a:r>
              <a:rPr sz="1300" b="1">
                <a:solidFill>
                  <a:srgbClr val="0066CC"/>
                </a:solidFill>
                <a:latin typeface="Arial"/>
              </a:rPr>
              <a:t>Condition</a:t>
            </a:r>
          </a:p>
        </p:txBody>
      </p:sp>
      <p:sp>
        <p:nvSpPr>
          <p:cNvPr id="14" name="TextBox 13"/>
          <p:cNvSpPr txBox="1"/>
          <p:nvPr/>
        </p:nvSpPr>
        <p:spPr>
          <a:xfrm>
            <a:off x="3337560" y="3840480"/>
            <a:ext cx="2743200" cy="365760"/>
          </a:xfrm>
          <a:prstGeom prst="rect">
            <a:avLst/>
          </a:prstGeom>
          <a:noFill/>
        </p:spPr>
        <p:txBody>
          <a:bodyPr wrap="square">
            <a:spAutoFit/>
          </a:bodyPr>
          <a:lstStyle/>
          <a:p>
            <a:pPr algn="ctr"/>
            <a:r>
              <a:rPr sz="1400" b="0">
                <a:solidFill>
                  <a:srgbClr val="1E293B"/>
                </a:solidFill>
                <a:latin typeface="Consolas"/>
              </a:rPr>
              <a:t>i &lt;= 5</a:t>
            </a:r>
          </a:p>
        </p:txBody>
      </p:sp>
      <p:sp>
        <p:nvSpPr>
          <p:cNvPr id="15" name="Rounded Rectangle 14"/>
          <p:cNvSpPr/>
          <p:nvPr/>
        </p:nvSpPr>
        <p:spPr>
          <a:xfrm>
            <a:off x="6217920" y="3108960"/>
            <a:ext cx="2743200" cy="1463040"/>
          </a:xfrm>
          <a:prstGeom prst="roundRect">
            <a:avLst>
              <a:gd name="adj" fmla="val 10000"/>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17920" y="3291840"/>
            <a:ext cx="2743200" cy="320040"/>
          </a:xfrm>
          <a:prstGeom prst="rect">
            <a:avLst/>
          </a:prstGeom>
          <a:noFill/>
        </p:spPr>
        <p:txBody>
          <a:bodyPr wrap="square">
            <a:spAutoFit/>
          </a:bodyPr>
          <a:lstStyle/>
          <a:p>
            <a:pPr algn="ctr"/>
            <a:r>
              <a:rPr sz="1300" b="1">
                <a:solidFill>
                  <a:srgbClr val="0066CC"/>
                </a:solidFill>
                <a:latin typeface="Arial"/>
              </a:rPr>
              <a:t>Increment</a:t>
            </a:r>
          </a:p>
        </p:txBody>
      </p:sp>
      <p:sp>
        <p:nvSpPr>
          <p:cNvPr id="17" name="TextBox 16"/>
          <p:cNvSpPr txBox="1"/>
          <p:nvPr/>
        </p:nvSpPr>
        <p:spPr>
          <a:xfrm>
            <a:off x="6217920" y="3840480"/>
            <a:ext cx="2743200" cy="365760"/>
          </a:xfrm>
          <a:prstGeom prst="rect">
            <a:avLst/>
          </a:prstGeom>
          <a:noFill/>
        </p:spPr>
        <p:txBody>
          <a:bodyPr wrap="square">
            <a:spAutoFit/>
          </a:bodyPr>
          <a:lstStyle/>
          <a:p>
            <a:pPr algn="ctr"/>
            <a:r>
              <a:rPr sz="1400" b="0">
                <a:solidFill>
                  <a:srgbClr val="1E293B"/>
                </a:solidFill>
                <a:latin typeface="Consolas"/>
              </a:rPr>
              <a:t>i++</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8229600" cy="365760"/>
          </a:xfrm>
          <a:prstGeom prst="rect">
            <a:avLst/>
          </a:prstGeom>
          <a:noFill/>
        </p:spPr>
        <p:txBody>
          <a:bodyPr wrap="square">
            <a:spAutoFit/>
          </a:bodyPr>
          <a:lstStyle/>
          <a:p>
            <a:pPr algn="l"/>
            <a:r>
              <a:rPr sz="2200" b="1">
                <a:solidFill>
                  <a:srgbClr val="0066CC"/>
                </a:solidFill>
                <a:latin typeface="Arial"/>
              </a:rPr>
              <a:t>FOR LOOP — EXECUTION CYCLE</a:t>
            </a:r>
          </a:p>
        </p:txBody>
      </p:sp>
      <p:sp>
        <p:nvSpPr>
          <p:cNvPr id="3" name="Rounded Rectangle 2"/>
          <p:cNvSpPr/>
          <p:nvPr/>
        </p:nvSpPr>
        <p:spPr>
          <a:xfrm>
            <a:off x="2286000" y="822960"/>
            <a:ext cx="4572000" cy="640080"/>
          </a:xfrm>
          <a:prstGeom prst="roundRect">
            <a:avLst>
              <a:gd name="adj" fmla="val 8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0" y="960120"/>
            <a:ext cx="4572000" cy="365760"/>
          </a:xfrm>
          <a:prstGeom prst="rect">
            <a:avLst/>
          </a:prstGeom>
          <a:noFill/>
        </p:spPr>
        <p:txBody>
          <a:bodyPr wrap="square">
            <a:spAutoFit/>
          </a:bodyPr>
          <a:lstStyle/>
          <a:p>
            <a:pPr algn="ctr"/>
            <a:r>
              <a:rPr sz="1600" b="1">
                <a:solidFill>
                  <a:srgbClr val="0066CC"/>
                </a:solidFill>
                <a:latin typeface="Consolas"/>
              </a:rPr>
              <a:t>i = 1</a:t>
            </a:r>
          </a:p>
        </p:txBody>
      </p:sp>
      <p:sp>
        <p:nvSpPr>
          <p:cNvPr id="5" name="Rounded Rectangle 4"/>
          <p:cNvSpPr/>
          <p:nvPr/>
        </p:nvSpPr>
        <p:spPr>
          <a:xfrm>
            <a:off x="2286000" y="1554480"/>
            <a:ext cx="4572000" cy="640080"/>
          </a:xfrm>
          <a:prstGeom prst="roundRect">
            <a:avLst>
              <a:gd name="adj" fmla="val 8000"/>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286000" y="1691640"/>
            <a:ext cx="4572000" cy="365760"/>
          </a:xfrm>
          <a:prstGeom prst="rect">
            <a:avLst/>
          </a:prstGeom>
          <a:noFill/>
        </p:spPr>
        <p:txBody>
          <a:bodyPr wrap="square">
            <a:spAutoFit/>
          </a:bodyPr>
          <a:lstStyle/>
          <a:p>
            <a:pPr algn="ctr"/>
            <a:r>
              <a:rPr sz="1600" b="1">
                <a:solidFill>
                  <a:srgbClr val="0066CC"/>
                </a:solidFill>
                <a:latin typeface="Consolas"/>
              </a:rPr>
              <a:t>i &lt;= 5 ?</a:t>
            </a:r>
          </a:p>
        </p:txBody>
      </p:sp>
      <p:sp>
        <p:nvSpPr>
          <p:cNvPr id="7" name="Rounded Rectangle 6"/>
          <p:cNvSpPr/>
          <p:nvPr/>
        </p:nvSpPr>
        <p:spPr>
          <a:xfrm>
            <a:off x="2286000" y="2286000"/>
            <a:ext cx="4572000" cy="640080"/>
          </a:xfrm>
          <a:prstGeom prst="roundRect">
            <a:avLst>
              <a:gd name="adj" fmla="val 8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286000" y="2423160"/>
            <a:ext cx="4572000" cy="365760"/>
          </a:xfrm>
          <a:prstGeom prst="rect">
            <a:avLst/>
          </a:prstGeom>
          <a:noFill/>
        </p:spPr>
        <p:txBody>
          <a:bodyPr wrap="square">
            <a:spAutoFit/>
          </a:bodyPr>
          <a:lstStyle/>
          <a:p>
            <a:pPr algn="ctr"/>
            <a:r>
              <a:rPr sz="1600" b="1">
                <a:solidFill>
                  <a:srgbClr val="0066CC"/>
                </a:solidFill>
                <a:latin typeface="Consolas"/>
              </a:rPr>
              <a:t>Run code</a:t>
            </a:r>
          </a:p>
        </p:txBody>
      </p:sp>
      <p:sp>
        <p:nvSpPr>
          <p:cNvPr id="9" name="Rounded Rectangle 8"/>
          <p:cNvSpPr/>
          <p:nvPr/>
        </p:nvSpPr>
        <p:spPr>
          <a:xfrm>
            <a:off x="2286000" y="3017520"/>
            <a:ext cx="4572000" cy="640080"/>
          </a:xfrm>
          <a:prstGeom prst="roundRect">
            <a:avLst>
              <a:gd name="adj" fmla="val 8000"/>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286000" y="3154680"/>
            <a:ext cx="4572000" cy="365760"/>
          </a:xfrm>
          <a:prstGeom prst="rect">
            <a:avLst/>
          </a:prstGeom>
          <a:noFill/>
        </p:spPr>
        <p:txBody>
          <a:bodyPr wrap="square">
            <a:spAutoFit/>
          </a:bodyPr>
          <a:lstStyle/>
          <a:p>
            <a:pPr algn="ctr"/>
            <a:r>
              <a:rPr sz="1600" b="1">
                <a:solidFill>
                  <a:srgbClr val="0066CC"/>
                </a:solidFill>
                <a:latin typeface="Consolas"/>
              </a:rPr>
              <a:t>i++</a:t>
            </a:r>
          </a:p>
        </p:txBody>
      </p:sp>
      <p:sp>
        <p:nvSpPr>
          <p:cNvPr id="11" name="Rounded Rectangle 10"/>
          <p:cNvSpPr/>
          <p:nvPr/>
        </p:nvSpPr>
        <p:spPr>
          <a:xfrm>
            <a:off x="2286000" y="3749040"/>
            <a:ext cx="4572000" cy="640080"/>
          </a:xfrm>
          <a:prstGeom prst="roundRect">
            <a:avLst>
              <a:gd name="adj" fmla="val 8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286000" y="3886200"/>
            <a:ext cx="4572000" cy="365760"/>
          </a:xfrm>
          <a:prstGeom prst="rect">
            <a:avLst/>
          </a:prstGeom>
          <a:noFill/>
        </p:spPr>
        <p:txBody>
          <a:bodyPr wrap="square">
            <a:spAutoFit/>
          </a:bodyPr>
          <a:lstStyle/>
          <a:p>
            <a:pPr algn="ctr"/>
            <a:r>
              <a:rPr sz="1600" b="1">
                <a:solidFill>
                  <a:srgbClr val="0066CC"/>
                </a:solidFill>
                <a:latin typeface="Consolas"/>
              </a:rPr>
              <a:t>Check again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2880"/>
            <a:ext cx="8229600" cy="320040"/>
          </a:xfrm>
          <a:prstGeom prst="rect">
            <a:avLst/>
          </a:prstGeom>
          <a:noFill/>
        </p:spPr>
        <p:txBody>
          <a:bodyPr wrap="square">
            <a:spAutoFit/>
          </a:bodyPr>
          <a:lstStyle/>
          <a:p>
            <a:pPr algn="l"/>
            <a:r>
              <a:rPr sz="2400" b="1">
                <a:solidFill>
                  <a:srgbClr val="0066CC"/>
                </a:solidFill>
                <a:latin typeface="Arial"/>
              </a:rPr>
              <a:t>WHILE LOOP</a:t>
            </a:r>
          </a:p>
        </p:txBody>
      </p:sp>
      <p:sp>
        <p:nvSpPr>
          <p:cNvPr id="3" name="TextBox 2"/>
          <p:cNvSpPr txBox="1"/>
          <p:nvPr/>
        </p:nvSpPr>
        <p:spPr>
          <a:xfrm>
            <a:off x="457200" y="594360"/>
            <a:ext cx="8229600" cy="274320"/>
          </a:xfrm>
          <a:prstGeom prst="rect">
            <a:avLst/>
          </a:prstGeom>
          <a:noFill/>
        </p:spPr>
        <p:txBody>
          <a:bodyPr wrap="square">
            <a:spAutoFit/>
          </a:bodyPr>
          <a:lstStyle/>
          <a:p>
            <a:pPr algn="l"/>
            <a:r>
              <a:rPr sz="1400" b="0">
                <a:solidFill>
                  <a:srgbClr val="334155"/>
                </a:solidFill>
                <a:latin typeface="Arial"/>
              </a:rPr>
              <a:t>Keep repeating while this condition is true</a:t>
            </a:r>
          </a:p>
        </p:txBody>
      </p:sp>
      <p:sp>
        <p:nvSpPr>
          <p:cNvPr id="4" name="Rounded Rectangle 3"/>
          <p:cNvSpPr/>
          <p:nvPr/>
        </p:nvSpPr>
        <p:spPr>
          <a:xfrm>
            <a:off x="365760" y="1051560"/>
            <a:ext cx="8412480" cy="2194560"/>
          </a:xfrm>
          <a:prstGeom prst="roundRect">
            <a:avLst>
              <a:gd name="adj" fmla="val 10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280160"/>
            <a:ext cx="7863840" cy="274320"/>
          </a:xfrm>
          <a:prstGeom prst="rect">
            <a:avLst/>
          </a:prstGeom>
          <a:noFill/>
        </p:spPr>
        <p:txBody>
          <a:bodyPr wrap="square">
            <a:spAutoFit/>
          </a:bodyPr>
          <a:lstStyle/>
          <a:p>
            <a:pPr algn="l"/>
            <a:r>
              <a:rPr sz="1500" b="0">
                <a:solidFill>
                  <a:srgbClr val="FFFFFF"/>
                </a:solidFill>
                <a:latin typeface="Consolas"/>
              </a:rPr>
              <a:t>let count = 1;</a:t>
            </a:r>
          </a:p>
        </p:txBody>
      </p:sp>
      <p:sp>
        <p:nvSpPr>
          <p:cNvPr id="6" name="TextBox 5"/>
          <p:cNvSpPr txBox="1"/>
          <p:nvPr/>
        </p:nvSpPr>
        <p:spPr>
          <a:xfrm>
            <a:off x="640080" y="1737360"/>
            <a:ext cx="7863840" cy="274320"/>
          </a:xfrm>
          <a:prstGeom prst="rect">
            <a:avLst/>
          </a:prstGeom>
          <a:noFill/>
        </p:spPr>
        <p:txBody>
          <a:bodyPr wrap="square">
            <a:spAutoFit/>
          </a:bodyPr>
          <a:lstStyle/>
          <a:p>
            <a:pPr algn="l"/>
            <a:r>
              <a:rPr sz="1500" b="0">
                <a:solidFill>
                  <a:srgbClr val="7DD3FC"/>
                </a:solidFill>
                <a:latin typeface="Consolas"/>
              </a:rPr>
              <a:t>while (count &lt;= 5) {</a:t>
            </a:r>
          </a:p>
        </p:txBody>
      </p:sp>
      <p:sp>
        <p:nvSpPr>
          <p:cNvPr id="7" name="TextBox 6"/>
          <p:cNvSpPr txBox="1"/>
          <p:nvPr/>
        </p:nvSpPr>
        <p:spPr>
          <a:xfrm>
            <a:off x="1005840" y="2194560"/>
            <a:ext cx="7498079" cy="274320"/>
          </a:xfrm>
          <a:prstGeom prst="rect">
            <a:avLst/>
          </a:prstGeom>
          <a:noFill/>
        </p:spPr>
        <p:txBody>
          <a:bodyPr wrap="square">
            <a:spAutoFit/>
          </a:bodyPr>
          <a:lstStyle/>
          <a:p>
            <a:pPr algn="l"/>
            <a:r>
              <a:rPr sz="1500" b="0">
                <a:solidFill>
                  <a:srgbClr val="FFFFFF"/>
                </a:solidFill>
                <a:latin typeface="Consolas"/>
              </a:rPr>
              <a:t>console.log(count);</a:t>
            </a:r>
          </a:p>
        </p:txBody>
      </p:sp>
      <p:sp>
        <p:nvSpPr>
          <p:cNvPr id="8" name="TextBox 7"/>
          <p:cNvSpPr txBox="1"/>
          <p:nvPr/>
        </p:nvSpPr>
        <p:spPr>
          <a:xfrm>
            <a:off x="1005840" y="2606040"/>
            <a:ext cx="7498079" cy="274320"/>
          </a:xfrm>
          <a:prstGeom prst="rect">
            <a:avLst/>
          </a:prstGeom>
          <a:noFill/>
        </p:spPr>
        <p:txBody>
          <a:bodyPr wrap="square">
            <a:spAutoFit/>
          </a:bodyPr>
          <a:lstStyle/>
          <a:p>
            <a:pPr algn="l"/>
            <a:r>
              <a:rPr sz="1500" b="0">
                <a:solidFill>
                  <a:srgbClr val="FFFFFF"/>
                </a:solidFill>
                <a:latin typeface="Consolas"/>
              </a:rPr>
              <a:t>count++;</a:t>
            </a:r>
          </a:p>
        </p:txBody>
      </p:sp>
      <p:sp>
        <p:nvSpPr>
          <p:cNvPr id="9" name="TextBox 8"/>
          <p:cNvSpPr txBox="1"/>
          <p:nvPr/>
        </p:nvSpPr>
        <p:spPr>
          <a:xfrm>
            <a:off x="640080" y="2971800"/>
            <a:ext cx="7863840" cy="228600"/>
          </a:xfrm>
          <a:prstGeom prst="rect">
            <a:avLst/>
          </a:prstGeom>
          <a:noFill/>
        </p:spPr>
        <p:txBody>
          <a:bodyPr wrap="square">
            <a:spAutoFit/>
          </a:bodyPr>
          <a:lstStyle/>
          <a:p>
            <a:pPr algn="l"/>
            <a:r>
              <a:rPr sz="1500" b="0">
                <a:solidFill>
                  <a:srgbClr val="7DD3FC"/>
                </a:solidFill>
                <a:latin typeface="Consolas"/>
              </a:rPr>
              <a:t>}</a:t>
            </a:r>
          </a:p>
        </p:txBody>
      </p:sp>
      <p:sp>
        <p:nvSpPr>
          <p:cNvPr id="10" name="Rounded Rectangle 9"/>
          <p:cNvSpPr/>
          <p:nvPr/>
        </p:nvSpPr>
        <p:spPr>
          <a:xfrm>
            <a:off x="457200" y="3520440"/>
            <a:ext cx="8229600" cy="1097280"/>
          </a:xfrm>
          <a:prstGeom prst="roundRect">
            <a:avLst>
              <a:gd name="adj" fmla="val 10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3749039"/>
            <a:ext cx="7680960" cy="640080"/>
          </a:xfrm>
          <a:prstGeom prst="rect">
            <a:avLst/>
          </a:prstGeom>
          <a:noFill/>
        </p:spPr>
        <p:txBody>
          <a:bodyPr wrap="square">
            <a:spAutoFit/>
          </a:bodyPr>
          <a:lstStyle/>
          <a:p>
            <a:pPr algn="l"/>
            <a:r>
              <a:rPr sz="1300" b="0">
                <a:solidFill>
                  <a:srgbClr val="1E293B"/>
                </a:solidFill>
                <a:latin typeface="Arial"/>
              </a:rPr>
              <a:t>Condition TRUE → Execute → Update → Check again
Condition FALSE → Stop
Always update the variable so the loop can eventually stop.</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2880"/>
            <a:ext cx="8229600" cy="320040"/>
          </a:xfrm>
          <a:prstGeom prst="rect">
            <a:avLst/>
          </a:prstGeom>
          <a:noFill/>
        </p:spPr>
        <p:txBody>
          <a:bodyPr wrap="square">
            <a:spAutoFit/>
          </a:bodyPr>
          <a:lstStyle/>
          <a:p>
            <a:pPr algn="l"/>
            <a:r>
              <a:rPr sz="2400" b="1">
                <a:solidFill>
                  <a:srgbClr val="0066CC"/>
                </a:solidFill>
                <a:latin typeface="Consolas"/>
              </a:rPr>
              <a:t>for...of</a:t>
            </a:r>
          </a:p>
        </p:txBody>
      </p:sp>
      <p:sp>
        <p:nvSpPr>
          <p:cNvPr id="3" name="TextBox 2"/>
          <p:cNvSpPr txBox="1"/>
          <p:nvPr/>
        </p:nvSpPr>
        <p:spPr>
          <a:xfrm>
            <a:off x="457200" y="594360"/>
            <a:ext cx="8229600" cy="274320"/>
          </a:xfrm>
          <a:prstGeom prst="rect">
            <a:avLst/>
          </a:prstGeom>
          <a:noFill/>
        </p:spPr>
        <p:txBody>
          <a:bodyPr wrap="square">
            <a:spAutoFit/>
          </a:bodyPr>
          <a:lstStyle/>
          <a:p>
            <a:pPr algn="l"/>
            <a:r>
              <a:rPr sz="1400" b="0">
                <a:solidFill>
                  <a:srgbClr val="334155"/>
                </a:solidFill>
                <a:latin typeface="Arial"/>
              </a:rPr>
              <a:t>Loops through the values inside an Array one by one</a:t>
            </a:r>
          </a:p>
        </p:txBody>
      </p:sp>
      <p:sp>
        <p:nvSpPr>
          <p:cNvPr id="4" name="Rounded Rectangle 3"/>
          <p:cNvSpPr/>
          <p:nvPr/>
        </p:nvSpPr>
        <p:spPr>
          <a:xfrm>
            <a:off x="365760" y="1051560"/>
            <a:ext cx="8412480" cy="2286000"/>
          </a:xfrm>
          <a:prstGeom prst="roundRect">
            <a:avLst>
              <a:gd name="adj" fmla="val 10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280160"/>
            <a:ext cx="7863840" cy="274320"/>
          </a:xfrm>
          <a:prstGeom prst="rect">
            <a:avLst/>
          </a:prstGeom>
          <a:noFill/>
        </p:spPr>
        <p:txBody>
          <a:bodyPr wrap="square">
            <a:spAutoFit/>
          </a:bodyPr>
          <a:lstStyle/>
          <a:p>
            <a:pPr algn="l"/>
            <a:r>
              <a:rPr sz="1400" b="0">
                <a:solidFill>
                  <a:srgbClr val="FFFFFF"/>
                </a:solidFill>
                <a:latin typeface="Consolas"/>
              </a:rPr>
              <a:t>let students = ["Ahmed", "Sara", "Omar"];</a:t>
            </a:r>
          </a:p>
        </p:txBody>
      </p:sp>
      <p:sp>
        <p:nvSpPr>
          <p:cNvPr id="6" name="TextBox 5"/>
          <p:cNvSpPr txBox="1"/>
          <p:nvPr/>
        </p:nvSpPr>
        <p:spPr>
          <a:xfrm>
            <a:off x="640080" y="1783080"/>
            <a:ext cx="7863840" cy="274320"/>
          </a:xfrm>
          <a:prstGeom prst="rect">
            <a:avLst/>
          </a:prstGeom>
          <a:noFill/>
        </p:spPr>
        <p:txBody>
          <a:bodyPr wrap="square">
            <a:spAutoFit/>
          </a:bodyPr>
          <a:lstStyle/>
          <a:p>
            <a:pPr algn="l"/>
            <a:r>
              <a:rPr sz="1400" b="0">
                <a:solidFill>
                  <a:srgbClr val="7DD3FC"/>
                </a:solidFill>
                <a:latin typeface="Consolas"/>
              </a:rPr>
              <a:t>for (let student of students) {</a:t>
            </a:r>
          </a:p>
        </p:txBody>
      </p:sp>
      <p:sp>
        <p:nvSpPr>
          <p:cNvPr id="7" name="TextBox 6"/>
          <p:cNvSpPr txBox="1"/>
          <p:nvPr/>
        </p:nvSpPr>
        <p:spPr>
          <a:xfrm>
            <a:off x="1005840" y="2286000"/>
            <a:ext cx="7498079" cy="274320"/>
          </a:xfrm>
          <a:prstGeom prst="rect">
            <a:avLst/>
          </a:prstGeom>
          <a:noFill/>
        </p:spPr>
        <p:txBody>
          <a:bodyPr wrap="square">
            <a:spAutoFit/>
          </a:bodyPr>
          <a:lstStyle/>
          <a:p>
            <a:pPr algn="l"/>
            <a:r>
              <a:rPr sz="1400" b="0">
                <a:solidFill>
                  <a:srgbClr val="FFFFFF"/>
                </a:solidFill>
                <a:latin typeface="Consolas"/>
              </a:rPr>
              <a:t>console.log(student);</a:t>
            </a:r>
          </a:p>
        </p:txBody>
      </p:sp>
      <p:sp>
        <p:nvSpPr>
          <p:cNvPr id="8" name="TextBox 7"/>
          <p:cNvSpPr txBox="1"/>
          <p:nvPr/>
        </p:nvSpPr>
        <p:spPr>
          <a:xfrm>
            <a:off x="640080" y="2788920"/>
            <a:ext cx="7863840" cy="274320"/>
          </a:xfrm>
          <a:prstGeom prst="rect">
            <a:avLst/>
          </a:prstGeom>
          <a:noFill/>
        </p:spPr>
        <p:txBody>
          <a:bodyPr wrap="square">
            <a:spAutoFit/>
          </a:bodyPr>
          <a:lstStyle/>
          <a:p>
            <a:pPr algn="l"/>
            <a:r>
              <a:rPr sz="1400" b="0">
                <a:solidFill>
                  <a:srgbClr val="7DD3FC"/>
                </a:solidFill>
                <a:latin typeface="Consolas"/>
              </a:rPr>
              <a:t>}</a:t>
            </a:r>
          </a:p>
        </p:txBody>
      </p:sp>
      <p:sp>
        <p:nvSpPr>
          <p:cNvPr id="9" name="Rounded Rectangle 8"/>
          <p:cNvSpPr/>
          <p:nvPr/>
        </p:nvSpPr>
        <p:spPr>
          <a:xfrm>
            <a:off x="457200" y="3611880"/>
            <a:ext cx="8229600" cy="1005840"/>
          </a:xfrm>
          <a:prstGeom prst="roundRect">
            <a:avLst>
              <a:gd name="adj" fmla="val 10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3840480"/>
            <a:ext cx="7680960" cy="548640"/>
          </a:xfrm>
          <a:prstGeom prst="rect">
            <a:avLst/>
          </a:prstGeom>
          <a:noFill/>
        </p:spPr>
        <p:txBody>
          <a:bodyPr wrap="square">
            <a:spAutoFit/>
          </a:bodyPr>
          <a:lstStyle/>
          <a:p>
            <a:pPr algn="l"/>
            <a:r>
              <a:rPr sz="1400" b="0">
                <a:solidFill>
                  <a:srgbClr val="1E293B"/>
                </a:solidFill>
                <a:latin typeface="Arial"/>
              </a:rPr>
              <a:t>students → ["Ahmed", "Sara", "Omar"] → Ahmed → Sara → Omar</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2880"/>
            <a:ext cx="8229600" cy="320040"/>
          </a:xfrm>
          <a:prstGeom prst="rect">
            <a:avLst/>
          </a:prstGeom>
          <a:noFill/>
        </p:spPr>
        <p:txBody>
          <a:bodyPr wrap="square">
            <a:spAutoFit/>
          </a:bodyPr>
          <a:lstStyle/>
          <a:p>
            <a:pPr algn="l"/>
            <a:r>
              <a:rPr sz="2400" b="1">
                <a:solidFill>
                  <a:srgbClr val="0066CC"/>
                </a:solidFill>
                <a:latin typeface="Consolas"/>
              </a:rPr>
              <a:t>break  /  continue</a:t>
            </a:r>
          </a:p>
        </p:txBody>
      </p:sp>
      <p:sp>
        <p:nvSpPr>
          <p:cNvPr id="3" name="Rounded Rectangle 2"/>
          <p:cNvSpPr/>
          <p:nvPr/>
        </p:nvSpPr>
        <p:spPr>
          <a:xfrm>
            <a:off x="365760" y="685800"/>
            <a:ext cx="4114800" cy="1371600"/>
          </a:xfrm>
          <a:prstGeom prst="roundRect">
            <a:avLst>
              <a:gd name="adj" fmla="val 10000"/>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868680"/>
            <a:ext cx="3749039" cy="320040"/>
          </a:xfrm>
          <a:prstGeom prst="rect">
            <a:avLst/>
          </a:prstGeom>
          <a:noFill/>
        </p:spPr>
        <p:txBody>
          <a:bodyPr wrap="square">
            <a:spAutoFit/>
          </a:bodyPr>
          <a:lstStyle/>
          <a:p>
            <a:pPr algn="ctr"/>
            <a:r>
              <a:rPr sz="1800" b="1">
                <a:solidFill>
                  <a:srgbClr val="EF4444"/>
                </a:solidFill>
                <a:latin typeface="Consolas"/>
              </a:rPr>
              <a:t>break</a:t>
            </a:r>
          </a:p>
        </p:txBody>
      </p:sp>
      <p:sp>
        <p:nvSpPr>
          <p:cNvPr id="5" name="TextBox 4"/>
          <p:cNvSpPr txBox="1"/>
          <p:nvPr/>
        </p:nvSpPr>
        <p:spPr>
          <a:xfrm>
            <a:off x="548640" y="1371600"/>
            <a:ext cx="3749039" cy="457200"/>
          </a:xfrm>
          <a:prstGeom prst="rect">
            <a:avLst/>
          </a:prstGeom>
          <a:noFill/>
        </p:spPr>
        <p:txBody>
          <a:bodyPr wrap="square">
            <a:spAutoFit/>
          </a:bodyPr>
          <a:lstStyle/>
          <a:p>
            <a:pPr algn="ctr"/>
            <a:r>
              <a:rPr sz="1300" b="0">
                <a:solidFill>
                  <a:srgbClr val="334155"/>
                </a:solidFill>
                <a:latin typeface="Arial"/>
              </a:rPr>
              <a:t>Stops the entire loop
immediately</a:t>
            </a:r>
          </a:p>
        </p:txBody>
      </p:sp>
      <p:sp>
        <p:nvSpPr>
          <p:cNvPr id="6" name="Rounded Rectangle 5"/>
          <p:cNvSpPr/>
          <p:nvPr/>
        </p:nvSpPr>
        <p:spPr>
          <a:xfrm>
            <a:off x="4754880" y="685800"/>
            <a:ext cx="4023360" cy="1371600"/>
          </a:xfrm>
          <a:prstGeom prst="roundRect">
            <a:avLst>
              <a:gd name="adj" fmla="val 10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937760" y="868680"/>
            <a:ext cx="3657600" cy="320040"/>
          </a:xfrm>
          <a:prstGeom prst="rect">
            <a:avLst/>
          </a:prstGeom>
          <a:noFill/>
        </p:spPr>
        <p:txBody>
          <a:bodyPr wrap="square">
            <a:spAutoFit/>
          </a:bodyPr>
          <a:lstStyle/>
          <a:p>
            <a:pPr algn="ctr"/>
            <a:r>
              <a:rPr sz="1800" b="1">
                <a:solidFill>
                  <a:srgbClr val="0066CC"/>
                </a:solidFill>
                <a:latin typeface="Consolas"/>
              </a:rPr>
              <a:t>continue</a:t>
            </a:r>
          </a:p>
        </p:txBody>
      </p:sp>
      <p:sp>
        <p:nvSpPr>
          <p:cNvPr id="8" name="TextBox 7"/>
          <p:cNvSpPr txBox="1"/>
          <p:nvPr/>
        </p:nvSpPr>
        <p:spPr>
          <a:xfrm>
            <a:off x="4937760" y="1371600"/>
            <a:ext cx="3657600" cy="457200"/>
          </a:xfrm>
          <a:prstGeom prst="rect">
            <a:avLst/>
          </a:prstGeom>
          <a:noFill/>
        </p:spPr>
        <p:txBody>
          <a:bodyPr wrap="square">
            <a:spAutoFit/>
          </a:bodyPr>
          <a:lstStyle/>
          <a:p>
            <a:pPr algn="ctr"/>
            <a:r>
              <a:rPr sz="1300" b="0">
                <a:solidFill>
                  <a:srgbClr val="1E293B"/>
                </a:solidFill>
                <a:latin typeface="Arial"/>
              </a:rPr>
              <a:t>Skips only the current
iteration — keeps looping</a:t>
            </a:r>
          </a:p>
        </p:txBody>
      </p:sp>
      <p:sp>
        <p:nvSpPr>
          <p:cNvPr id="9" name="Rounded Rectangle 8"/>
          <p:cNvSpPr/>
          <p:nvPr/>
        </p:nvSpPr>
        <p:spPr>
          <a:xfrm>
            <a:off x="365760" y="2286000"/>
            <a:ext cx="4114800" cy="2377440"/>
          </a:xfrm>
          <a:prstGeom prst="roundRect">
            <a:avLst>
              <a:gd name="adj" fmla="val 10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2468880"/>
            <a:ext cx="3840480" cy="228600"/>
          </a:xfrm>
          <a:prstGeom prst="rect">
            <a:avLst/>
          </a:prstGeom>
          <a:noFill/>
        </p:spPr>
        <p:txBody>
          <a:bodyPr wrap="square">
            <a:spAutoFit/>
          </a:bodyPr>
          <a:lstStyle/>
          <a:p>
            <a:pPr algn="l"/>
            <a:r>
              <a:rPr sz="1100" b="0">
                <a:solidFill>
                  <a:srgbClr val="7DD3FC"/>
                </a:solidFill>
                <a:latin typeface="Consolas"/>
              </a:rPr>
              <a:t>for (let i = 1; i &lt;= 10; i++) {</a:t>
            </a:r>
          </a:p>
        </p:txBody>
      </p:sp>
      <p:sp>
        <p:nvSpPr>
          <p:cNvPr id="11" name="TextBox 10"/>
          <p:cNvSpPr txBox="1"/>
          <p:nvPr/>
        </p:nvSpPr>
        <p:spPr>
          <a:xfrm>
            <a:off x="685800" y="2834640"/>
            <a:ext cx="3657600" cy="228600"/>
          </a:xfrm>
          <a:prstGeom prst="rect">
            <a:avLst/>
          </a:prstGeom>
          <a:noFill/>
        </p:spPr>
        <p:txBody>
          <a:bodyPr wrap="square">
            <a:spAutoFit/>
          </a:bodyPr>
          <a:lstStyle/>
          <a:p>
            <a:pPr algn="l"/>
            <a:r>
              <a:rPr sz="1100" b="0">
                <a:solidFill>
                  <a:srgbClr val="FFFFFF"/>
                </a:solidFill>
                <a:latin typeface="Consolas"/>
              </a:rPr>
              <a:t>if (i === 6) {</a:t>
            </a:r>
          </a:p>
        </p:txBody>
      </p:sp>
      <p:sp>
        <p:nvSpPr>
          <p:cNvPr id="12" name="TextBox 11"/>
          <p:cNvSpPr txBox="1"/>
          <p:nvPr/>
        </p:nvSpPr>
        <p:spPr>
          <a:xfrm>
            <a:off x="868680" y="3200400"/>
            <a:ext cx="3474720" cy="228600"/>
          </a:xfrm>
          <a:prstGeom prst="rect">
            <a:avLst/>
          </a:prstGeom>
          <a:noFill/>
        </p:spPr>
        <p:txBody>
          <a:bodyPr wrap="square">
            <a:spAutoFit/>
          </a:bodyPr>
          <a:lstStyle/>
          <a:p>
            <a:pPr algn="l"/>
            <a:r>
              <a:rPr sz="1100" b="0">
                <a:solidFill>
                  <a:srgbClr val="EF4444"/>
                </a:solidFill>
                <a:latin typeface="Consolas"/>
              </a:rPr>
              <a:t>break; // Stops at 6</a:t>
            </a:r>
          </a:p>
        </p:txBody>
      </p:sp>
      <p:sp>
        <p:nvSpPr>
          <p:cNvPr id="13" name="TextBox 12"/>
          <p:cNvSpPr txBox="1"/>
          <p:nvPr/>
        </p:nvSpPr>
        <p:spPr>
          <a:xfrm>
            <a:off x="685800" y="3566160"/>
            <a:ext cx="3657600" cy="228600"/>
          </a:xfrm>
          <a:prstGeom prst="rect">
            <a:avLst/>
          </a:prstGeom>
          <a:noFill/>
        </p:spPr>
        <p:txBody>
          <a:bodyPr wrap="square">
            <a:spAutoFit/>
          </a:bodyPr>
          <a:lstStyle/>
          <a:p>
            <a:pPr algn="l"/>
            <a:r>
              <a:rPr sz="1100" b="0">
                <a:solidFill>
                  <a:srgbClr val="FFFFFF"/>
                </a:solidFill>
                <a:latin typeface="Consolas"/>
              </a:rPr>
              <a:t>}</a:t>
            </a:r>
          </a:p>
        </p:txBody>
      </p:sp>
      <p:sp>
        <p:nvSpPr>
          <p:cNvPr id="14" name="TextBox 13"/>
          <p:cNvSpPr txBox="1"/>
          <p:nvPr/>
        </p:nvSpPr>
        <p:spPr>
          <a:xfrm>
            <a:off x="685800" y="3931920"/>
            <a:ext cx="3657600" cy="228600"/>
          </a:xfrm>
          <a:prstGeom prst="rect">
            <a:avLst/>
          </a:prstGeom>
          <a:noFill/>
        </p:spPr>
        <p:txBody>
          <a:bodyPr wrap="square">
            <a:spAutoFit/>
          </a:bodyPr>
          <a:lstStyle/>
          <a:p>
            <a:pPr algn="l"/>
            <a:r>
              <a:rPr sz="1100" b="0">
                <a:solidFill>
                  <a:srgbClr val="FFFFFF"/>
                </a:solidFill>
                <a:latin typeface="Consolas"/>
              </a:rPr>
              <a:t>console.log(i);</a:t>
            </a:r>
          </a:p>
        </p:txBody>
      </p:sp>
      <p:sp>
        <p:nvSpPr>
          <p:cNvPr id="15" name="TextBox 14"/>
          <p:cNvSpPr txBox="1"/>
          <p:nvPr/>
        </p:nvSpPr>
        <p:spPr>
          <a:xfrm>
            <a:off x="502920" y="4297680"/>
            <a:ext cx="3840480" cy="228600"/>
          </a:xfrm>
          <a:prstGeom prst="rect">
            <a:avLst/>
          </a:prstGeom>
          <a:noFill/>
        </p:spPr>
        <p:txBody>
          <a:bodyPr wrap="square">
            <a:spAutoFit/>
          </a:bodyPr>
          <a:lstStyle/>
          <a:p>
            <a:pPr algn="l"/>
            <a:r>
              <a:rPr sz="1100" b="0">
                <a:solidFill>
                  <a:srgbClr val="7DD3FC"/>
                </a:solidFill>
                <a:latin typeface="Consolas"/>
              </a:rPr>
              <a:t>}</a:t>
            </a:r>
          </a:p>
        </p:txBody>
      </p:sp>
      <p:sp>
        <p:nvSpPr>
          <p:cNvPr id="16" name="Rounded Rectangle 15"/>
          <p:cNvSpPr/>
          <p:nvPr/>
        </p:nvSpPr>
        <p:spPr>
          <a:xfrm>
            <a:off x="4754880" y="2286000"/>
            <a:ext cx="4023360" cy="2377440"/>
          </a:xfrm>
          <a:prstGeom prst="roundRect">
            <a:avLst>
              <a:gd name="adj" fmla="val 10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892040" y="2468880"/>
            <a:ext cx="3749039" cy="228600"/>
          </a:xfrm>
          <a:prstGeom prst="rect">
            <a:avLst/>
          </a:prstGeom>
          <a:noFill/>
        </p:spPr>
        <p:txBody>
          <a:bodyPr wrap="square">
            <a:spAutoFit/>
          </a:bodyPr>
          <a:lstStyle/>
          <a:p>
            <a:pPr algn="l"/>
            <a:r>
              <a:rPr sz="1100" b="0">
                <a:solidFill>
                  <a:srgbClr val="7DD3FC"/>
                </a:solidFill>
                <a:latin typeface="Consolas"/>
              </a:rPr>
              <a:t>for (let i = 1; i &lt;= 5; i++) {</a:t>
            </a:r>
          </a:p>
        </p:txBody>
      </p:sp>
      <p:sp>
        <p:nvSpPr>
          <p:cNvPr id="18" name="TextBox 17"/>
          <p:cNvSpPr txBox="1"/>
          <p:nvPr/>
        </p:nvSpPr>
        <p:spPr>
          <a:xfrm>
            <a:off x="5074920" y="2834640"/>
            <a:ext cx="3566160" cy="228600"/>
          </a:xfrm>
          <a:prstGeom prst="rect">
            <a:avLst/>
          </a:prstGeom>
          <a:noFill/>
        </p:spPr>
        <p:txBody>
          <a:bodyPr wrap="square">
            <a:spAutoFit/>
          </a:bodyPr>
          <a:lstStyle/>
          <a:p>
            <a:pPr algn="l"/>
            <a:r>
              <a:rPr sz="1100" b="0">
                <a:solidFill>
                  <a:srgbClr val="FFFFFF"/>
                </a:solidFill>
                <a:latin typeface="Consolas"/>
              </a:rPr>
              <a:t>if (i === 3) {</a:t>
            </a:r>
          </a:p>
        </p:txBody>
      </p:sp>
      <p:sp>
        <p:nvSpPr>
          <p:cNvPr id="19" name="TextBox 18"/>
          <p:cNvSpPr txBox="1"/>
          <p:nvPr/>
        </p:nvSpPr>
        <p:spPr>
          <a:xfrm>
            <a:off x="5257800" y="3200400"/>
            <a:ext cx="3383280" cy="228600"/>
          </a:xfrm>
          <a:prstGeom prst="rect">
            <a:avLst/>
          </a:prstGeom>
          <a:noFill/>
        </p:spPr>
        <p:txBody>
          <a:bodyPr wrap="square">
            <a:spAutoFit/>
          </a:bodyPr>
          <a:lstStyle/>
          <a:p>
            <a:pPr algn="l"/>
            <a:r>
              <a:rPr sz="1100" b="0">
                <a:solidFill>
                  <a:srgbClr val="FBBF24"/>
                </a:solidFill>
                <a:latin typeface="Consolas"/>
              </a:rPr>
              <a:t>continue; // Skips 3</a:t>
            </a:r>
          </a:p>
        </p:txBody>
      </p:sp>
      <p:sp>
        <p:nvSpPr>
          <p:cNvPr id="20" name="TextBox 19"/>
          <p:cNvSpPr txBox="1"/>
          <p:nvPr/>
        </p:nvSpPr>
        <p:spPr>
          <a:xfrm>
            <a:off x="5074920" y="3566160"/>
            <a:ext cx="3566160" cy="228600"/>
          </a:xfrm>
          <a:prstGeom prst="rect">
            <a:avLst/>
          </a:prstGeom>
          <a:noFill/>
        </p:spPr>
        <p:txBody>
          <a:bodyPr wrap="square">
            <a:spAutoFit/>
          </a:bodyPr>
          <a:lstStyle/>
          <a:p>
            <a:pPr algn="l"/>
            <a:r>
              <a:rPr sz="1100" b="0">
                <a:solidFill>
                  <a:srgbClr val="FFFFFF"/>
                </a:solidFill>
                <a:latin typeface="Consolas"/>
              </a:rPr>
              <a:t>}</a:t>
            </a:r>
          </a:p>
        </p:txBody>
      </p:sp>
      <p:sp>
        <p:nvSpPr>
          <p:cNvPr id="21" name="TextBox 20"/>
          <p:cNvSpPr txBox="1"/>
          <p:nvPr/>
        </p:nvSpPr>
        <p:spPr>
          <a:xfrm>
            <a:off x="5074920" y="3931920"/>
            <a:ext cx="3566160" cy="228600"/>
          </a:xfrm>
          <a:prstGeom prst="rect">
            <a:avLst/>
          </a:prstGeom>
          <a:noFill/>
        </p:spPr>
        <p:txBody>
          <a:bodyPr wrap="square">
            <a:spAutoFit/>
          </a:bodyPr>
          <a:lstStyle/>
          <a:p>
            <a:pPr algn="l"/>
            <a:r>
              <a:rPr sz="1100" b="0">
                <a:solidFill>
                  <a:srgbClr val="FFFFFF"/>
                </a:solidFill>
                <a:latin typeface="Consolas"/>
              </a:rPr>
              <a:t>console.log(i);</a:t>
            </a:r>
          </a:p>
        </p:txBody>
      </p:sp>
      <p:sp>
        <p:nvSpPr>
          <p:cNvPr id="22" name="TextBox 21"/>
          <p:cNvSpPr txBox="1"/>
          <p:nvPr/>
        </p:nvSpPr>
        <p:spPr>
          <a:xfrm>
            <a:off x="4892040" y="4297680"/>
            <a:ext cx="3749039" cy="228600"/>
          </a:xfrm>
          <a:prstGeom prst="rect">
            <a:avLst/>
          </a:prstGeom>
          <a:noFill/>
        </p:spPr>
        <p:txBody>
          <a:bodyPr wrap="square">
            <a:spAutoFit/>
          </a:bodyPr>
          <a:lstStyle/>
          <a:p>
            <a:pPr algn="l"/>
            <a:r>
              <a:rPr sz="1100" b="0">
                <a:solidFill>
                  <a:srgbClr val="7DD3FC"/>
                </a:solidFill>
                <a:latin typeface="Consolas"/>
              </a:rPr>
              <a: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37160"/>
            <a:ext cx="8229600" cy="307777"/>
          </a:xfrm>
          <a:prstGeom prst="rect">
            <a:avLst/>
          </a:prstGeom>
          <a:noFill/>
        </p:spPr>
        <p:txBody>
          <a:bodyPr wrap="square">
            <a:spAutoFit/>
          </a:bodyPr>
          <a:lstStyle/>
          <a:p>
            <a:pPr algn="l"/>
            <a:r>
              <a:rPr sz="1400" b="1" dirty="0">
                <a:solidFill>
                  <a:srgbClr val="0066CC"/>
                </a:solidFill>
                <a:latin typeface="Arial"/>
              </a:rPr>
              <a:t>TASK </a:t>
            </a:r>
            <a:r>
              <a:rPr lang="ar-EG" sz="1400" b="1" dirty="0">
                <a:solidFill>
                  <a:srgbClr val="0066CC"/>
                </a:solidFill>
                <a:latin typeface="Arial"/>
              </a:rPr>
              <a:t>1</a:t>
            </a:r>
            <a:endParaRPr sz="1400" b="1" dirty="0">
              <a:solidFill>
                <a:srgbClr val="0066CC"/>
              </a:solidFill>
              <a:latin typeface="Arial"/>
            </a:endParaRPr>
          </a:p>
        </p:txBody>
      </p:sp>
      <p:sp>
        <p:nvSpPr>
          <p:cNvPr id="3" name="TextBox 2"/>
          <p:cNvSpPr txBox="1"/>
          <p:nvPr/>
        </p:nvSpPr>
        <p:spPr>
          <a:xfrm>
            <a:off x="457200" y="457200"/>
            <a:ext cx="8229600" cy="365760"/>
          </a:xfrm>
          <a:prstGeom prst="rect">
            <a:avLst/>
          </a:prstGeom>
          <a:noFill/>
        </p:spPr>
        <p:txBody>
          <a:bodyPr wrap="square">
            <a:spAutoFit/>
          </a:bodyPr>
          <a:lstStyle/>
          <a:p>
            <a:pPr algn="l"/>
            <a:r>
              <a:rPr sz="2400" b="1">
                <a:solidFill>
                  <a:srgbClr val="0066CC"/>
                </a:solidFill>
                <a:latin typeface="Arial"/>
              </a:rPr>
              <a:t>Number Checker</a:t>
            </a:r>
          </a:p>
        </p:txBody>
      </p:sp>
      <p:sp>
        <p:nvSpPr>
          <p:cNvPr id="4" name="Rounded Rectangle 3"/>
          <p:cNvSpPr/>
          <p:nvPr/>
        </p:nvSpPr>
        <p:spPr>
          <a:xfrm>
            <a:off x="365760" y="1005840"/>
            <a:ext cx="8412480" cy="3200400"/>
          </a:xfrm>
          <a:prstGeom prst="roundRect">
            <a:avLst>
              <a:gd name="adj" fmla="val 10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188720"/>
            <a:ext cx="8046720" cy="274320"/>
          </a:xfrm>
          <a:prstGeom prst="rect">
            <a:avLst/>
          </a:prstGeom>
          <a:noFill/>
        </p:spPr>
        <p:txBody>
          <a:bodyPr wrap="square">
            <a:spAutoFit/>
          </a:bodyPr>
          <a:lstStyle/>
          <a:p>
            <a:pPr algn="l"/>
            <a:r>
              <a:rPr sz="1300" b="0">
                <a:solidFill>
                  <a:srgbClr val="1E293B"/>
                </a:solidFill>
                <a:latin typeface="Arial"/>
              </a:rPr>
              <a:t>Create a simple program to check numbers from 1 to 10.</a:t>
            </a:r>
          </a:p>
        </p:txBody>
      </p:sp>
      <p:sp>
        <p:nvSpPr>
          <p:cNvPr id="6" name="TextBox 5"/>
          <p:cNvSpPr txBox="1"/>
          <p:nvPr/>
        </p:nvSpPr>
        <p:spPr>
          <a:xfrm>
            <a:off x="548640" y="1645920"/>
            <a:ext cx="8046720" cy="320040"/>
          </a:xfrm>
          <a:prstGeom prst="rect">
            <a:avLst/>
          </a:prstGeom>
          <a:noFill/>
        </p:spPr>
        <p:txBody>
          <a:bodyPr wrap="square">
            <a:spAutoFit/>
          </a:bodyPr>
          <a:lstStyle/>
          <a:p>
            <a:pPr algn="l"/>
            <a:r>
              <a:rPr sz="1400" b="0">
                <a:solidFill>
                  <a:srgbClr val="1E293B"/>
                </a:solidFill>
                <a:latin typeface="Arial"/>
              </a:rPr>
              <a:t>1. Use a for loop to go from 1 to 10.</a:t>
            </a:r>
          </a:p>
        </p:txBody>
      </p:sp>
      <p:sp>
        <p:nvSpPr>
          <p:cNvPr id="7" name="TextBox 6"/>
          <p:cNvSpPr txBox="1"/>
          <p:nvPr/>
        </p:nvSpPr>
        <p:spPr>
          <a:xfrm>
            <a:off x="548640" y="2011680"/>
            <a:ext cx="8046720" cy="320040"/>
          </a:xfrm>
          <a:prstGeom prst="rect">
            <a:avLst/>
          </a:prstGeom>
          <a:noFill/>
        </p:spPr>
        <p:txBody>
          <a:bodyPr wrap="square">
            <a:spAutoFit/>
          </a:bodyPr>
          <a:lstStyle/>
          <a:p>
            <a:pPr algn="l"/>
            <a:r>
              <a:rPr sz="1400" b="0">
                <a:solidFill>
                  <a:srgbClr val="1E293B"/>
                </a:solidFill>
                <a:latin typeface="Arial"/>
              </a:rPr>
              <a:t>2. Print each number.</a:t>
            </a:r>
          </a:p>
        </p:txBody>
      </p:sp>
      <p:sp>
        <p:nvSpPr>
          <p:cNvPr id="8" name="TextBox 7"/>
          <p:cNvSpPr txBox="1"/>
          <p:nvPr/>
        </p:nvSpPr>
        <p:spPr>
          <a:xfrm>
            <a:off x="548640" y="2377440"/>
            <a:ext cx="8046720" cy="320040"/>
          </a:xfrm>
          <a:prstGeom prst="rect">
            <a:avLst/>
          </a:prstGeom>
          <a:noFill/>
        </p:spPr>
        <p:txBody>
          <a:bodyPr wrap="square">
            <a:spAutoFit/>
          </a:bodyPr>
          <a:lstStyle/>
          <a:p>
            <a:pPr algn="l"/>
            <a:r>
              <a:rPr sz="1400" b="0">
                <a:solidFill>
                  <a:srgbClr val="1E293B"/>
                </a:solidFill>
                <a:latin typeface="Arial"/>
              </a:rPr>
              <a:t>3. If the number is 5, skip it using continue.</a:t>
            </a:r>
          </a:p>
        </p:txBody>
      </p:sp>
      <p:sp>
        <p:nvSpPr>
          <p:cNvPr id="9" name="TextBox 8"/>
          <p:cNvSpPr txBox="1"/>
          <p:nvPr/>
        </p:nvSpPr>
        <p:spPr>
          <a:xfrm>
            <a:off x="548640" y="2743200"/>
            <a:ext cx="8046720" cy="320040"/>
          </a:xfrm>
          <a:prstGeom prst="rect">
            <a:avLst/>
          </a:prstGeom>
          <a:noFill/>
        </p:spPr>
        <p:txBody>
          <a:bodyPr wrap="square">
            <a:spAutoFit/>
          </a:bodyPr>
          <a:lstStyle/>
          <a:p>
            <a:pPr algn="l"/>
            <a:r>
              <a:rPr sz="1400" b="0">
                <a:solidFill>
                  <a:srgbClr val="1E293B"/>
                </a:solidFill>
                <a:latin typeface="Arial"/>
              </a:rPr>
              <a:t>4. If the number reaches 8, stop the loop using break.</a:t>
            </a:r>
          </a:p>
        </p:txBody>
      </p:sp>
      <p:sp>
        <p:nvSpPr>
          <p:cNvPr id="10" name="TextBox 9"/>
          <p:cNvSpPr txBox="1"/>
          <p:nvPr/>
        </p:nvSpPr>
        <p:spPr>
          <a:xfrm>
            <a:off x="548640" y="3108960"/>
            <a:ext cx="8046720" cy="320040"/>
          </a:xfrm>
          <a:prstGeom prst="rect">
            <a:avLst/>
          </a:prstGeom>
          <a:noFill/>
        </p:spPr>
        <p:txBody>
          <a:bodyPr wrap="square">
            <a:spAutoFit/>
          </a:bodyPr>
          <a:lstStyle/>
          <a:p>
            <a:pPr algn="l"/>
            <a:r>
              <a:rPr sz="1400" b="0">
                <a:solidFill>
                  <a:srgbClr val="1E293B"/>
                </a:solidFill>
                <a:latin typeface="Arial"/>
              </a:rPr>
              <a:t>5. Print "Even" if the number is even.</a:t>
            </a:r>
          </a:p>
        </p:txBody>
      </p:sp>
      <p:sp>
        <p:nvSpPr>
          <p:cNvPr id="11" name="TextBox 10"/>
          <p:cNvSpPr txBox="1"/>
          <p:nvPr/>
        </p:nvSpPr>
        <p:spPr>
          <a:xfrm>
            <a:off x="548640" y="3474720"/>
            <a:ext cx="8046720" cy="320040"/>
          </a:xfrm>
          <a:prstGeom prst="rect">
            <a:avLst/>
          </a:prstGeom>
          <a:noFill/>
        </p:spPr>
        <p:txBody>
          <a:bodyPr wrap="square">
            <a:spAutoFit/>
          </a:bodyPr>
          <a:lstStyle/>
          <a:p>
            <a:pPr algn="l"/>
            <a:r>
              <a:rPr sz="1400" b="0">
                <a:solidFill>
                  <a:srgbClr val="1E293B"/>
                </a:solidFill>
                <a:latin typeface="Arial"/>
              </a:rPr>
              <a:t>6. Print "Odd" if the number is odd.</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37160"/>
            <a:ext cx="8229600" cy="274320"/>
          </a:xfrm>
          <a:prstGeom prst="rect">
            <a:avLst/>
          </a:prstGeom>
          <a:noFill/>
        </p:spPr>
        <p:txBody>
          <a:bodyPr wrap="square">
            <a:spAutoFit/>
          </a:bodyPr>
          <a:lstStyle/>
          <a:p>
            <a:pPr algn="l"/>
            <a:r>
              <a:rPr sz="1600" b="1">
                <a:solidFill>
                  <a:srgbClr val="0066CC"/>
                </a:solidFill>
                <a:latin typeface="Arial"/>
              </a:rPr>
              <a:t>TASK 1 — REFERENCE SOLUTION</a:t>
            </a:r>
          </a:p>
        </p:txBody>
      </p:sp>
      <p:sp>
        <p:nvSpPr>
          <p:cNvPr id="3" name="Rounded Rectangle 2"/>
          <p:cNvSpPr/>
          <p:nvPr/>
        </p:nvSpPr>
        <p:spPr>
          <a:xfrm>
            <a:off x="274320" y="502920"/>
            <a:ext cx="8595360" cy="4114800"/>
          </a:xfrm>
          <a:prstGeom prst="roundRect">
            <a:avLst>
              <a:gd name="adj" fmla="val 10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640080"/>
            <a:ext cx="8229600" cy="256032"/>
          </a:xfrm>
          <a:prstGeom prst="rect">
            <a:avLst/>
          </a:prstGeom>
          <a:noFill/>
        </p:spPr>
        <p:txBody>
          <a:bodyPr wrap="square">
            <a:spAutoFit/>
          </a:bodyPr>
          <a:lstStyle/>
          <a:p>
            <a:pPr algn="l"/>
            <a:r>
              <a:rPr sz="1300" b="0">
                <a:solidFill>
                  <a:srgbClr val="7DD3FC"/>
                </a:solidFill>
                <a:latin typeface="Consolas"/>
              </a:rPr>
              <a:t>for (let i = 1; i &lt;= 10; i++) {</a:t>
            </a:r>
          </a:p>
        </p:txBody>
      </p:sp>
      <p:sp>
        <p:nvSpPr>
          <p:cNvPr id="5" name="TextBox 4"/>
          <p:cNvSpPr txBox="1"/>
          <p:nvPr/>
        </p:nvSpPr>
        <p:spPr>
          <a:xfrm>
            <a:off x="457200" y="914400"/>
            <a:ext cx="8229600" cy="256032"/>
          </a:xfrm>
          <a:prstGeom prst="rect">
            <a:avLst/>
          </a:prstGeom>
          <a:noFill/>
        </p:spPr>
        <p:txBody>
          <a:bodyPr wrap="square">
            <a:spAutoFit/>
          </a:bodyPr>
          <a:lstStyle/>
          <a:p>
            <a:pPr algn="l"/>
            <a:r>
              <a:rPr sz="1300" b="0">
                <a:solidFill>
                  <a:srgbClr val="FFFFFF"/>
                </a:solidFill>
                <a:latin typeface="Consolas"/>
              </a:rPr>
              <a:t>    if (i === 5) {</a:t>
            </a:r>
          </a:p>
        </p:txBody>
      </p:sp>
      <p:sp>
        <p:nvSpPr>
          <p:cNvPr id="6" name="TextBox 5"/>
          <p:cNvSpPr txBox="1"/>
          <p:nvPr/>
        </p:nvSpPr>
        <p:spPr>
          <a:xfrm>
            <a:off x="457200" y="1188719"/>
            <a:ext cx="8229600" cy="256032"/>
          </a:xfrm>
          <a:prstGeom prst="rect">
            <a:avLst/>
          </a:prstGeom>
          <a:noFill/>
        </p:spPr>
        <p:txBody>
          <a:bodyPr wrap="square">
            <a:spAutoFit/>
          </a:bodyPr>
          <a:lstStyle/>
          <a:p>
            <a:pPr algn="l"/>
            <a:r>
              <a:rPr sz="1300" b="0">
                <a:solidFill>
                  <a:srgbClr val="FBBF24"/>
                </a:solidFill>
                <a:latin typeface="Consolas"/>
              </a:rPr>
              <a:t>        continue;</a:t>
            </a:r>
          </a:p>
        </p:txBody>
      </p:sp>
      <p:sp>
        <p:nvSpPr>
          <p:cNvPr id="7" name="TextBox 6"/>
          <p:cNvSpPr txBox="1"/>
          <p:nvPr/>
        </p:nvSpPr>
        <p:spPr>
          <a:xfrm>
            <a:off x="457200" y="1463039"/>
            <a:ext cx="8229600" cy="256032"/>
          </a:xfrm>
          <a:prstGeom prst="rect">
            <a:avLst/>
          </a:prstGeom>
          <a:noFill/>
        </p:spPr>
        <p:txBody>
          <a:bodyPr wrap="square">
            <a:spAutoFit/>
          </a:bodyPr>
          <a:lstStyle/>
          <a:p>
            <a:pPr algn="l"/>
            <a:r>
              <a:rPr sz="1300" b="0">
                <a:solidFill>
                  <a:srgbClr val="FFFFFF"/>
                </a:solidFill>
                <a:latin typeface="Consolas"/>
              </a:rPr>
              <a:t>    }</a:t>
            </a:r>
          </a:p>
        </p:txBody>
      </p:sp>
      <p:sp>
        <p:nvSpPr>
          <p:cNvPr id="8" name="TextBox 7"/>
          <p:cNvSpPr txBox="1"/>
          <p:nvPr/>
        </p:nvSpPr>
        <p:spPr>
          <a:xfrm>
            <a:off x="457200" y="1737360"/>
            <a:ext cx="8229600" cy="256032"/>
          </a:xfrm>
          <a:prstGeom prst="rect">
            <a:avLst/>
          </a:prstGeom>
          <a:noFill/>
        </p:spPr>
        <p:txBody>
          <a:bodyPr wrap="square">
            <a:spAutoFit/>
          </a:bodyPr>
          <a:lstStyle/>
          <a:p>
            <a:pPr algn="l"/>
            <a:r>
              <a:rPr sz="1300" b="0">
                <a:solidFill>
                  <a:srgbClr val="FFFFFF"/>
                </a:solidFill>
                <a:latin typeface="Consolas"/>
              </a:rPr>
              <a:t>    if (i === 8) {</a:t>
            </a:r>
          </a:p>
        </p:txBody>
      </p:sp>
      <p:sp>
        <p:nvSpPr>
          <p:cNvPr id="9" name="TextBox 8"/>
          <p:cNvSpPr txBox="1"/>
          <p:nvPr/>
        </p:nvSpPr>
        <p:spPr>
          <a:xfrm>
            <a:off x="457200" y="2011680"/>
            <a:ext cx="8229600" cy="256032"/>
          </a:xfrm>
          <a:prstGeom prst="rect">
            <a:avLst/>
          </a:prstGeom>
          <a:noFill/>
        </p:spPr>
        <p:txBody>
          <a:bodyPr wrap="square">
            <a:spAutoFit/>
          </a:bodyPr>
          <a:lstStyle/>
          <a:p>
            <a:pPr algn="l"/>
            <a:r>
              <a:rPr sz="1300" b="0">
                <a:solidFill>
                  <a:srgbClr val="EF4444"/>
                </a:solidFill>
                <a:latin typeface="Consolas"/>
              </a:rPr>
              <a:t>        break;</a:t>
            </a:r>
          </a:p>
        </p:txBody>
      </p:sp>
      <p:sp>
        <p:nvSpPr>
          <p:cNvPr id="10" name="TextBox 9"/>
          <p:cNvSpPr txBox="1"/>
          <p:nvPr/>
        </p:nvSpPr>
        <p:spPr>
          <a:xfrm>
            <a:off x="457200" y="2286000"/>
            <a:ext cx="8229600" cy="256032"/>
          </a:xfrm>
          <a:prstGeom prst="rect">
            <a:avLst/>
          </a:prstGeom>
          <a:noFill/>
        </p:spPr>
        <p:txBody>
          <a:bodyPr wrap="square">
            <a:spAutoFit/>
          </a:bodyPr>
          <a:lstStyle/>
          <a:p>
            <a:pPr algn="l"/>
            <a:r>
              <a:rPr sz="1300" b="0">
                <a:solidFill>
                  <a:srgbClr val="FFFFFF"/>
                </a:solidFill>
                <a:latin typeface="Consolas"/>
              </a:rPr>
              <a:t>    }</a:t>
            </a:r>
          </a:p>
        </p:txBody>
      </p:sp>
      <p:sp>
        <p:nvSpPr>
          <p:cNvPr id="11" name="TextBox 10"/>
          <p:cNvSpPr txBox="1"/>
          <p:nvPr/>
        </p:nvSpPr>
        <p:spPr>
          <a:xfrm>
            <a:off x="457200" y="2560320"/>
            <a:ext cx="8229600" cy="256032"/>
          </a:xfrm>
          <a:prstGeom prst="rect">
            <a:avLst/>
          </a:prstGeom>
          <a:noFill/>
        </p:spPr>
        <p:txBody>
          <a:bodyPr wrap="square">
            <a:spAutoFit/>
          </a:bodyPr>
          <a:lstStyle/>
          <a:p>
            <a:pPr algn="l"/>
            <a:r>
              <a:rPr sz="1300" b="0">
                <a:solidFill>
                  <a:srgbClr val="22C55E"/>
                </a:solidFill>
                <a:latin typeface="Consolas"/>
              </a:rPr>
              <a:t>    console.log(i);</a:t>
            </a:r>
          </a:p>
        </p:txBody>
      </p:sp>
      <p:sp>
        <p:nvSpPr>
          <p:cNvPr id="12" name="TextBox 11"/>
          <p:cNvSpPr txBox="1"/>
          <p:nvPr/>
        </p:nvSpPr>
        <p:spPr>
          <a:xfrm>
            <a:off x="457200" y="2834639"/>
            <a:ext cx="8229600" cy="256032"/>
          </a:xfrm>
          <a:prstGeom prst="rect">
            <a:avLst/>
          </a:prstGeom>
          <a:noFill/>
        </p:spPr>
        <p:txBody>
          <a:bodyPr wrap="square">
            <a:spAutoFit/>
          </a:bodyPr>
          <a:lstStyle/>
          <a:p>
            <a:pPr algn="l"/>
            <a:r>
              <a:rPr sz="1300" b="0">
                <a:solidFill>
                  <a:srgbClr val="FFFFFF"/>
                </a:solidFill>
                <a:latin typeface="Consolas"/>
              </a:rPr>
              <a:t>    if (i % 2 === 0) {</a:t>
            </a:r>
          </a:p>
        </p:txBody>
      </p:sp>
      <p:sp>
        <p:nvSpPr>
          <p:cNvPr id="13" name="TextBox 12"/>
          <p:cNvSpPr txBox="1"/>
          <p:nvPr/>
        </p:nvSpPr>
        <p:spPr>
          <a:xfrm>
            <a:off x="457200" y="3108959"/>
            <a:ext cx="8229600" cy="256032"/>
          </a:xfrm>
          <a:prstGeom prst="rect">
            <a:avLst/>
          </a:prstGeom>
          <a:noFill/>
        </p:spPr>
        <p:txBody>
          <a:bodyPr wrap="square">
            <a:spAutoFit/>
          </a:bodyPr>
          <a:lstStyle/>
          <a:p>
            <a:pPr algn="l"/>
            <a:r>
              <a:rPr sz="1300" b="0">
                <a:solidFill>
                  <a:srgbClr val="22C55E"/>
                </a:solidFill>
                <a:latin typeface="Consolas"/>
              </a:rPr>
              <a:t>        console.log("Even");</a:t>
            </a:r>
          </a:p>
        </p:txBody>
      </p:sp>
      <p:sp>
        <p:nvSpPr>
          <p:cNvPr id="14" name="TextBox 13"/>
          <p:cNvSpPr txBox="1"/>
          <p:nvPr/>
        </p:nvSpPr>
        <p:spPr>
          <a:xfrm>
            <a:off x="457200" y="3383280"/>
            <a:ext cx="8229600" cy="256032"/>
          </a:xfrm>
          <a:prstGeom prst="rect">
            <a:avLst/>
          </a:prstGeom>
          <a:noFill/>
        </p:spPr>
        <p:txBody>
          <a:bodyPr wrap="square">
            <a:spAutoFit/>
          </a:bodyPr>
          <a:lstStyle/>
          <a:p>
            <a:pPr algn="l"/>
            <a:r>
              <a:rPr sz="1300" b="0">
                <a:solidFill>
                  <a:srgbClr val="FFFFFF"/>
                </a:solidFill>
                <a:latin typeface="Consolas"/>
              </a:rPr>
              <a:t>    } else {</a:t>
            </a:r>
          </a:p>
        </p:txBody>
      </p:sp>
      <p:sp>
        <p:nvSpPr>
          <p:cNvPr id="15" name="TextBox 14"/>
          <p:cNvSpPr txBox="1"/>
          <p:nvPr/>
        </p:nvSpPr>
        <p:spPr>
          <a:xfrm>
            <a:off x="457200" y="3657600"/>
            <a:ext cx="8229600" cy="256032"/>
          </a:xfrm>
          <a:prstGeom prst="rect">
            <a:avLst/>
          </a:prstGeom>
          <a:noFill/>
        </p:spPr>
        <p:txBody>
          <a:bodyPr wrap="square">
            <a:spAutoFit/>
          </a:bodyPr>
          <a:lstStyle/>
          <a:p>
            <a:pPr algn="l"/>
            <a:r>
              <a:rPr sz="1300" b="0">
                <a:solidFill>
                  <a:srgbClr val="22C55E"/>
                </a:solidFill>
                <a:latin typeface="Consolas"/>
              </a:rPr>
              <a:t>        console.log("Odd");</a:t>
            </a:r>
          </a:p>
        </p:txBody>
      </p:sp>
      <p:sp>
        <p:nvSpPr>
          <p:cNvPr id="16" name="TextBox 15"/>
          <p:cNvSpPr txBox="1"/>
          <p:nvPr/>
        </p:nvSpPr>
        <p:spPr>
          <a:xfrm>
            <a:off x="457200" y="3931920"/>
            <a:ext cx="8229600" cy="256032"/>
          </a:xfrm>
          <a:prstGeom prst="rect">
            <a:avLst/>
          </a:prstGeom>
          <a:noFill/>
        </p:spPr>
        <p:txBody>
          <a:bodyPr wrap="square">
            <a:spAutoFit/>
          </a:bodyPr>
          <a:lstStyle/>
          <a:p>
            <a:pPr algn="l"/>
            <a:r>
              <a:rPr sz="1300" b="0">
                <a:solidFill>
                  <a:srgbClr val="FFFFFF"/>
                </a:solidFill>
                <a:latin typeface="Consolas"/>
              </a:rPr>
              <a:t>    }</a:t>
            </a:r>
          </a:p>
        </p:txBody>
      </p:sp>
      <p:sp>
        <p:nvSpPr>
          <p:cNvPr id="17" name="TextBox 16"/>
          <p:cNvSpPr txBox="1"/>
          <p:nvPr/>
        </p:nvSpPr>
        <p:spPr>
          <a:xfrm>
            <a:off x="457200" y="4206240"/>
            <a:ext cx="8229600" cy="256032"/>
          </a:xfrm>
          <a:prstGeom prst="rect">
            <a:avLst/>
          </a:prstGeom>
          <a:noFill/>
        </p:spPr>
        <p:txBody>
          <a:bodyPr wrap="square">
            <a:spAutoFit/>
          </a:bodyPr>
          <a:lstStyle/>
          <a:p>
            <a:pPr algn="l"/>
            <a:r>
              <a:rPr sz="1300" b="0">
                <a:solidFill>
                  <a:srgbClr val="7DD3FC"/>
                </a:solidFill>
                <a:latin typeface="Consolas"/>
              </a:rPr>
              <a: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37160"/>
            <a:ext cx="8229600" cy="307777"/>
          </a:xfrm>
          <a:prstGeom prst="rect">
            <a:avLst/>
          </a:prstGeom>
          <a:noFill/>
        </p:spPr>
        <p:txBody>
          <a:bodyPr wrap="square">
            <a:spAutoFit/>
          </a:bodyPr>
          <a:lstStyle/>
          <a:p>
            <a:pPr algn="l"/>
            <a:r>
              <a:rPr sz="1400" b="1" dirty="0">
                <a:solidFill>
                  <a:srgbClr val="0066CC"/>
                </a:solidFill>
                <a:latin typeface="Arial"/>
              </a:rPr>
              <a:t>TASK 2</a:t>
            </a:r>
          </a:p>
        </p:txBody>
      </p:sp>
      <p:sp>
        <p:nvSpPr>
          <p:cNvPr id="3" name="TextBox 2"/>
          <p:cNvSpPr txBox="1"/>
          <p:nvPr/>
        </p:nvSpPr>
        <p:spPr>
          <a:xfrm>
            <a:off x="457200" y="457200"/>
            <a:ext cx="8229600" cy="365760"/>
          </a:xfrm>
          <a:prstGeom prst="rect">
            <a:avLst/>
          </a:prstGeom>
          <a:noFill/>
        </p:spPr>
        <p:txBody>
          <a:bodyPr wrap="square">
            <a:spAutoFit/>
          </a:bodyPr>
          <a:lstStyle/>
          <a:p>
            <a:pPr algn="l"/>
            <a:r>
              <a:rPr sz="2400" b="1">
                <a:solidFill>
                  <a:srgbClr val="0066CC"/>
                </a:solidFill>
                <a:latin typeface="Arial"/>
              </a:rPr>
              <a:t>Student List</a:t>
            </a:r>
          </a:p>
        </p:txBody>
      </p:sp>
      <p:sp>
        <p:nvSpPr>
          <p:cNvPr id="4" name="Rounded Rectangle 3"/>
          <p:cNvSpPr/>
          <p:nvPr/>
        </p:nvSpPr>
        <p:spPr>
          <a:xfrm>
            <a:off x="365760" y="1005840"/>
            <a:ext cx="8412480" cy="2743200"/>
          </a:xfrm>
          <a:prstGeom prst="roundRect">
            <a:avLst>
              <a:gd name="adj" fmla="val 10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188720"/>
            <a:ext cx="8046720" cy="274320"/>
          </a:xfrm>
          <a:prstGeom prst="rect">
            <a:avLst/>
          </a:prstGeom>
          <a:noFill/>
        </p:spPr>
        <p:txBody>
          <a:bodyPr wrap="square">
            <a:spAutoFit/>
          </a:bodyPr>
          <a:lstStyle/>
          <a:p>
            <a:pPr algn="l"/>
            <a:r>
              <a:rPr sz="1300" b="0">
                <a:solidFill>
                  <a:srgbClr val="1E293B"/>
                </a:solidFill>
                <a:latin typeface="Arial"/>
              </a:rPr>
              <a:t>Create a simple program to work with a list of students.</a:t>
            </a:r>
          </a:p>
        </p:txBody>
      </p:sp>
      <p:sp>
        <p:nvSpPr>
          <p:cNvPr id="6" name="TextBox 5"/>
          <p:cNvSpPr txBox="1"/>
          <p:nvPr/>
        </p:nvSpPr>
        <p:spPr>
          <a:xfrm>
            <a:off x="548640" y="1645920"/>
            <a:ext cx="8046720" cy="320040"/>
          </a:xfrm>
          <a:prstGeom prst="rect">
            <a:avLst/>
          </a:prstGeom>
          <a:noFill/>
        </p:spPr>
        <p:txBody>
          <a:bodyPr wrap="square">
            <a:spAutoFit/>
          </a:bodyPr>
          <a:lstStyle/>
          <a:p>
            <a:pPr algn="l"/>
            <a:r>
              <a:rPr sz="1400" b="0">
                <a:solidFill>
                  <a:srgbClr val="1E293B"/>
                </a:solidFill>
                <a:latin typeface="Arial"/>
              </a:rPr>
              <a:t>1. Create an array called students with 5 student names.</a:t>
            </a:r>
          </a:p>
        </p:txBody>
      </p:sp>
      <p:sp>
        <p:nvSpPr>
          <p:cNvPr id="7" name="TextBox 6"/>
          <p:cNvSpPr txBox="1"/>
          <p:nvPr/>
        </p:nvSpPr>
        <p:spPr>
          <a:xfrm>
            <a:off x="548640" y="2011680"/>
            <a:ext cx="8046720" cy="320040"/>
          </a:xfrm>
          <a:prstGeom prst="rect">
            <a:avLst/>
          </a:prstGeom>
          <a:noFill/>
        </p:spPr>
        <p:txBody>
          <a:bodyPr wrap="square">
            <a:spAutoFit/>
          </a:bodyPr>
          <a:lstStyle/>
          <a:p>
            <a:pPr algn="l"/>
            <a:r>
              <a:rPr sz="1400" b="0">
                <a:solidFill>
                  <a:srgbClr val="1E293B"/>
                </a:solidFill>
                <a:latin typeface="Arial"/>
              </a:rPr>
              <a:t>2. Use for...of to go through the students.</a:t>
            </a:r>
          </a:p>
        </p:txBody>
      </p:sp>
      <p:sp>
        <p:nvSpPr>
          <p:cNvPr id="8" name="TextBox 7"/>
          <p:cNvSpPr txBox="1"/>
          <p:nvPr/>
        </p:nvSpPr>
        <p:spPr>
          <a:xfrm>
            <a:off x="548640" y="2377440"/>
            <a:ext cx="8046720" cy="320040"/>
          </a:xfrm>
          <a:prstGeom prst="rect">
            <a:avLst/>
          </a:prstGeom>
          <a:noFill/>
        </p:spPr>
        <p:txBody>
          <a:bodyPr wrap="square">
            <a:spAutoFit/>
          </a:bodyPr>
          <a:lstStyle/>
          <a:p>
            <a:pPr algn="l"/>
            <a:r>
              <a:rPr sz="1400" b="0">
                <a:solidFill>
                  <a:srgbClr val="1E293B"/>
                </a:solidFill>
                <a:latin typeface="Arial"/>
              </a:rPr>
              <a:t>3. Print each student name.</a:t>
            </a:r>
          </a:p>
        </p:txBody>
      </p:sp>
      <p:sp>
        <p:nvSpPr>
          <p:cNvPr id="9" name="TextBox 8"/>
          <p:cNvSpPr txBox="1"/>
          <p:nvPr/>
        </p:nvSpPr>
        <p:spPr>
          <a:xfrm>
            <a:off x="548640" y="2743200"/>
            <a:ext cx="8046720" cy="320040"/>
          </a:xfrm>
          <a:prstGeom prst="rect">
            <a:avLst/>
          </a:prstGeom>
          <a:noFill/>
        </p:spPr>
        <p:txBody>
          <a:bodyPr wrap="square">
            <a:spAutoFit/>
          </a:bodyPr>
          <a:lstStyle/>
          <a:p>
            <a:pPr algn="l"/>
            <a:r>
              <a:rPr sz="1400" b="0">
                <a:solidFill>
                  <a:srgbClr val="1E293B"/>
                </a:solidFill>
                <a:latin typeface="Arial"/>
              </a:rPr>
              <a:t>4. If the student name is "Ahmed", print "Found Ahmed".</a:t>
            </a:r>
          </a:p>
        </p:txBody>
      </p:sp>
      <p:sp>
        <p:nvSpPr>
          <p:cNvPr id="10" name="TextBox 9"/>
          <p:cNvSpPr txBox="1"/>
          <p:nvPr/>
        </p:nvSpPr>
        <p:spPr>
          <a:xfrm>
            <a:off x="548640" y="3108960"/>
            <a:ext cx="8046720" cy="320040"/>
          </a:xfrm>
          <a:prstGeom prst="rect">
            <a:avLst/>
          </a:prstGeom>
          <a:noFill/>
        </p:spPr>
        <p:txBody>
          <a:bodyPr wrap="square">
            <a:spAutoFit/>
          </a:bodyPr>
          <a:lstStyle/>
          <a:p>
            <a:pPr algn="l"/>
            <a:r>
              <a:rPr sz="1400" b="0">
                <a:solidFill>
                  <a:srgbClr val="1E293B"/>
                </a:solidFill>
                <a:latin typeface="Arial"/>
              </a:rPr>
              <a:t>5. Stop the loop after finding "Ahmed".</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2880"/>
            <a:ext cx="8229600" cy="320040"/>
          </a:xfrm>
          <a:prstGeom prst="rect">
            <a:avLst/>
          </a:prstGeom>
          <a:noFill/>
        </p:spPr>
        <p:txBody>
          <a:bodyPr wrap="square">
            <a:spAutoFit/>
          </a:bodyPr>
          <a:lstStyle/>
          <a:p>
            <a:pPr algn="l"/>
            <a:r>
              <a:rPr sz="1600" b="1">
                <a:solidFill>
                  <a:srgbClr val="0066CC"/>
                </a:solidFill>
                <a:latin typeface="Arial"/>
              </a:rPr>
              <a:t>TASK 2 — REFERENCE SOLUTION</a:t>
            </a:r>
          </a:p>
        </p:txBody>
      </p:sp>
      <p:sp>
        <p:nvSpPr>
          <p:cNvPr id="3" name="Rounded Rectangle 2"/>
          <p:cNvSpPr/>
          <p:nvPr/>
        </p:nvSpPr>
        <p:spPr>
          <a:xfrm>
            <a:off x="274320" y="640080"/>
            <a:ext cx="8595360" cy="3657600"/>
          </a:xfrm>
          <a:prstGeom prst="roundRect">
            <a:avLst>
              <a:gd name="adj" fmla="val 10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914400"/>
            <a:ext cx="8229600" cy="274320"/>
          </a:xfrm>
          <a:prstGeom prst="rect">
            <a:avLst/>
          </a:prstGeom>
          <a:noFill/>
        </p:spPr>
        <p:txBody>
          <a:bodyPr wrap="square">
            <a:spAutoFit/>
          </a:bodyPr>
          <a:lstStyle/>
          <a:p>
            <a:pPr algn="l"/>
            <a:r>
              <a:rPr sz="1400" b="0">
                <a:solidFill>
                  <a:srgbClr val="FFFFFF"/>
                </a:solidFill>
                <a:latin typeface="Consolas"/>
              </a:rPr>
              <a:t>let students = ["Sara", "Omar", "Ahmed", "Mona", "Ali"];</a:t>
            </a:r>
          </a:p>
        </p:txBody>
      </p:sp>
      <p:sp>
        <p:nvSpPr>
          <p:cNvPr id="5" name="TextBox 4"/>
          <p:cNvSpPr txBox="1"/>
          <p:nvPr/>
        </p:nvSpPr>
        <p:spPr>
          <a:xfrm>
            <a:off x="457200" y="1554480"/>
            <a:ext cx="8229600" cy="274320"/>
          </a:xfrm>
          <a:prstGeom prst="rect">
            <a:avLst/>
          </a:prstGeom>
          <a:noFill/>
        </p:spPr>
        <p:txBody>
          <a:bodyPr wrap="square">
            <a:spAutoFit/>
          </a:bodyPr>
          <a:lstStyle/>
          <a:p>
            <a:pPr algn="l"/>
            <a:r>
              <a:rPr sz="1400" b="0">
                <a:solidFill>
                  <a:srgbClr val="7DD3FC"/>
                </a:solidFill>
                <a:latin typeface="Consolas"/>
              </a:rPr>
              <a:t>for (let student of students) {</a:t>
            </a:r>
          </a:p>
        </p:txBody>
      </p:sp>
      <p:sp>
        <p:nvSpPr>
          <p:cNvPr id="6" name="TextBox 5"/>
          <p:cNvSpPr txBox="1"/>
          <p:nvPr/>
        </p:nvSpPr>
        <p:spPr>
          <a:xfrm>
            <a:off x="457200" y="1874519"/>
            <a:ext cx="8229600" cy="274320"/>
          </a:xfrm>
          <a:prstGeom prst="rect">
            <a:avLst/>
          </a:prstGeom>
          <a:noFill/>
        </p:spPr>
        <p:txBody>
          <a:bodyPr wrap="square">
            <a:spAutoFit/>
          </a:bodyPr>
          <a:lstStyle/>
          <a:p>
            <a:pPr algn="l"/>
            <a:r>
              <a:rPr sz="1400" b="0">
                <a:solidFill>
                  <a:srgbClr val="22C55E"/>
                </a:solidFill>
                <a:latin typeface="Consolas"/>
              </a:rPr>
              <a:t>    console.log(student);</a:t>
            </a:r>
          </a:p>
        </p:txBody>
      </p:sp>
      <p:sp>
        <p:nvSpPr>
          <p:cNvPr id="7" name="TextBox 6"/>
          <p:cNvSpPr txBox="1"/>
          <p:nvPr/>
        </p:nvSpPr>
        <p:spPr>
          <a:xfrm>
            <a:off x="457200" y="2514600"/>
            <a:ext cx="8229600" cy="274320"/>
          </a:xfrm>
          <a:prstGeom prst="rect">
            <a:avLst/>
          </a:prstGeom>
          <a:noFill/>
        </p:spPr>
        <p:txBody>
          <a:bodyPr wrap="square">
            <a:spAutoFit/>
          </a:bodyPr>
          <a:lstStyle/>
          <a:p>
            <a:pPr algn="l"/>
            <a:r>
              <a:rPr sz="1400" b="0">
                <a:solidFill>
                  <a:srgbClr val="FFFFFF"/>
                </a:solidFill>
                <a:latin typeface="Consolas"/>
              </a:rPr>
              <a:t>    if (student === "Ahmed") {</a:t>
            </a:r>
          </a:p>
        </p:txBody>
      </p:sp>
      <p:sp>
        <p:nvSpPr>
          <p:cNvPr id="8" name="TextBox 7"/>
          <p:cNvSpPr txBox="1"/>
          <p:nvPr/>
        </p:nvSpPr>
        <p:spPr>
          <a:xfrm>
            <a:off x="457200" y="2834639"/>
            <a:ext cx="8229600" cy="274320"/>
          </a:xfrm>
          <a:prstGeom prst="rect">
            <a:avLst/>
          </a:prstGeom>
          <a:noFill/>
        </p:spPr>
        <p:txBody>
          <a:bodyPr wrap="square">
            <a:spAutoFit/>
          </a:bodyPr>
          <a:lstStyle/>
          <a:p>
            <a:pPr algn="l"/>
            <a:r>
              <a:rPr sz="1400" b="0">
                <a:solidFill>
                  <a:srgbClr val="22C55E"/>
                </a:solidFill>
                <a:latin typeface="Consolas"/>
              </a:rPr>
              <a:t>        console.log("Found Ahmed");</a:t>
            </a:r>
          </a:p>
        </p:txBody>
      </p:sp>
      <p:sp>
        <p:nvSpPr>
          <p:cNvPr id="9" name="TextBox 8"/>
          <p:cNvSpPr txBox="1"/>
          <p:nvPr/>
        </p:nvSpPr>
        <p:spPr>
          <a:xfrm>
            <a:off x="457200" y="3154679"/>
            <a:ext cx="8229600" cy="274320"/>
          </a:xfrm>
          <a:prstGeom prst="rect">
            <a:avLst/>
          </a:prstGeom>
          <a:noFill/>
        </p:spPr>
        <p:txBody>
          <a:bodyPr wrap="square">
            <a:spAutoFit/>
          </a:bodyPr>
          <a:lstStyle/>
          <a:p>
            <a:pPr algn="l"/>
            <a:r>
              <a:rPr sz="1400" b="0">
                <a:solidFill>
                  <a:srgbClr val="EF4444"/>
                </a:solidFill>
                <a:latin typeface="Consolas"/>
              </a:rPr>
              <a:t>        break;</a:t>
            </a:r>
          </a:p>
        </p:txBody>
      </p:sp>
      <p:sp>
        <p:nvSpPr>
          <p:cNvPr id="10" name="TextBox 9"/>
          <p:cNvSpPr txBox="1"/>
          <p:nvPr/>
        </p:nvSpPr>
        <p:spPr>
          <a:xfrm>
            <a:off x="457200" y="3474720"/>
            <a:ext cx="8229600" cy="274320"/>
          </a:xfrm>
          <a:prstGeom prst="rect">
            <a:avLst/>
          </a:prstGeom>
          <a:noFill/>
        </p:spPr>
        <p:txBody>
          <a:bodyPr wrap="square">
            <a:spAutoFit/>
          </a:bodyPr>
          <a:lstStyle/>
          <a:p>
            <a:pPr algn="l"/>
            <a:r>
              <a:rPr sz="1400" b="0">
                <a:solidFill>
                  <a:srgbClr val="FFFFFF"/>
                </a:solidFill>
                <a:latin typeface="Consolas"/>
              </a:rPr>
              <a:t>    }</a:t>
            </a:r>
          </a:p>
        </p:txBody>
      </p:sp>
      <p:sp>
        <p:nvSpPr>
          <p:cNvPr id="11" name="TextBox 10"/>
          <p:cNvSpPr txBox="1"/>
          <p:nvPr/>
        </p:nvSpPr>
        <p:spPr>
          <a:xfrm>
            <a:off x="457200" y="3794760"/>
            <a:ext cx="8229600" cy="274320"/>
          </a:xfrm>
          <a:prstGeom prst="rect">
            <a:avLst/>
          </a:prstGeom>
          <a:noFill/>
        </p:spPr>
        <p:txBody>
          <a:bodyPr wrap="square">
            <a:spAutoFit/>
          </a:bodyPr>
          <a:lstStyle/>
          <a:p>
            <a:pPr algn="l"/>
            <a:r>
              <a:rPr sz="1400" b="0">
                <a:solidFill>
                  <a:srgbClr val="7DD3FC"/>
                </a:solidFill>
                <a:latin typeface="Consolas"/>
              </a:rPr>
              <a: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320040"/>
          </a:xfrm>
          <a:prstGeom prst="rect">
            <a:avLst/>
          </a:prstGeom>
          <a:noFill/>
        </p:spPr>
        <p:txBody>
          <a:bodyPr wrap="square">
            <a:spAutoFit/>
          </a:bodyPr>
          <a:lstStyle/>
          <a:p>
            <a:pPr algn="l"/>
            <a:r>
              <a:rPr sz="1400" b="1">
                <a:solidFill>
                  <a:srgbClr val="0066CC"/>
                </a:solidFill>
                <a:latin typeface="Arial"/>
              </a:rPr>
              <a:t>TOPIC 2</a:t>
            </a:r>
          </a:p>
        </p:txBody>
      </p:sp>
      <p:sp>
        <p:nvSpPr>
          <p:cNvPr id="3" name="TextBox 2"/>
          <p:cNvSpPr txBox="1"/>
          <p:nvPr/>
        </p:nvSpPr>
        <p:spPr>
          <a:xfrm>
            <a:off x="457200" y="731520"/>
            <a:ext cx="8229600" cy="502920"/>
          </a:xfrm>
          <a:prstGeom prst="rect">
            <a:avLst/>
          </a:prstGeom>
          <a:noFill/>
        </p:spPr>
        <p:txBody>
          <a:bodyPr wrap="square">
            <a:spAutoFit/>
          </a:bodyPr>
          <a:lstStyle/>
          <a:p>
            <a:pPr algn="l"/>
            <a:r>
              <a:rPr sz="2800" b="1">
                <a:solidFill>
                  <a:srgbClr val="0066CC"/>
                </a:solidFill>
                <a:latin typeface="Arial"/>
              </a:rPr>
              <a:t>Functions</a:t>
            </a:r>
          </a:p>
        </p:txBody>
      </p:sp>
      <p:sp>
        <p:nvSpPr>
          <p:cNvPr id="4" name="Rounded Rectangle 3"/>
          <p:cNvSpPr/>
          <p:nvPr/>
        </p:nvSpPr>
        <p:spPr>
          <a:xfrm>
            <a:off x="457200" y="1463040"/>
            <a:ext cx="8229600" cy="1645920"/>
          </a:xfrm>
          <a:prstGeom prst="roundRect">
            <a:avLst>
              <a:gd name="adj" fmla="val 10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737360"/>
            <a:ext cx="7680960" cy="1188720"/>
          </a:xfrm>
          <a:prstGeom prst="rect">
            <a:avLst/>
          </a:prstGeom>
          <a:noFill/>
        </p:spPr>
        <p:txBody>
          <a:bodyPr wrap="square">
            <a:spAutoFit/>
          </a:bodyPr>
          <a:lstStyle/>
          <a:p>
            <a:pPr algn="l"/>
            <a:r>
              <a:rPr sz="1400" b="0">
                <a:solidFill>
                  <a:srgbClr val="1E293B"/>
                </a:solidFill>
                <a:latin typeface="Arial"/>
              </a:rPr>
              <a:t>What if we have a group of code that we need to use many times?
It would not make sense to copy and paste the same code every time.
We place that logic in one reusable location and call it whenever we need it.</a:t>
            </a:r>
          </a:p>
        </p:txBody>
      </p:sp>
      <p:sp>
        <p:nvSpPr>
          <p:cNvPr id="6" name="Rounded Rectangle 5"/>
          <p:cNvSpPr/>
          <p:nvPr/>
        </p:nvSpPr>
        <p:spPr>
          <a:xfrm>
            <a:off x="365760" y="3383280"/>
            <a:ext cx="2011680" cy="1188720"/>
          </a:xfrm>
          <a:prstGeom prst="roundRect">
            <a:avLst>
              <a:gd name="adj" fmla="val 10000"/>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3749039"/>
            <a:ext cx="2011680" cy="457200"/>
          </a:xfrm>
          <a:prstGeom prst="rect">
            <a:avLst/>
          </a:prstGeom>
          <a:noFill/>
        </p:spPr>
        <p:txBody>
          <a:bodyPr wrap="square">
            <a:spAutoFit/>
          </a:bodyPr>
          <a:lstStyle/>
          <a:p>
            <a:pPr algn="ctr"/>
            <a:r>
              <a:rPr sz="1200" b="1">
                <a:solidFill>
                  <a:srgbClr val="0066CC"/>
                </a:solidFill>
                <a:latin typeface="Arial"/>
              </a:rPr>
              <a:t>INPUT</a:t>
            </a:r>
          </a:p>
        </p:txBody>
      </p:sp>
      <p:sp>
        <p:nvSpPr>
          <p:cNvPr id="8" name="Rounded Rectangle 7"/>
          <p:cNvSpPr/>
          <p:nvPr/>
        </p:nvSpPr>
        <p:spPr>
          <a:xfrm>
            <a:off x="2560320" y="3383280"/>
            <a:ext cx="2011680" cy="1188720"/>
          </a:xfrm>
          <a:prstGeom prst="roundRect">
            <a:avLst>
              <a:gd name="adj" fmla="val 10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560320" y="3749039"/>
            <a:ext cx="2011680" cy="457200"/>
          </a:xfrm>
          <a:prstGeom prst="rect">
            <a:avLst/>
          </a:prstGeom>
          <a:noFill/>
        </p:spPr>
        <p:txBody>
          <a:bodyPr wrap="square">
            <a:spAutoFit/>
          </a:bodyPr>
          <a:lstStyle/>
          <a:p>
            <a:pPr algn="ctr"/>
            <a:r>
              <a:rPr sz="1200" b="1">
                <a:solidFill>
                  <a:srgbClr val="0066CC"/>
                </a:solidFill>
                <a:latin typeface="Arial"/>
              </a:rPr>
              <a:t>FUNCTION</a:t>
            </a:r>
          </a:p>
        </p:txBody>
      </p:sp>
      <p:sp>
        <p:nvSpPr>
          <p:cNvPr id="10" name="Rounded Rectangle 9"/>
          <p:cNvSpPr/>
          <p:nvPr/>
        </p:nvSpPr>
        <p:spPr>
          <a:xfrm>
            <a:off x="4754880" y="3383280"/>
            <a:ext cx="2011680" cy="1188720"/>
          </a:xfrm>
          <a:prstGeom prst="roundRect">
            <a:avLst>
              <a:gd name="adj" fmla="val 10000"/>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54880" y="3749039"/>
            <a:ext cx="2011680" cy="457200"/>
          </a:xfrm>
          <a:prstGeom prst="rect">
            <a:avLst/>
          </a:prstGeom>
          <a:noFill/>
        </p:spPr>
        <p:txBody>
          <a:bodyPr wrap="square">
            <a:spAutoFit/>
          </a:bodyPr>
          <a:lstStyle/>
          <a:p>
            <a:pPr algn="ctr"/>
            <a:r>
              <a:rPr sz="1200" b="1">
                <a:solidFill>
                  <a:srgbClr val="0066CC"/>
                </a:solidFill>
                <a:latin typeface="Arial"/>
              </a:rPr>
              <a:t>PROCESSING</a:t>
            </a:r>
          </a:p>
        </p:txBody>
      </p:sp>
      <p:sp>
        <p:nvSpPr>
          <p:cNvPr id="12" name="Rounded Rectangle 11"/>
          <p:cNvSpPr/>
          <p:nvPr/>
        </p:nvSpPr>
        <p:spPr>
          <a:xfrm>
            <a:off x="6949440" y="3383280"/>
            <a:ext cx="2011680" cy="1188720"/>
          </a:xfrm>
          <a:prstGeom prst="roundRect">
            <a:avLst>
              <a:gd name="adj" fmla="val 10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949440" y="3749039"/>
            <a:ext cx="2011680" cy="457200"/>
          </a:xfrm>
          <a:prstGeom prst="rect">
            <a:avLst/>
          </a:prstGeom>
          <a:noFill/>
        </p:spPr>
        <p:txBody>
          <a:bodyPr wrap="square">
            <a:spAutoFit/>
          </a:bodyPr>
          <a:lstStyle/>
          <a:p>
            <a:pPr algn="ctr"/>
            <a:r>
              <a:rPr sz="1200" b="1">
                <a:solidFill>
                  <a:srgbClr val="0066CC"/>
                </a:solidFill>
                <a:latin typeface="Arial"/>
              </a:rPr>
              <a:t>RETURN OUTPUT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8229600" cy="320040"/>
          </a:xfrm>
          <a:prstGeom prst="rect">
            <a:avLst/>
          </a:prstGeom>
          <a:noFill/>
        </p:spPr>
        <p:txBody>
          <a:bodyPr wrap="square">
            <a:spAutoFit/>
          </a:bodyPr>
          <a:lstStyle/>
          <a:p>
            <a:pPr algn="l"/>
            <a:r>
              <a:rPr sz="2200" b="1">
                <a:solidFill>
                  <a:srgbClr val="0066CC"/>
                </a:solidFill>
                <a:latin typeface="Arial"/>
              </a:rPr>
              <a:t>DECLARATION &amp; CALLING</a:t>
            </a:r>
          </a:p>
        </p:txBody>
      </p:sp>
      <p:sp>
        <p:nvSpPr>
          <p:cNvPr id="3" name="Rounded Rectangle 2"/>
          <p:cNvSpPr/>
          <p:nvPr/>
        </p:nvSpPr>
        <p:spPr>
          <a:xfrm>
            <a:off x="365760" y="822960"/>
            <a:ext cx="4114800" cy="2286000"/>
          </a:xfrm>
          <a:prstGeom prst="roundRect">
            <a:avLst>
              <a:gd name="adj" fmla="val 10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097280"/>
            <a:ext cx="3749039" cy="274320"/>
          </a:xfrm>
          <a:prstGeom prst="rect">
            <a:avLst/>
          </a:prstGeom>
          <a:noFill/>
        </p:spPr>
        <p:txBody>
          <a:bodyPr wrap="square">
            <a:spAutoFit/>
          </a:bodyPr>
          <a:lstStyle/>
          <a:p>
            <a:pPr algn="l"/>
            <a:r>
              <a:rPr sz="1300" b="0">
                <a:solidFill>
                  <a:srgbClr val="7DD3FC"/>
                </a:solidFill>
                <a:latin typeface="Consolas"/>
              </a:rPr>
              <a:t>function sayWelcome() {</a:t>
            </a:r>
          </a:p>
        </p:txBody>
      </p:sp>
      <p:sp>
        <p:nvSpPr>
          <p:cNvPr id="5" name="TextBox 4"/>
          <p:cNvSpPr txBox="1"/>
          <p:nvPr/>
        </p:nvSpPr>
        <p:spPr>
          <a:xfrm>
            <a:off x="822960" y="1554480"/>
            <a:ext cx="3474720" cy="274320"/>
          </a:xfrm>
          <a:prstGeom prst="rect">
            <a:avLst/>
          </a:prstGeom>
          <a:noFill/>
        </p:spPr>
        <p:txBody>
          <a:bodyPr wrap="square">
            <a:spAutoFit/>
          </a:bodyPr>
          <a:lstStyle/>
          <a:p>
            <a:pPr algn="l"/>
            <a:r>
              <a:rPr sz="1300" b="0">
                <a:solidFill>
                  <a:srgbClr val="FFFFFF"/>
                </a:solidFill>
                <a:latin typeface="Consolas"/>
              </a:rPr>
              <a:t>console.log("Welcome!");</a:t>
            </a:r>
          </a:p>
        </p:txBody>
      </p:sp>
      <p:sp>
        <p:nvSpPr>
          <p:cNvPr id="6" name="TextBox 5"/>
          <p:cNvSpPr txBox="1"/>
          <p:nvPr/>
        </p:nvSpPr>
        <p:spPr>
          <a:xfrm>
            <a:off x="548640" y="2011680"/>
            <a:ext cx="3749039" cy="274320"/>
          </a:xfrm>
          <a:prstGeom prst="rect">
            <a:avLst/>
          </a:prstGeom>
          <a:noFill/>
        </p:spPr>
        <p:txBody>
          <a:bodyPr wrap="square">
            <a:spAutoFit/>
          </a:bodyPr>
          <a:lstStyle/>
          <a:p>
            <a:pPr algn="l"/>
            <a:r>
              <a:rPr sz="1300" b="0">
                <a:solidFill>
                  <a:srgbClr val="7DD3FC"/>
                </a:solidFill>
                <a:latin typeface="Consolas"/>
              </a:rPr>
              <a:t>}</a:t>
            </a:r>
          </a:p>
        </p:txBody>
      </p:sp>
      <p:sp>
        <p:nvSpPr>
          <p:cNvPr id="7" name="TextBox 6"/>
          <p:cNvSpPr txBox="1"/>
          <p:nvPr/>
        </p:nvSpPr>
        <p:spPr>
          <a:xfrm>
            <a:off x="548640" y="2468880"/>
            <a:ext cx="3749039" cy="274320"/>
          </a:xfrm>
          <a:prstGeom prst="rect">
            <a:avLst/>
          </a:prstGeom>
          <a:noFill/>
        </p:spPr>
        <p:txBody>
          <a:bodyPr wrap="square">
            <a:spAutoFit/>
          </a:bodyPr>
          <a:lstStyle/>
          <a:p>
            <a:pPr algn="l"/>
            <a:r>
              <a:rPr sz="1300" b="0">
                <a:solidFill>
                  <a:srgbClr val="22C55E"/>
                </a:solidFill>
                <a:latin typeface="Consolas"/>
              </a:rPr>
              <a:t>sayWelcome(); // Calls it</a:t>
            </a:r>
          </a:p>
        </p:txBody>
      </p:sp>
      <p:sp>
        <p:nvSpPr>
          <p:cNvPr id="8" name="Rounded Rectangle 7"/>
          <p:cNvSpPr/>
          <p:nvPr/>
        </p:nvSpPr>
        <p:spPr>
          <a:xfrm>
            <a:off x="4754880" y="822960"/>
            <a:ext cx="4023360" cy="1005840"/>
          </a:xfrm>
          <a:prstGeom prst="roundRect">
            <a:avLst>
              <a:gd name="adj" fmla="val 10000"/>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937760" y="1005840"/>
            <a:ext cx="3657600" cy="274320"/>
          </a:xfrm>
          <a:prstGeom prst="rect">
            <a:avLst/>
          </a:prstGeom>
          <a:noFill/>
        </p:spPr>
        <p:txBody>
          <a:bodyPr wrap="square">
            <a:spAutoFit/>
          </a:bodyPr>
          <a:lstStyle/>
          <a:p>
            <a:pPr algn="l"/>
            <a:r>
              <a:rPr sz="1400" b="1">
                <a:solidFill>
                  <a:srgbClr val="0066CC"/>
                </a:solidFill>
                <a:latin typeface="Arial"/>
              </a:rPr>
              <a:t>DECLARE</a:t>
            </a:r>
          </a:p>
        </p:txBody>
      </p:sp>
      <p:sp>
        <p:nvSpPr>
          <p:cNvPr id="10" name="TextBox 9"/>
          <p:cNvSpPr txBox="1"/>
          <p:nvPr/>
        </p:nvSpPr>
        <p:spPr>
          <a:xfrm>
            <a:off x="4937760" y="1371600"/>
            <a:ext cx="3657600" cy="274320"/>
          </a:xfrm>
          <a:prstGeom prst="rect">
            <a:avLst/>
          </a:prstGeom>
          <a:noFill/>
        </p:spPr>
        <p:txBody>
          <a:bodyPr wrap="square">
            <a:spAutoFit/>
          </a:bodyPr>
          <a:lstStyle/>
          <a:p>
            <a:pPr algn="l"/>
            <a:r>
              <a:rPr sz="1300" b="0">
                <a:solidFill>
                  <a:srgbClr val="334155"/>
                </a:solidFill>
                <a:latin typeface="Arial"/>
              </a:rPr>
              <a:t>Create the function</a:t>
            </a:r>
          </a:p>
        </p:txBody>
      </p:sp>
      <p:sp>
        <p:nvSpPr>
          <p:cNvPr id="11" name="Rounded Rectangle 10"/>
          <p:cNvSpPr/>
          <p:nvPr/>
        </p:nvSpPr>
        <p:spPr>
          <a:xfrm>
            <a:off x="4754880" y="2011680"/>
            <a:ext cx="4023360" cy="1005840"/>
          </a:xfrm>
          <a:prstGeom prst="roundRect">
            <a:avLst>
              <a:gd name="adj" fmla="val 10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937760" y="2194560"/>
            <a:ext cx="3657600" cy="274320"/>
          </a:xfrm>
          <a:prstGeom prst="rect">
            <a:avLst/>
          </a:prstGeom>
          <a:noFill/>
        </p:spPr>
        <p:txBody>
          <a:bodyPr wrap="square">
            <a:spAutoFit/>
          </a:bodyPr>
          <a:lstStyle/>
          <a:p>
            <a:pPr algn="l"/>
            <a:r>
              <a:rPr sz="1400" b="1">
                <a:solidFill>
                  <a:srgbClr val="0066CC"/>
                </a:solidFill>
                <a:latin typeface="Arial"/>
              </a:rPr>
              <a:t>CALL</a:t>
            </a:r>
          </a:p>
        </p:txBody>
      </p:sp>
      <p:sp>
        <p:nvSpPr>
          <p:cNvPr id="13" name="TextBox 12"/>
          <p:cNvSpPr txBox="1"/>
          <p:nvPr/>
        </p:nvSpPr>
        <p:spPr>
          <a:xfrm>
            <a:off x="4937760" y="2560320"/>
            <a:ext cx="3657600" cy="274320"/>
          </a:xfrm>
          <a:prstGeom prst="rect">
            <a:avLst/>
          </a:prstGeom>
          <a:noFill/>
        </p:spPr>
        <p:txBody>
          <a:bodyPr wrap="square">
            <a:spAutoFit/>
          </a:bodyPr>
          <a:lstStyle/>
          <a:p>
            <a:pPr algn="l"/>
            <a:r>
              <a:rPr sz="1300" b="0">
                <a:solidFill>
                  <a:srgbClr val="1E293B"/>
                </a:solidFill>
                <a:latin typeface="Arial"/>
              </a:rPr>
              <a:t>Run the function</a:t>
            </a:r>
          </a:p>
        </p:txBody>
      </p:sp>
      <p:sp>
        <p:nvSpPr>
          <p:cNvPr id="14" name="Rounded Rectangle 13"/>
          <p:cNvSpPr/>
          <p:nvPr/>
        </p:nvSpPr>
        <p:spPr>
          <a:xfrm>
            <a:off x="457200" y="3383280"/>
            <a:ext cx="8229600" cy="1188720"/>
          </a:xfrm>
          <a:prstGeom prst="roundRect">
            <a:avLst>
              <a:gd name="adj" fmla="val 10000"/>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3657600"/>
            <a:ext cx="7680960" cy="731520"/>
          </a:xfrm>
          <a:prstGeom prst="rect">
            <a:avLst/>
          </a:prstGeom>
          <a:noFill/>
        </p:spPr>
        <p:txBody>
          <a:bodyPr wrap="square">
            <a:spAutoFit/>
          </a:bodyPr>
          <a:lstStyle/>
          <a:p>
            <a:pPr algn="l"/>
            <a:r>
              <a:rPr sz="1400" b="0">
                <a:solidFill>
                  <a:srgbClr val="1E293B"/>
                </a:solidFill>
                <a:latin typeface="Arial"/>
              </a:rPr>
              <a:t>Declaration defines the function.
Calling invokes the function so it actually runs.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2880"/>
            <a:ext cx="8229600" cy="320040"/>
          </a:xfrm>
          <a:prstGeom prst="rect">
            <a:avLst/>
          </a:prstGeom>
          <a:noFill/>
        </p:spPr>
        <p:txBody>
          <a:bodyPr wrap="square">
            <a:spAutoFit/>
          </a:bodyPr>
          <a:lstStyle/>
          <a:p>
            <a:pPr algn="l"/>
            <a:r>
              <a:rPr sz="2200" b="1">
                <a:solidFill>
                  <a:srgbClr val="0066CC"/>
                </a:solidFill>
                <a:latin typeface="Arial"/>
              </a:rPr>
              <a:t>PARAMETERS &amp; ARGUMENTS</a:t>
            </a:r>
          </a:p>
        </p:txBody>
      </p:sp>
      <p:sp>
        <p:nvSpPr>
          <p:cNvPr id="3" name="Rounded Rectangle 2"/>
          <p:cNvSpPr/>
          <p:nvPr/>
        </p:nvSpPr>
        <p:spPr>
          <a:xfrm>
            <a:off x="365760" y="685800"/>
            <a:ext cx="4114800" cy="1371600"/>
          </a:xfrm>
          <a:prstGeom prst="roundRect">
            <a:avLst>
              <a:gd name="adj" fmla="val 10000"/>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868680"/>
            <a:ext cx="3749039" cy="274320"/>
          </a:xfrm>
          <a:prstGeom prst="rect">
            <a:avLst/>
          </a:prstGeom>
          <a:noFill/>
        </p:spPr>
        <p:txBody>
          <a:bodyPr wrap="square">
            <a:spAutoFit/>
          </a:bodyPr>
          <a:lstStyle/>
          <a:p>
            <a:pPr algn="l"/>
            <a:r>
              <a:rPr sz="1500" b="1">
                <a:solidFill>
                  <a:srgbClr val="0066CC"/>
                </a:solidFill>
                <a:latin typeface="Arial"/>
              </a:rPr>
              <a:t>Parameters</a:t>
            </a:r>
          </a:p>
        </p:txBody>
      </p:sp>
      <p:sp>
        <p:nvSpPr>
          <p:cNvPr id="5" name="TextBox 4"/>
          <p:cNvSpPr txBox="1"/>
          <p:nvPr/>
        </p:nvSpPr>
        <p:spPr>
          <a:xfrm>
            <a:off x="548640" y="1280160"/>
            <a:ext cx="3749039" cy="548640"/>
          </a:xfrm>
          <a:prstGeom prst="rect">
            <a:avLst/>
          </a:prstGeom>
          <a:noFill/>
        </p:spPr>
        <p:txBody>
          <a:bodyPr wrap="square">
            <a:spAutoFit/>
          </a:bodyPr>
          <a:lstStyle/>
          <a:p>
            <a:pPr algn="l"/>
            <a:r>
              <a:rPr sz="1300" b="0">
                <a:solidFill>
                  <a:srgbClr val="334155"/>
                </a:solidFill>
                <a:latin typeface="Arial"/>
              </a:rPr>
              <a:t>Names written inside the
function parentheses at definition</a:t>
            </a:r>
          </a:p>
        </p:txBody>
      </p:sp>
      <p:sp>
        <p:nvSpPr>
          <p:cNvPr id="6" name="Rounded Rectangle 5"/>
          <p:cNvSpPr/>
          <p:nvPr/>
        </p:nvSpPr>
        <p:spPr>
          <a:xfrm>
            <a:off x="4754880" y="685800"/>
            <a:ext cx="4023360" cy="1371600"/>
          </a:xfrm>
          <a:prstGeom prst="roundRect">
            <a:avLst>
              <a:gd name="adj" fmla="val 10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937760" y="868680"/>
            <a:ext cx="3657600" cy="274320"/>
          </a:xfrm>
          <a:prstGeom prst="rect">
            <a:avLst/>
          </a:prstGeom>
          <a:noFill/>
        </p:spPr>
        <p:txBody>
          <a:bodyPr wrap="square">
            <a:spAutoFit/>
          </a:bodyPr>
          <a:lstStyle/>
          <a:p>
            <a:pPr algn="l"/>
            <a:r>
              <a:rPr sz="1500" b="1">
                <a:solidFill>
                  <a:srgbClr val="0066CC"/>
                </a:solidFill>
                <a:latin typeface="Arial"/>
              </a:rPr>
              <a:t>Arguments</a:t>
            </a:r>
          </a:p>
        </p:txBody>
      </p:sp>
      <p:sp>
        <p:nvSpPr>
          <p:cNvPr id="8" name="TextBox 7"/>
          <p:cNvSpPr txBox="1"/>
          <p:nvPr/>
        </p:nvSpPr>
        <p:spPr>
          <a:xfrm>
            <a:off x="4937760" y="1280160"/>
            <a:ext cx="3657600" cy="548640"/>
          </a:xfrm>
          <a:prstGeom prst="rect">
            <a:avLst/>
          </a:prstGeom>
          <a:noFill/>
        </p:spPr>
        <p:txBody>
          <a:bodyPr wrap="square">
            <a:spAutoFit/>
          </a:bodyPr>
          <a:lstStyle/>
          <a:p>
            <a:pPr algn="l"/>
            <a:r>
              <a:rPr sz="1300" b="0">
                <a:solidFill>
                  <a:srgbClr val="1E293B"/>
                </a:solidFill>
                <a:latin typeface="Arial"/>
              </a:rPr>
              <a:t>Actual values sent into
the function when calling it</a:t>
            </a:r>
          </a:p>
        </p:txBody>
      </p:sp>
      <p:sp>
        <p:nvSpPr>
          <p:cNvPr id="9" name="Rounded Rectangle 8"/>
          <p:cNvSpPr/>
          <p:nvPr/>
        </p:nvSpPr>
        <p:spPr>
          <a:xfrm>
            <a:off x="365760" y="2286000"/>
            <a:ext cx="8412480" cy="2377440"/>
          </a:xfrm>
          <a:prstGeom prst="roundRect">
            <a:avLst>
              <a:gd name="adj" fmla="val 10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2514600"/>
            <a:ext cx="7863840" cy="274320"/>
          </a:xfrm>
          <a:prstGeom prst="rect">
            <a:avLst/>
          </a:prstGeom>
          <a:noFill/>
        </p:spPr>
        <p:txBody>
          <a:bodyPr wrap="square">
            <a:spAutoFit/>
          </a:bodyPr>
          <a:lstStyle/>
          <a:p>
            <a:pPr algn="l"/>
            <a:r>
              <a:rPr sz="1400" b="0">
                <a:solidFill>
                  <a:srgbClr val="7DD3FC"/>
                </a:solidFill>
                <a:latin typeface="Consolas"/>
              </a:rPr>
              <a:t>function calculateTotal(price, quantity) {</a:t>
            </a:r>
          </a:p>
        </p:txBody>
      </p:sp>
      <p:sp>
        <p:nvSpPr>
          <p:cNvPr id="11" name="TextBox 10"/>
          <p:cNvSpPr txBox="1"/>
          <p:nvPr/>
        </p:nvSpPr>
        <p:spPr>
          <a:xfrm>
            <a:off x="1005840" y="2926080"/>
            <a:ext cx="7498079" cy="274320"/>
          </a:xfrm>
          <a:prstGeom prst="rect">
            <a:avLst/>
          </a:prstGeom>
          <a:noFill/>
        </p:spPr>
        <p:txBody>
          <a:bodyPr wrap="square">
            <a:spAutoFit/>
          </a:bodyPr>
          <a:lstStyle/>
          <a:p>
            <a:pPr algn="l"/>
            <a:r>
              <a:rPr sz="1400" b="0">
                <a:solidFill>
                  <a:srgbClr val="FFFFFF"/>
                </a:solidFill>
                <a:latin typeface="Consolas"/>
              </a:rPr>
              <a:t>return price * quantity;</a:t>
            </a:r>
          </a:p>
        </p:txBody>
      </p:sp>
      <p:sp>
        <p:nvSpPr>
          <p:cNvPr id="12" name="TextBox 11"/>
          <p:cNvSpPr txBox="1"/>
          <p:nvPr/>
        </p:nvSpPr>
        <p:spPr>
          <a:xfrm>
            <a:off x="640080" y="3337560"/>
            <a:ext cx="7863840" cy="274320"/>
          </a:xfrm>
          <a:prstGeom prst="rect">
            <a:avLst/>
          </a:prstGeom>
          <a:noFill/>
        </p:spPr>
        <p:txBody>
          <a:bodyPr wrap="square">
            <a:spAutoFit/>
          </a:bodyPr>
          <a:lstStyle/>
          <a:p>
            <a:pPr algn="l"/>
            <a:r>
              <a:rPr sz="1400" b="0">
                <a:solidFill>
                  <a:srgbClr val="7DD3FC"/>
                </a:solidFill>
                <a:latin typeface="Consolas"/>
              </a:rPr>
              <a:t>}</a:t>
            </a:r>
          </a:p>
        </p:txBody>
      </p:sp>
      <p:sp>
        <p:nvSpPr>
          <p:cNvPr id="13" name="TextBox 12"/>
          <p:cNvSpPr txBox="1"/>
          <p:nvPr/>
        </p:nvSpPr>
        <p:spPr>
          <a:xfrm>
            <a:off x="640080" y="3840480"/>
            <a:ext cx="7863840" cy="274320"/>
          </a:xfrm>
          <a:prstGeom prst="rect">
            <a:avLst/>
          </a:prstGeom>
          <a:noFill/>
        </p:spPr>
        <p:txBody>
          <a:bodyPr wrap="square">
            <a:spAutoFit/>
          </a:bodyPr>
          <a:lstStyle/>
          <a:p>
            <a:pPr algn="l"/>
            <a:r>
              <a:rPr sz="1400" b="0">
                <a:solidFill>
                  <a:srgbClr val="22C55E"/>
                </a:solidFill>
                <a:latin typeface="Consolas"/>
              </a:rPr>
              <a:t>console.log(calculateTotal(50, 3)); // 150</a:t>
            </a:r>
          </a:p>
        </p:txBody>
      </p:sp>
      <p:sp>
        <p:nvSpPr>
          <p:cNvPr id="14" name="TextBox 13"/>
          <p:cNvSpPr txBox="1"/>
          <p:nvPr/>
        </p:nvSpPr>
        <p:spPr>
          <a:xfrm>
            <a:off x="640080" y="4251960"/>
            <a:ext cx="7863840" cy="228600"/>
          </a:xfrm>
          <a:prstGeom prst="rect">
            <a:avLst/>
          </a:prstGeom>
          <a:noFill/>
        </p:spPr>
        <p:txBody>
          <a:bodyPr wrap="square">
            <a:spAutoFit/>
          </a:bodyPr>
          <a:lstStyle/>
          <a:p>
            <a:pPr algn="l"/>
            <a:r>
              <a:rPr sz="1200" b="0">
                <a:solidFill>
                  <a:srgbClr val="64748B"/>
                </a:solidFill>
                <a:latin typeface="Consolas"/>
              </a:rPr>
              <a:t>// price=50, quantity=3 are the ARGUMENTS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8229600" cy="365760"/>
          </a:xfrm>
          <a:prstGeom prst="rect">
            <a:avLst/>
          </a:prstGeom>
          <a:noFill/>
        </p:spPr>
        <p:txBody>
          <a:bodyPr wrap="square">
            <a:spAutoFit/>
          </a:bodyPr>
          <a:lstStyle/>
          <a:p>
            <a:pPr algn="l"/>
            <a:r>
              <a:rPr sz="2600" b="1">
                <a:solidFill>
                  <a:srgbClr val="0066CC"/>
                </a:solidFill>
                <a:latin typeface="Consolas"/>
              </a:rPr>
              <a:t>return</a:t>
            </a:r>
          </a:p>
        </p:txBody>
      </p:sp>
      <p:sp>
        <p:nvSpPr>
          <p:cNvPr id="3" name="TextBox 2"/>
          <p:cNvSpPr txBox="1"/>
          <p:nvPr/>
        </p:nvSpPr>
        <p:spPr>
          <a:xfrm>
            <a:off x="457200" y="777240"/>
            <a:ext cx="8229600" cy="320040"/>
          </a:xfrm>
          <a:prstGeom prst="rect">
            <a:avLst/>
          </a:prstGeom>
          <a:noFill/>
        </p:spPr>
        <p:txBody>
          <a:bodyPr wrap="square">
            <a:spAutoFit/>
          </a:bodyPr>
          <a:lstStyle/>
          <a:p>
            <a:pPr algn="l"/>
            <a:r>
              <a:rPr sz="1400" b="0">
                <a:solidFill>
                  <a:srgbClr val="334155"/>
                </a:solidFill>
                <a:latin typeface="Arial"/>
              </a:rPr>
              <a:t>Sends the result from inside the function back outside so it can be used</a:t>
            </a:r>
          </a:p>
        </p:txBody>
      </p:sp>
      <p:sp>
        <p:nvSpPr>
          <p:cNvPr id="4" name="Rounded Rectangle 3"/>
          <p:cNvSpPr/>
          <p:nvPr/>
        </p:nvSpPr>
        <p:spPr>
          <a:xfrm>
            <a:off x="457200" y="1371600"/>
            <a:ext cx="2011680" cy="1371600"/>
          </a:xfrm>
          <a:prstGeom prst="roundRect">
            <a:avLst>
              <a:gd name="adj" fmla="val 10000"/>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828800"/>
            <a:ext cx="2011680" cy="457200"/>
          </a:xfrm>
          <a:prstGeom prst="rect">
            <a:avLst/>
          </a:prstGeom>
          <a:noFill/>
        </p:spPr>
        <p:txBody>
          <a:bodyPr wrap="square">
            <a:spAutoFit/>
          </a:bodyPr>
          <a:lstStyle/>
          <a:p>
            <a:pPr algn="ctr"/>
            <a:r>
              <a:rPr sz="1300" b="1">
                <a:solidFill>
                  <a:srgbClr val="0066CC"/>
                </a:solidFill>
                <a:latin typeface="Arial"/>
              </a:rPr>
              <a:t>Function</a:t>
            </a:r>
          </a:p>
        </p:txBody>
      </p:sp>
      <p:sp>
        <p:nvSpPr>
          <p:cNvPr id="6" name="Rounded Rectangle 5"/>
          <p:cNvSpPr/>
          <p:nvPr/>
        </p:nvSpPr>
        <p:spPr>
          <a:xfrm>
            <a:off x="2651760" y="1371600"/>
            <a:ext cx="2011680" cy="1371600"/>
          </a:xfrm>
          <a:prstGeom prst="roundRect">
            <a:avLst>
              <a:gd name="adj" fmla="val 10000"/>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651760" y="1828800"/>
            <a:ext cx="2011680" cy="457200"/>
          </a:xfrm>
          <a:prstGeom prst="rect">
            <a:avLst/>
          </a:prstGeom>
          <a:noFill/>
        </p:spPr>
        <p:txBody>
          <a:bodyPr wrap="square">
            <a:spAutoFit/>
          </a:bodyPr>
          <a:lstStyle/>
          <a:p>
            <a:pPr algn="ctr"/>
            <a:r>
              <a:rPr sz="1300" b="1">
                <a:solidFill>
                  <a:srgbClr val="0066CC"/>
                </a:solidFill>
                <a:latin typeface="Arial"/>
              </a:rPr>
              <a:t>Processing</a:t>
            </a:r>
          </a:p>
        </p:txBody>
      </p:sp>
      <p:sp>
        <p:nvSpPr>
          <p:cNvPr id="8" name="Rounded Rectangle 7"/>
          <p:cNvSpPr/>
          <p:nvPr/>
        </p:nvSpPr>
        <p:spPr>
          <a:xfrm>
            <a:off x="4846320" y="1371600"/>
            <a:ext cx="2011680" cy="1371600"/>
          </a:xfrm>
          <a:prstGeom prst="roundRect">
            <a:avLst>
              <a:gd name="adj" fmla="val 10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846320" y="1828800"/>
            <a:ext cx="2011680" cy="457200"/>
          </a:xfrm>
          <a:prstGeom prst="rect">
            <a:avLst/>
          </a:prstGeom>
          <a:noFill/>
        </p:spPr>
        <p:txBody>
          <a:bodyPr wrap="square">
            <a:spAutoFit/>
          </a:bodyPr>
          <a:lstStyle/>
          <a:p>
            <a:pPr algn="ctr"/>
            <a:r>
              <a:rPr sz="1300" b="1">
                <a:solidFill>
                  <a:srgbClr val="0066CC"/>
                </a:solidFill>
                <a:latin typeface="Arial"/>
              </a:rPr>
              <a:t>return</a:t>
            </a:r>
          </a:p>
        </p:txBody>
      </p:sp>
      <p:sp>
        <p:nvSpPr>
          <p:cNvPr id="10" name="Rounded Rectangle 9"/>
          <p:cNvSpPr/>
          <p:nvPr/>
        </p:nvSpPr>
        <p:spPr>
          <a:xfrm>
            <a:off x="7040879" y="1371600"/>
            <a:ext cx="2011680" cy="1371600"/>
          </a:xfrm>
          <a:prstGeom prst="roundRect">
            <a:avLst>
              <a:gd name="adj" fmla="val 10000"/>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79" y="1828800"/>
            <a:ext cx="2011680" cy="457200"/>
          </a:xfrm>
          <a:prstGeom prst="rect">
            <a:avLst/>
          </a:prstGeom>
          <a:noFill/>
        </p:spPr>
        <p:txBody>
          <a:bodyPr wrap="square">
            <a:spAutoFit/>
          </a:bodyPr>
          <a:lstStyle/>
          <a:p>
            <a:pPr algn="ctr"/>
            <a:r>
              <a:rPr sz="1300" b="1">
                <a:solidFill>
                  <a:srgbClr val="0066CC"/>
                </a:solidFill>
                <a:latin typeface="Arial"/>
              </a:rPr>
              <a:t>Value goes outside</a:t>
            </a:r>
          </a:p>
        </p:txBody>
      </p:sp>
      <p:sp>
        <p:nvSpPr>
          <p:cNvPr id="12" name="Rounded Rectangle 11"/>
          <p:cNvSpPr/>
          <p:nvPr/>
        </p:nvSpPr>
        <p:spPr>
          <a:xfrm>
            <a:off x="457200" y="3108960"/>
            <a:ext cx="8229600" cy="1463040"/>
          </a:xfrm>
          <a:prstGeom prst="roundRect">
            <a:avLst>
              <a:gd name="adj" fmla="val 10000"/>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3383280"/>
            <a:ext cx="7680960" cy="914400"/>
          </a:xfrm>
          <a:prstGeom prst="rect">
            <a:avLst/>
          </a:prstGeom>
          <a:noFill/>
        </p:spPr>
        <p:txBody>
          <a:bodyPr wrap="square">
            <a:spAutoFit/>
          </a:bodyPr>
          <a:lstStyle/>
          <a:p>
            <a:pPr algn="l"/>
            <a:r>
              <a:rPr sz="1500" b="0">
                <a:solidFill>
                  <a:srgbClr val="1E293B"/>
                </a:solidFill>
                <a:latin typeface="Arial"/>
              </a:rPr>
              <a:t>If a function does not return a value explicitly,
the function returns: undefined</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8229600" cy="320040"/>
          </a:xfrm>
          <a:prstGeom prst="rect">
            <a:avLst/>
          </a:prstGeom>
          <a:noFill/>
        </p:spPr>
        <p:txBody>
          <a:bodyPr wrap="square">
            <a:spAutoFit/>
          </a:bodyPr>
          <a:lstStyle/>
          <a:p>
            <a:pPr algn="l"/>
            <a:r>
              <a:rPr sz="2200" b="1">
                <a:solidFill>
                  <a:srgbClr val="0066CC"/>
                </a:solidFill>
                <a:latin typeface="Arial"/>
              </a:rPr>
              <a:t>DEFAULT PARAMETERS</a:t>
            </a:r>
          </a:p>
        </p:txBody>
      </p:sp>
      <p:sp>
        <p:nvSpPr>
          <p:cNvPr id="3" name="TextBox 2"/>
          <p:cNvSpPr txBox="1"/>
          <p:nvPr/>
        </p:nvSpPr>
        <p:spPr>
          <a:xfrm>
            <a:off x="457200" y="685800"/>
            <a:ext cx="8229600" cy="274320"/>
          </a:xfrm>
          <a:prstGeom prst="rect">
            <a:avLst/>
          </a:prstGeom>
          <a:noFill/>
        </p:spPr>
        <p:txBody>
          <a:bodyPr wrap="square">
            <a:spAutoFit/>
          </a:bodyPr>
          <a:lstStyle/>
          <a:p>
            <a:pPr algn="l"/>
            <a:r>
              <a:rPr sz="1400" b="0">
                <a:solidFill>
                  <a:srgbClr val="334155"/>
                </a:solidFill>
                <a:latin typeface="Arial"/>
              </a:rPr>
              <a:t>What if someone calls the function without providing a value?</a:t>
            </a:r>
          </a:p>
        </p:txBody>
      </p:sp>
      <p:sp>
        <p:nvSpPr>
          <p:cNvPr id="4" name="Rounded Rectangle 3"/>
          <p:cNvSpPr/>
          <p:nvPr/>
        </p:nvSpPr>
        <p:spPr>
          <a:xfrm>
            <a:off x="365760" y="1143000"/>
            <a:ext cx="8412480" cy="2286000"/>
          </a:xfrm>
          <a:prstGeom prst="roundRect">
            <a:avLst>
              <a:gd name="adj" fmla="val 10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371600"/>
            <a:ext cx="7863840" cy="274320"/>
          </a:xfrm>
          <a:prstGeom prst="rect">
            <a:avLst/>
          </a:prstGeom>
          <a:noFill/>
        </p:spPr>
        <p:txBody>
          <a:bodyPr wrap="square">
            <a:spAutoFit/>
          </a:bodyPr>
          <a:lstStyle/>
          <a:p>
            <a:pPr algn="l"/>
            <a:r>
              <a:rPr sz="1400" b="0">
                <a:solidFill>
                  <a:srgbClr val="7DD3FC"/>
                </a:solidFill>
                <a:latin typeface="Consolas"/>
              </a:rPr>
              <a:t>function calculateTotal(price, quantity = 1) {</a:t>
            </a:r>
          </a:p>
        </p:txBody>
      </p:sp>
      <p:sp>
        <p:nvSpPr>
          <p:cNvPr id="6" name="TextBox 5"/>
          <p:cNvSpPr txBox="1"/>
          <p:nvPr/>
        </p:nvSpPr>
        <p:spPr>
          <a:xfrm>
            <a:off x="1005840" y="1828800"/>
            <a:ext cx="7498079" cy="274320"/>
          </a:xfrm>
          <a:prstGeom prst="rect">
            <a:avLst/>
          </a:prstGeom>
          <a:noFill/>
        </p:spPr>
        <p:txBody>
          <a:bodyPr wrap="square">
            <a:spAutoFit/>
          </a:bodyPr>
          <a:lstStyle/>
          <a:p>
            <a:pPr algn="l"/>
            <a:r>
              <a:rPr sz="1400" b="0">
                <a:solidFill>
                  <a:srgbClr val="FFFFFF"/>
                </a:solidFill>
                <a:latin typeface="Consolas"/>
              </a:rPr>
              <a:t>return price * quantity;</a:t>
            </a:r>
          </a:p>
        </p:txBody>
      </p:sp>
      <p:sp>
        <p:nvSpPr>
          <p:cNvPr id="7" name="TextBox 6"/>
          <p:cNvSpPr txBox="1"/>
          <p:nvPr/>
        </p:nvSpPr>
        <p:spPr>
          <a:xfrm>
            <a:off x="640080" y="2286000"/>
            <a:ext cx="7863840" cy="274320"/>
          </a:xfrm>
          <a:prstGeom prst="rect">
            <a:avLst/>
          </a:prstGeom>
          <a:noFill/>
        </p:spPr>
        <p:txBody>
          <a:bodyPr wrap="square">
            <a:spAutoFit/>
          </a:bodyPr>
          <a:lstStyle/>
          <a:p>
            <a:pPr algn="l"/>
            <a:r>
              <a:rPr sz="1400" b="0">
                <a:solidFill>
                  <a:srgbClr val="7DD3FC"/>
                </a:solidFill>
                <a:latin typeface="Consolas"/>
              </a:rPr>
              <a:t>}</a:t>
            </a:r>
          </a:p>
        </p:txBody>
      </p:sp>
      <p:sp>
        <p:nvSpPr>
          <p:cNvPr id="8" name="TextBox 7"/>
          <p:cNvSpPr txBox="1"/>
          <p:nvPr/>
        </p:nvSpPr>
        <p:spPr>
          <a:xfrm>
            <a:off x="640080" y="2834640"/>
            <a:ext cx="7863840" cy="274320"/>
          </a:xfrm>
          <a:prstGeom prst="rect">
            <a:avLst/>
          </a:prstGeom>
          <a:noFill/>
        </p:spPr>
        <p:txBody>
          <a:bodyPr wrap="square">
            <a:spAutoFit/>
          </a:bodyPr>
          <a:lstStyle/>
          <a:p>
            <a:pPr algn="l"/>
            <a:r>
              <a:rPr sz="1400" b="0">
                <a:solidFill>
                  <a:srgbClr val="22C55E"/>
                </a:solidFill>
                <a:latin typeface="Consolas"/>
              </a:rPr>
              <a:t>console.log(calculateTotal(50)); // 50</a:t>
            </a:r>
          </a:p>
        </p:txBody>
      </p:sp>
      <p:sp>
        <p:nvSpPr>
          <p:cNvPr id="9" name="TextBox 8"/>
          <p:cNvSpPr txBox="1"/>
          <p:nvPr/>
        </p:nvSpPr>
        <p:spPr>
          <a:xfrm>
            <a:off x="640080" y="3200400"/>
            <a:ext cx="7863840" cy="228600"/>
          </a:xfrm>
          <a:prstGeom prst="rect">
            <a:avLst/>
          </a:prstGeom>
          <a:noFill/>
        </p:spPr>
        <p:txBody>
          <a:bodyPr wrap="square">
            <a:spAutoFit/>
          </a:bodyPr>
          <a:lstStyle/>
          <a:p>
            <a:pPr algn="l"/>
            <a:r>
              <a:rPr sz="1200" b="0">
                <a:solidFill>
                  <a:srgbClr val="64748B"/>
                </a:solidFill>
                <a:latin typeface="Consolas"/>
              </a:rPr>
              <a:t>// quantity uses the default value 1</a:t>
            </a:r>
          </a:p>
        </p:txBody>
      </p:sp>
      <p:sp>
        <p:nvSpPr>
          <p:cNvPr id="10" name="Rounded Rectangle 9"/>
          <p:cNvSpPr/>
          <p:nvPr/>
        </p:nvSpPr>
        <p:spPr>
          <a:xfrm>
            <a:off x="457200" y="3703320"/>
            <a:ext cx="8229600" cy="914400"/>
          </a:xfrm>
          <a:prstGeom prst="roundRect">
            <a:avLst>
              <a:gd name="adj" fmla="val 10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3931920"/>
            <a:ext cx="7680960" cy="457200"/>
          </a:xfrm>
          <a:prstGeom prst="rect">
            <a:avLst/>
          </a:prstGeom>
          <a:noFill/>
        </p:spPr>
        <p:txBody>
          <a:bodyPr wrap="square">
            <a:spAutoFit/>
          </a:bodyPr>
          <a:lstStyle/>
          <a:p>
            <a:pPr algn="l"/>
            <a:r>
              <a:rPr sz="1400" b="0">
                <a:solidFill>
                  <a:srgbClr val="1E293B"/>
                </a:solidFill>
                <a:latin typeface="Arial"/>
              </a:rPr>
              <a:t>calculateTotal(50) → price=50, quantity=1 → 50 × 1 → 50</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320040"/>
          </a:xfrm>
          <a:prstGeom prst="rect">
            <a:avLst/>
          </a:prstGeom>
          <a:noFill/>
        </p:spPr>
        <p:txBody>
          <a:bodyPr wrap="square">
            <a:spAutoFit/>
          </a:bodyPr>
          <a:lstStyle/>
          <a:p>
            <a:pPr algn="l"/>
            <a:r>
              <a:rPr sz="1400" b="1">
                <a:solidFill>
                  <a:srgbClr val="0066CC"/>
                </a:solidFill>
                <a:latin typeface="Arial"/>
              </a:rPr>
              <a:t>TOPIC 3</a:t>
            </a:r>
          </a:p>
        </p:txBody>
      </p:sp>
      <p:sp>
        <p:nvSpPr>
          <p:cNvPr id="3" name="TextBox 2"/>
          <p:cNvSpPr txBox="1"/>
          <p:nvPr/>
        </p:nvSpPr>
        <p:spPr>
          <a:xfrm>
            <a:off x="457200" y="731520"/>
            <a:ext cx="8229600" cy="502920"/>
          </a:xfrm>
          <a:prstGeom prst="rect">
            <a:avLst/>
          </a:prstGeom>
          <a:noFill/>
        </p:spPr>
        <p:txBody>
          <a:bodyPr wrap="square">
            <a:spAutoFit/>
          </a:bodyPr>
          <a:lstStyle/>
          <a:p>
            <a:pPr algn="l"/>
            <a:r>
              <a:rPr sz="2800" b="1">
                <a:solidFill>
                  <a:srgbClr val="0066CC"/>
                </a:solidFill>
                <a:latin typeface="Arial"/>
              </a:rPr>
              <a:t>Arrow Functions</a:t>
            </a:r>
          </a:p>
        </p:txBody>
      </p:sp>
      <p:sp>
        <p:nvSpPr>
          <p:cNvPr id="4" name="Rounded Rectangle 3"/>
          <p:cNvSpPr/>
          <p:nvPr/>
        </p:nvSpPr>
        <p:spPr>
          <a:xfrm>
            <a:off x="457200" y="1463040"/>
            <a:ext cx="8229600" cy="1371600"/>
          </a:xfrm>
          <a:prstGeom prst="roundRect">
            <a:avLst>
              <a:gd name="adj" fmla="val 10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737360"/>
            <a:ext cx="7680960" cy="914400"/>
          </a:xfrm>
          <a:prstGeom prst="rect">
            <a:avLst/>
          </a:prstGeom>
          <a:noFill/>
        </p:spPr>
        <p:txBody>
          <a:bodyPr wrap="square">
            <a:spAutoFit/>
          </a:bodyPr>
          <a:lstStyle/>
          <a:p>
            <a:pPr algn="l"/>
            <a:r>
              <a:rPr sz="1400" b="0">
                <a:solidFill>
                  <a:srgbClr val="1E293B"/>
                </a:solidFill>
                <a:latin typeface="Arial"/>
              </a:rPr>
              <a:t>Another shorter syntax for writing functions.
It is not a completely new concept — simply another way to write the same idea.</a:t>
            </a:r>
          </a:p>
        </p:txBody>
      </p:sp>
      <p:sp>
        <p:nvSpPr>
          <p:cNvPr id="6" name="Rounded Rectangle 5"/>
          <p:cNvSpPr/>
          <p:nvPr/>
        </p:nvSpPr>
        <p:spPr>
          <a:xfrm>
            <a:off x="365760" y="3108960"/>
            <a:ext cx="8412480" cy="1554480"/>
          </a:xfrm>
          <a:prstGeom prst="roundRect">
            <a:avLst>
              <a:gd name="adj" fmla="val 10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3383280"/>
            <a:ext cx="7863840" cy="320040"/>
          </a:xfrm>
          <a:prstGeom prst="rect">
            <a:avLst/>
          </a:prstGeom>
          <a:noFill/>
        </p:spPr>
        <p:txBody>
          <a:bodyPr wrap="square">
            <a:spAutoFit/>
          </a:bodyPr>
          <a:lstStyle/>
          <a:p>
            <a:pPr algn="l"/>
            <a:r>
              <a:rPr sz="1800" b="0">
                <a:solidFill>
                  <a:srgbClr val="FFFFFF"/>
                </a:solidFill>
                <a:latin typeface="Consolas"/>
              </a:rPr>
              <a:t>const add = (a, b) =&gt; a + b;</a:t>
            </a:r>
          </a:p>
        </p:txBody>
      </p:sp>
      <p:sp>
        <p:nvSpPr>
          <p:cNvPr id="8" name="TextBox 7"/>
          <p:cNvSpPr txBox="1"/>
          <p:nvPr/>
        </p:nvSpPr>
        <p:spPr>
          <a:xfrm>
            <a:off x="640080" y="3931920"/>
            <a:ext cx="7863840" cy="320040"/>
          </a:xfrm>
          <a:prstGeom prst="rect">
            <a:avLst/>
          </a:prstGeom>
          <a:noFill/>
        </p:spPr>
        <p:txBody>
          <a:bodyPr wrap="square">
            <a:spAutoFit/>
          </a:bodyPr>
          <a:lstStyle/>
          <a:p>
            <a:pPr algn="l"/>
            <a:r>
              <a:rPr sz="1600" b="0">
                <a:solidFill>
                  <a:srgbClr val="22C55E"/>
                </a:solidFill>
                <a:latin typeface="Consolas"/>
              </a:rPr>
              <a:t>console.log(add(4, 6)); // 10</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8229600" cy="365760"/>
          </a:xfrm>
          <a:prstGeom prst="rect">
            <a:avLst/>
          </a:prstGeom>
          <a:noFill/>
        </p:spPr>
        <p:txBody>
          <a:bodyPr wrap="square">
            <a:spAutoFit/>
          </a:bodyPr>
          <a:lstStyle/>
          <a:p>
            <a:pPr algn="l"/>
            <a:r>
              <a:rPr sz="2200" b="1">
                <a:solidFill>
                  <a:srgbClr val="0066CC"/>
                </a:solidFill>
                <a:latin typeface="Arial"/>
              </a:rPr>
              <a:t>REGULAR vs ARROW</a:t>
            </a:r>
          </a:p>
        </p:txBody>
      </p:sp>
      <p:sp>
        <p:nvSpPr>
          <p:cNvPr id="3" name="Rounded Rectangle 2"/>
          <p:cNvSpPr/>
          <p:nvPr/>
        </p:nvSpPr>
        <p:spPr>
          <a:xfrm>
            <a:off x="365760" y="822960"/>
            <a:ext cx="4114800" cy="3200400"/>
          </a:xfrm>
          <a:prstGeom prst="roundRect">
            <a:avLst>
              <a:gd name="adj" fmla="val 10000"/>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097280"/>
            <a:ext cx="3749039" cy="320040"/>
          </a:xfrm>
          <a:prstGeom prst="rect">
            <a:avLst/>
          </a:prstGeom>
          <a:noFill/>
        </p:spPr>
        <p:txBody>
          <a:bodyPr wrap="square">
            <a:spAutoFit/>
          </a:bodyPr>
          <a:lstStyle/>
          <a:p>
            <a:pPr algn="l"/>
            <a:r>
              <a:rPr sz="1500" b="1">
                <a:solidFill>
                  <a:srgbClr val="0066CC"/>
                </a:solidFill>
                <a:latin typeface="Arial"/>
              </a:rPr>
              <a:t>Regular Function</a:t>
            </a:r>
          </a:p>
        </p:txBody>
      </p:sp>
      <p:sp>
        <p:nvSpPr>
          <p:cNvPr id="5" name="TextBox 4"/>
          <p:cNvSpPr txBox="1"/>
          <p:nvPr/>
        </p:nvSpPr>
        <p:spPr>
          <a:xfrm>
            <a:off x="548640" y="1737360"/>
            <a:ext cx="3749039" cy="1371600"/>
          </a:xfrm>
          <a:prstGeom prst="rect">
            <a:avLst/>
          </a:prstGeom>
          <a:noFill/>
        </p:spPr>
        <p:txBody>
          <a:bodyPr wrap="square">
            <a:spAutoFit/>
          </a:bodyPr>
          <a:lstStyle/>
          <a:p>
            <a:pPr algn="l"/>
            <a:r>
              <a:rPr sz="1400" b="0">
                <a:solidFill>
                  <a:srgbClr val="334155"/>
                </a:solidFill>
                <a:latin typeface="Consolas"/>
              </a:rPr>
              <a:t>function add(a, b) {
    return a + b;
}</a:t>
            </a:r>
          </a:p>
        </p:txBody>
      </p:sp>
      <p:sp>
        <p:nvSpPr>
          <p:cNvPr id="6" name="Rounded Rectangle 5"/>
          <p:cNvSpPr/>
          <p:nvPr/>
        </p:nvSpPr>
        <p:spPr>
          <a:xfrm>
            <a:off x="4754880" y="822960"/>
            <a:ext cx="4023360" cy="3200400"/>
          </a:xfrm>
          <a:prstGeom prst="roundRect">
            <a:avLst>
              <a:gd name="adj" fmla="val 10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937760" y="1097280"/>
            <a:ext cx="3657600" cy="320040"/>
          </a:xfrm>
          <a:prstGeom prst="rect">
            <a:avLst/>
          </a:prstGeom>
          <a:noFill/>
        </p:spPr>
        <p:txBody>
          <a:bodyPr wrap="square">
            <a:spAutoFit/>
          </a:bodyPr>
          <a:lstStyle/>
          <a:p>
            <a:pPr algn="l"/>
            <a:r>
              <a:rPr sz="1500" b="1">
                <a:solidFill>
                  <a:srgbClr val="0066CC"/>
                </a:solidFill>
                <a:latin typeface="Arial"/>
              </a:rPr>
              <a:t>Arrow Function</a:t>
            </a:r>
          </a:p>
        </p:txBody>
      </p:sp>
      <p:sp>
        <p:nvSpPr>
          <p:cNvPr id="8" name="TextBox 7"/>
          <p:cNvSpPr txBox="1"/>
          <p:nvPr/>
        </p:nvSpPr>
        <p:spPr>
          <a:xfrm>
            <a:off x="4937760" y="1737360"/>
            <a:ext cx="3657600" cy="1371600"/>
          </a:xfrm>
          <a:prstGeom prst="rect">
            <a:avLst/>
          </a:prstGeom>
          <a:noFill/>
        </p:spPr>
        <p:txBody>
          <a:bodyPr wrap="square">
            <a:spAutoFit/>
          </a:bodyPr>
          <a:lstStyle/>
          <a:p>
            <a:pPr algn="l"/>
            <a:r>
              <a:rPr sz="1400" b="0">
                <a:solidFill>
                  <a:srgbClr val="1E293B"/>
                </a:solidFill>
                <a:latin typeface="Consolas"/>
              </a:rPr>
              <a:t>const add = (a, b) =&gt; a + b;</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320040"/>
          </a:xfrm>
          <a:prstGeom prst="rect">
            <a:avLst/>
          </a:prstGeom>
          <a:noFill/>
        </p:spPr>
        <p:txBody>
          <a:bodyPr wrap="square">
            <a:spAutoFit/>
          </a:bodyPr>
          <a:lstStyle/>
          <a:p>
            <a:pPr algn="l"/>
            <a:r>
              <a:rPr sz="1400" b="1">
                <a:solidFill>
                  <a:srgbClr val="0066CC"/>
                </a:solidFill>
                <a:latin typeface="Arial"/>
              </a:rPr>
              <a:t>TOPIC 4</a:t>
            </a:r>
          </a:p>
        </p:txBody>
      </p:sp>
      <p:sp>
        <p:nvSpPr>
          <p:cNvPr id="3" name="TextBox 2"/>
          <p:cNvSpPr txBox="1"/>
          <p:nvPr/>
        </p:nvSpPr>
        <p:spPr>
          <a:xfrm>
            <a:off x="457200" y="731520"/>
            <a:ext cx="8229600" cy="502920"/>
          </a:xfrm>
          <a:prstGeom prst="rect">
            <a:avLst/>
          </a:prstGeom>
          <a:noFill/>
        </p:spPr>
        <p:txBody>
          <a:bodyPr wrap="square">
            <a:spAutoFit/>
          </a:bodyPr>
          <a:lstStyle/>
          <a:p>
            <a:pPr algn="l"/>
            <a:r>
              <a:rPr sz="2800" b="1">
                <a:solidFill>
                  <a:srgbClr val="0066CC"/>
                </a:solidFill>
                <a:latin typeface="Arial"/>
              </a:rPr>
              <a:t>Scope</a:t>
            </a:r>
          </a:p>
        </p:txBody>
      </p:sp>
      <p:sp>
        <p:nvSpPr>
          <p:cNvPr id="4" name="Rounded Rectangle 3"/>
          <p:cNvSpPr/>
          <p:nvPr/>
        </p:nvSpPr>
        <p:spPr>
          <a:xfrm>
            <a:off x="457200" y="1463040"/>
            <a:ext cx="8229600" cy="1371600"/>
          </a:xfrm>
          <a:prstGeom prst="roundRect">
            <a:avLst>
              <a:gd name="adj" fmla="val 10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737360"/>
            <a:ext cx="7680960" cy="914400"/>
          </a:xfrm>
          <a:prstGeom prst="rect">
            <a:avLst/>
          </a:prstGeom>
          <a:noFill/>
        </p:spPr>
        <p:txBody>
          <a:bodyPr wrap="square">
            <a:spAutoFit/>
          </a:bodyPr>
          <a:lstStyle/>
          <a:p>
            <a:pPr algn="l"/>
            <a:r>
              <a:rPr sz="1400" b="0">
                <a:solidFill>
                  <a:srgbClr val="1E293B"/>
                </a:solidFill>
                <a:latin typeface="Arial"/>
              </a:rPr>
              <a:t>A variable created inside a specific block using { }
is available inside that block.
It cannot be accessed from outside the block.</a:t>
            </a:r>
          </a:p>
        </p:txBody>
      </p:sp>
      <p:sp>
        <p:nvSpPr>
          <p:cNvPr id="6" name="Rounded Rectangle 5"/>
          <p:cNvSpPr/>
          <p:nvPr/>
        </p:nvSpPr>
        <p:spPr>
          <a:xfrm>
            <a:off x="365760" y="3108960"/>
            <a:ext cx="8412480" cy="1554480"/>
          </a:xfrm>
          <a:prstGeom prst="roundRect">
            <a:avLst>
              <a:gd name="adj" fmla="val 10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3291840"/>
            <a:ext cx="7863840" cy="228600"/>
          </a:xfrm>
          <a:prstGeom prst="rect">
            <a:avLst/>
          </a:prstGeom>
          <a:noFill/>
        </p:spPr>
        <p:txBody>
          <a:bodyPr wrap="square">
            <a:spAutoFit/>
          </a:bodyPr>
          <a:lstStyle/>
          <a:p>
            <a:pPr algn="l"/>
            <a:r>
              <a:rPr sz="1300" b="0">
                <a:solidFill>
                  <a:srgbClr val="7DD3FC"/>
                </a:solidFill>
                <a:latin typeface="Consolas"/>
              </a:rPr>
              <a:t>if (true) {</a:t>
            </a:r>
          </a:p>
        </p:txBody>
      </p:sp>
      <p:sp>
        <p:nvSpPr>
          <p:cNvPr id="8" name="TextBox 7"/>
          <p:cNvSpPr txBox="1"/>
          <p:nvPr/>
        </p:nvSpPr>
        <p:spPr>
          <a:xfrm>
            <a:off x="914400" y="3657600"/>
            <a:ext cx="7589520" cy="228600"/>
          </a:xfrm>
          <a:prstGeom prst="rect">
            <a:avLst/>
          </a:prstGeom>
          <a:noFill/>
        </p:spPr>
        <p:txBody>
          <a:bodyPr wrap="square">
            <a:spAutoFit/>
          </a:bodyPr>
          <a:lstStyle/>
          <a:p>
            <a:pPr algn="l"/>
            <a:r>
              <a:rPr sz="1300" b="0">
                <a:solidFill>
                  <a:srgbClr val="FFFFFF"/>
                </a:solidFill>
                <a:latin typeface="Consolas"/>
              </a:rPr>
              <a:t>let message = "Hello";</a:t>
            </a:r>
          </a:p>
        </p:txBody>
      </p:sp>
      <p:sp>
        <p:nvSpPr>
          <p:cNvPr id="9" name="TextBox 8"/>
          <p:cNvSpPr txBox="1"/>
          <p:nvPr/>
        </p:nvSpPr>
        <p:spPr>
          <a:xfrm>
            <a:off x="914400" y="3977639"/>
            <a:ext cx="7589520" cy="228600"/>
          </a:xfrm>
          <a:prstGeom prst="rect">
            <a:avLst/>
          </a:prstGeom>
          <a:noFill/>
        </p:spPr>
        <p:txBody>
          <a:bodyPr wrap="square">
            <a:spAutoFit/>
          </a:bodyPr>
          <a:lstStyle/>
          <a:p>
            <a:pPr algn="l"/>
            <a:r>
              <a:rPr sz="1200" b="0">
                <a:solidFill>
                  <a:srgbClr val="22C55E"/>
                </a:solidFill>
                <a:latin typeface="Consolas"/>
              </a:rPr>
              <a:t>console.log(message); // Works — same block</a:t>
            </a:r>
          </a:p>
        </p:txBody>
      </p:sp>
      <p:sp>
        <p:nvSpPr>
          <p:cNvPr id="10" name="TextBox 9"/>
          <p:cNvSpPr txBox="1"/>
          <p:nvPr/>
        </p:nvSpPr>
        <p:spPr>
          <a:xfrm>
            <a:off x="640080" y="4297680"/>
            <a:ext cx="7863840" cy="228600"/>
          </a:xfrm>
          <a:prstGeom prst="rect">
            <a:avLst/>
          </a:prstGeom>
          <a:noFill/>
        </p:spPr>
        <p:txBody>
          <a:bodyPr wrap="square">
            <a:spAutoFit/>
          </a:bodyPr>
          <a:lstStyle/>
          <a:p>
            <a:pPr algn="l"/>
            <a:r>
              <a:rPr sz="1300" b="0">
                <a:solidFill>
                  <a:srgbClr val="7DD3FC"/>
                </a:solidFill>
                <a:latin typeface="Consolas"/>
              </a:rPr>
              <a: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8229600" cy="365760"/>
          </a:xfrm>
          <a:prstGeom prst="rect">
            <a:avLst/>
          </a:prstGeom>
          <a:noFill/>
        </p:spPr>
        <p:txBody>
          <a:bodyPr wrap="square">
            <a:spAutoFit/>
          </a:bodyPr>
          <a:lstStyle/>
          <a:p>
            <a:pPr algn="l"/>
            <a:r>
              <a:rPr sz="2200" b="1">
                <a:solidFill>
                  <a:srgbClr val="0066CC"/>
                </a:solidFill>
                <a:latin typeface="Arial"/>
              </a:rPr>
              <a:t>SCOPE — VISUAL</a:t>
            </a:r>
          </a:p>
        </p:txBody>
      </p:sp>
      <p:sp>
        <p:nvSpPr>
          <p:cNvPr id="3" name="Rounded Rectangle 2"/>
          <p:cNvSpPr/>
          <p:nvPr/>
        </p:nvSpPr>
        <p:spPr>
          <a:xfrm>
            <a:off x="1371600" y="914400"/>
            <a:ext cx="6400800" cy="2286000"/>
          </a:xfrm>
          <a:prstGeom prst="roundRect">
            <a:avLst>
              <a:gd name="adj" fmla="val 10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554480" y="1188720"/>
            <a:ext cx="6035040" cy="320040"/>
          </a:xfrm>
          <a:prstGeom prst="rect">
            <a:avLst/>
          </a:prstGeom>
          <a:noFill/>
        </p:spPr>
        <p:txBody>
          <a:bodyPr wrap="square">
            <a:spAutoFit/>
          </a:bodyPr>
          <a:lstStyle/>
          <a:p>
            <a:pPr algn="l"/>
            <a:r>
              <a:rPr sz="1600" b="1">
                <a:solidFill>
                  <a:srgbClr val="0066CC"/>
                </a:solidFill>
                <a:latin typeface="Arial"/>
              </a:rPr>
              <a:t>BLOCK  { }</a:t>
            </a:r>
          </a:p>
        </p:txBody>
      </p:sp>
      <p:sp>
        <p:nvSpPr>
          <p:cNvPr id="5" name="TextBox 4"/>
          <p:cNvSpPr txBox="1"/>
          <p:nvPr/>
        </p:nvSpPr>
        <p:spPr>
          <a:xfrm>
            <a:off x="1554480" y="1737360"/>
            <a:ext cx="6035040" cy="320040"/>
          </a:xfrm>
          <a:prstGeom prst="rect">
            <a:avLst/>
          </a:prstGeom>
          <a:noFill/>
        </p:spPr>
        <p:txBody>
          <a:bodyPr wrap="square">
            <a:spAutoFit/>
          </a:bodyPr>
          <a:lstStyle/>
          <a:p>
            <a:pPr algn="l"/>
            <a:r>
              <a:rPr sz="1500" b="0">
                <a:solidFill>
                  <a:srgbClr val="1E293B"/>
                </a:solidFill>
                <a:latin typeface="Consolas"/>
              </a:rPr>
              <a:t>let message = "Hello"</a:t>
            </a:r>
          </a:p>
        </p:txBody>
      </p:sp>
      <p:sp>
        <p:nvSpPr>
          <p:cNvPr id="6" name="TextBox 5"/>
          <p:cNvSpPr txBox="1"/>
          <p:nvPr/>
        </p:nvSpPr>
        <p:spPr>
          <a:xfrm>
            <a:off x="1554480" y="2286000"/>
            <a:ext cx="6035040" cy="457200"/>
          </a:xfrm>
          <a:prstGeom prst="rect">
            <a:avLst/>
          </a:prstGeom>
          <a:noFill/>
        </p:spPr>
        <p:txBody>
          <a:bodyPr wrap="square">
            <a:spAutoFit/>
          </a:bodyPr>
          <a:lstStyle/>
          <a:p>
            <a:pPr algn="l"/>
            <a:r>
              <a:rPr sz="1600" b="1">
                <a:solidFill>
                  <a:srgbClr val="22C55E"/>
                </a:solidFill>
                <a:latin typeface="Arial"/>
              </a:rPr>
              <a:t>accessible here</a:t>
            </a:r>
          </a:p>
        </p:txBody>
      </p:sp>
      <p:sp>
        <p:nvSpPr>
          <p:cNvPr id="7" name="Rounded Rectangle 6"/>
          <p:cNvSpPr/>
          <p:nvPr/>
        </p:nvSpPr>
        <p:spPr>
          <a:xfrm>
            <a:off x="1371600" y="3474720"/>
            <a:ext cx="6400800" cy="1188720"/>
          </a:xfrm>
          <a:prstGeom prst="roundRect">
            <a:avLst>
              <a:gd name="adj" fmla="val 10000"/>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554480" y="3749039"/>
            <a:ext cx="6035040" cy="640080"/>
          </a:xfrm>
          <a:prstGeom prst="rect">
            <a:avLst/>
          </a:prstGeom>
          <a:noFill/>
        </p:spPr>
        <p:txBody>
          <a:bodyPr wrap="square">
            <a:spAutoFit/>
          </a:bodyPr>
          <a:lstStyle/>
          <a:p>
            <a:pPr algn="l"/>
            <a:r>
              <a:rPr sz="1600" b="1">
                <a:solidFill>
                  <a:srgbClr val="EF4444"/>
                </a:solidFill>
                <a:latin typeface="Arial"/>
              </a:rPr>
              <a:t>Outside the block → not accessible</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37160"/>
            <a:ext cx="8229600" cy="307777"/>
          </a:xfrm>
          <a:prstGeom prst="rect">
            <a:avLst/>
          </a:prstGeom>
          <a:noFill/>
        </p:spPr>
        <p:txBody>
          <a:bodyPr wrap="square">
            <a:spAutoFit/>
          </a:bodyPr>
          <a:lstStyle/>
          <a:p>
            <a:pPr algn="l"/>
            <a:r>
              <a:rPr sz="1400" b="1" dirty="0">
                <a:solidFill>
                  <a:srgbClr val="0066CC"/>
                </a:solidFill>
                <a:latin typeface="Arial"/>
              </a:rPr>
              <a:t>TASK 1 </a:t>
            </a:r>
          </a:p>
        </p:txBody>
      </p:sp>
      <p:sp>
        <p:nvSpPr>
          <p:cNvPr id="3" name="TextBox 2"/>
          <p:cNvSpPr txBox="1"/>
          <p:nvPr/>
        </p:nvSpPr>
        <p:spPr>
          <a:xfrm>
            <a:off x="457200" y="457200"/>
            <a:ext cx="8229600" cy="365760"/>
          </a:xfrm>
          <a:prstGeom prst="rect">
            <a:avLst/>
          </a:prstGeom>
          <a:noFill/>
        </p:spPr>
        <p:txBody>
          <a:bodyPr wrap="square">
            <a:spAutoFit/>
          </a:bodyPr>
          <a:lstStyle/>
          <a:p>
            <a:pPr algn="l"/>
            <a:r>
              <a:rPr sz="2400" b="1">
                <a:solidFill>
                  <a:srgbClr val="0066CC"/>
                </a:solidFill>
                <a:latin typeface="Arial"/>
              </a:rPr>
              <a:t>Calculate Total</a:t>
            </a:r>
          </a:p>
        </p:txBody>
      </p:sp>
      <p:sp>
        <p:nvSpPr>
          <p:cNvPr id="4" name="Rounded Rectangle 3"/>
          <p:cNvSpPr/>
          <p:nvPr/>
        </p:nvSpPr>
        <p:spPr>
          <a:xfrm>
            <a:off x="365760" y="1005840"/>
            <a:ext cx="8412480" cy="2560320"/>
          </a:xfrm>
          <a:prstGeom prst="roundRect">
            <a:avLst>
              <a:gd name="adj" fmla="val 10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188720"/>
            <a:ext cx="8046720" cy="274320"/>
          </a:xfrm>
          <a:prstGeom prst="rect">
            <a:avLst/>
          </a:prstGeom>
          <a:noFill/>
        </p:spPr>
        <p:txBody>
          <a:bodyPr wrap="square">
            <a:spAutoFit/>
          </a:bodyPr>
          <a:lstStyle/>
          <a:p>
            <a:pPr algn="l"/>
            <a:r>
              <a:rPr sz="1300" b="0">
                <a:solidFill>
                  <a:srgbClr val="1E293B"/>
                </a:solidFill>
                <a:latin typeface="Arial"/>
              </a:rPr>
              <a:t>Create a function to calculate the total price of a product.</a:t>
            </a:r>
          </a:p>
        </p:txBody>
      </p:sp>
      <p:sp>
        <p:nvSpPr>
          <p:cNvPr id="6" name="TextBox 5"/>
          <p:cNvSpPr txBox="1"/>
          <p:nvPr/>
        </p:nvSpPr>
        <p:spPr>
          <a:xfrm>
            <a:off x="548640" y="1645920"/>
            <a:ext cx="8046720" cy="274320"/>
          </a:xfrm>
          <a:prstGeom prst="rect">
            <a:avLst/>
          </a:prstGeom>
          <a:noFill/>
        </p:spPr>
        <p:txBody>
          <a:bodyPr wrap="square">
            <a:spAutoFit/>
          </a:bodyPr>
          <a:lstStyle/>
          <a:p>
            <a:pPr algn="l"/>
            <a:r>
              <a:rPr sz="1300" b="0">
                <a:solidFill>
                  <a:srgbClr val="1E293B"/>
                </a:solidFill>
                <a:latin typeface="Arial"/>
              </a:rPr>
              <a:t>1. Create a function called calculateTotal.</a:t>
            </a:r>
          </a:p>
        </p:txBody>
      </p:sp>
      <p:sp>
        <p:nvSpPr>
          <p:cNvPr id="7" name="TextBox 6"/>
          <p:cNvSpPr txBox="1"/>
          <p:nvPr/>
        </p:nvSpPr>
        <p:spPr>
          <a:xfrm>
            <a:off x="548640" y="1938528"/>
            <a:ext cx="8046720" cy="274320"/>
          </a:xfrm>
          <a:prstGeom prst="rect">
            <a:avLst/>
          </a:prstGeom>
          <a:noFill/>
        </p:spPr>
        <p:txBody>
          <a:bodyPr wrap="square">
            <a:spAutoFit/>
          </a:bodyPr>
          <a:lstStyle/>
          <a:p>
            <a:pPr algn="l"/>
            <a:r>
              <a:rPr sz="1300" b="0">
                <a:solidFill>
                  <a:srgbClr val="1E293B"/>
                </a:solidFill>
                <a:latin typeface="Arial"/>
              </a:rPr>
              <a:t>2. The function should take price and quantity.</a:t>
            </a:r>
          </a:p>
        </p:txBody>
      </p:sp>
      <p:sp>
        <p:nvSpPr>
          <p:cNvPr id="8" name="TextBox 7"/>
          <p:cNvSpPr txBox="1"/>
          <p:nvPr/>
        </p:nvSpPr>
        <p:spPr>
          <a:xfrm>
            <a:off x="548640" y="2231136"/>
            <a:ext cx="8046720" cy="274320"/>
          </a:xfrm>
          <a:prstGeom prst="rect">
            <a:avLst/>
          </a:prstGeom>
          <a:noFill/>
        </p:spPr>
        <p:txBody>
          <a:bodyPr wrap="square">
            <a:spAutoFit/>
          </a:bodyPr>
          <a:lstStyle/>
          <a:p>
            <a:pPr algn="l"/>
            <a:r>
              <a:rPr sz="1300" b="0">
                <a:solidFill>
                  <a:srgbClr val="1E293B"/>
                </a:solidFill>
                <a:latin typeface="Arial"/>
              </a:rPr>
              <a:t>3. Return the total price.</a:t>
            </a:r>
          </a:p>
        </p:txBody>
      </p:sp>
      <p:sp>
        <p:nvSpPr>
          <p:cNvPr id="9" name="TextBox 8"/>
          <p:cNvSpPr txBox="1"/>
          <p:nvPr/>
        </p:nvSpPr>
        <p:spPr>
          <a:xfrm>
            <a:off x="548640" y="2523744"/>
            <a:ext cx="8046720" cy="274320"/>
          </a:xfrm>
          <a:prstGeom prst="rect">
            <a:avLst/>
          </a:prstGeom>
          <a:noFill/>
        </p:spPr>
        <p:txBody>
          <a:bodyPr wrap="square">
            <a:spAutoFit/>
          </a:bodyPr>
          <a:lstStyle/>
          <a:p>
            <a:pPr algn="l"/>
            <a:r>
              <a:rPr sz="1300" b="0">
                <a:solidFill>
                  <a:srgbClr val="1E293B"/>
                </a:solidFill>
                <a:latin typeface="Arial"/>
              </a:rPr>
              <a:t>4. Set quantity to 1 by default.</a:t>
            </a:r>
          </a:p>
        </p:txBody>
      </p:sp>
      <p:sp>
        <p:nvSpPr>
          <p:cNvPr id="10" name="TextBox 9"/>
          <p:cNvSpPr txBox="1"/>
          <p:nvPr/>
        </p:nvSpPr>
        <p:spPr>
          <a:xfrm>
            <a:off x="548640" y="2816352"/>
            <a:ext cx="8046720" cy="274320"/>
          </a:xfrm>
          <a:prstGeom prst="rect">
            <a:avLst/>
          </a:prstGeom>
          <a:noFill/>
        </p:spPr>
        <p:txBody>
          <a:bodyPr wrap="square">
            <a:spAutoFit/>
          </a:bodyPr>
          <a:lstStyle/>
          <a:p>
            <a:pPr algn="l"/>
            <a:r>
              <a:rPr sz="1300" b="0">
                <a:solidFill>
                  <a:srgbClr val="1E293B"/>
                </a:solidFill>
                <a:latin typeface="Arial"/>
              </a:rPr>
              <a:t>5. Call the function with different values.</a:t>
            </a:r>
          </a:p>
        </p:txBody>
      </p:sp>
      <p:sp>
        <p:nvSpPr>
          <p:cNvPr id="11" name="TextBox 10"/>
          <p:cNvSpPr txBox="1"/>
          <p:nvPr/>
        </p:nvSpPr>
        <p:spPr>
          <a:xfrm>
            <a:off x="548640" y="3108960"/>
            <a:ext cx="8046720" cy="274320"/>
          </a:xfrm>
          <a:prstGeom prst="rect">
            <a:avLst/>
          </a:prstGeom>
          <a:noFill/>
        </p:spPr>
        <p:txBody>
          <a:bodyPr wrap="square">
            <a:spAutoFit/>
          </a:bodyPr>
          <a:lstStyle/>
          <a:p>
            <a:pPr algn="l"/>
            <a:r>
              <a:rPr sz="1300" b="0">
                <a:solidFill>
                  <a:srgbClr val="1E293B"/>
                </a:solidFill>
                <a:latin typeface="Arial"/>
              </a:rPr>
              <a:t>6. Print the returned result.</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2880"/>
            <a:ext cx="8229600" cy="320040"/>
          </a:xfrm>
          <a:prstGeom prst="rect">
            <a:avLst/>
          </a:prstGeom>
          <a:noFill/>
        </p:spPr>
        <p:txBody>
          <a:bodyPr wrap="square">
            <a:spAutoFit/>
          </a:bodyPr>
          <a:lstStyle/>
          <a:p>
            <a:pPr algn="l"/>
            <a:r>
              <a:rPr sz="1600" b="1">
                <a:solidFill>
                  <a:srgbClr val="0066CC"/>
                </a:solidFill>
                <a:latin typeface="Arial"/>
              </a:rPr>
              <a:t>TASK 1 — REFERENCE SOLUTION</a:t>
            </a:r>
          </a:p>
        </p:txBody>
      </p:sp>
      <p:sp>
        <p:nvSpPr>
          <p:cNvPr id="3" name="Rounded Rectangle 2"/>
          <p:cNvSpPr/>
          <p:nvPr/>
        </p:nvSpPr>
        <p:spPr>
          <a:xfrm>
            <a:off x="274320" y="640080"/>
            <a:ext cx="8595360" cy="3200400"/>
          </a:xfrm>
          <a:prstGeom prst="roundRect">
            <a:avLst>
              <a:gd name="adj" fmla="val 10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005840"/>
            <a:ext cx="8229600" cy="320040"/>
          </a:xfrm>
          <a:prstGeom prst="rect">
            <a:avLst/>
          </a:prstGeom>
          <a:noFill/>
        </p:spPr>
        <p:txBody>
          <a:bodyPr wrap="square">
            <a:spAutoFit/>
          </a:bodyPr>
          <a:lstStyle/>
          <a:p>
            <a:pPr algn="l"/>
            <a:r>
              <a:rPr sz="1500" b="0">
                <a:solidFill>
                  <a:srgbClr val="7DD3FC"/>
                </a:solidFill>
                <a:latin typeface="Consolas"/>
              </a:rPr>
              <a:t>function calculateTotal(price, quantity = 1) {</a:t>
            </a:r>
          </a:p>
        </p:txBody>
      </p:sp>
      <p:sp>
        <p:nvSpPr>
          <p:cNvPr id="5" name="TextBox 4"/>
          <p:cNvSpPr txBox="1"/>
          <p:nvPr/>
        </p:nvSpPr>
        <p:spPr>
          <a:xfrm>
            <a:off x="457200" y="1371600"/>
            <a:ext cx="8229600" cy="320040"/>
          </a:xfrm>
          <a:prstGeom prst="rect">
            <a:avLst/>
          </a:prstGeom>
          <a:noFill/>
        </p:spPr>
        <p:txBody>
          <a:bodyPr wrap="square">
            <a:spAutoFit/>
          </a:bodyPr>
          <a:lstStyle/>
          <a:p>
            <a:pPr algn="l"/>
            <a:r>
              <a:rPr sz="1500" b="0">
                <a:solidFill>
                  <a:srgbClr val="FFFFFF"/>
                </a:solidFill>
                <a:latin typeface="Consolas"/>
              </a:rPr>
              <a:t>    return price * quantity;</a:t>
            </a:r>
          </a:p>
        </p:txBody>
      </p:sp>
      <p:sp>
        <p:nvSpPr>
          <p:cNvPr id="6" name="TextBox 5"/>
          <p:cNvSpPr txBox="1"/>
          <p:nvPr/>
        </p:nvSpPr>
        <p:spPr>
          <a:xfrm>
            <a:off x="457200" y="1737360"/>
            <a:ext cx="8229600" cy="320040"/>
          </a:xfrm>
          <a:prstGeom prst="rect">
            <a:avLst/>
          </a:prstGeom>
          <a:noFill/>
        </p:spPr>
        <p:txBody>
          <a:bodyPr wrap="square">
            <a:spAutoFit/>
          </a:bodyPr>
          <a:lstStyle/>
          <a:p>
            <a:pPr algn="l"/>
            <a:r>
              <a:rPr sz="1500" b="0">
                <a:solidFill>
                  <a:srgbClr val="7DD3FC"/>
                </a:solidFill>
                <a:latin typeface="Consolas"/>
              </a:rPr>
              <a:t>}</a:t>
            </a:r>
          </a:p>
        </p:txBody>
      </p:sp>
      <p:sp>
        <p:nvSpPr>
          <p:cNvPr id="7" name="TextBox 6"/>
          <p:cNvSpPr txBox="1"/>
          <p:nvPr/>
        </p:nvSpPr>
        <p:spPr>
          <a:xfrm>
            <a:off x="457200" y="2468880"/>
            <a:ext cx="8229600" cy="320040"/>
          </a:xfrm>
          <a:prstGeom prst="rect">
            <a:avLst/>
          </a:prstGeom>
          <a:noFill/>
        </p:spPr>
        <p:txBody>
          <a:bodyPr wrap="square">
            <a:spAutoFit/>
          </a:bodyPr>
          <a:lstStyle/>
          <a:p>
            <a:pPr algn="l"/>
            <a:r>
              <a:rPr sz="1500" b="0">
                <a:solidFill>
                  <a:srgbClr val="22C55E"/>
                </a:solidFill>
                <a:latin typeface="Consolas"/>
              </a:rPr>
              <a:t>console.log(calculateTotal(100, 3));</a:t>
            </a:r>
          </a:p>
        </p:txBody>
      </p:sp>
      <p:sp>
        <p:nvSpPr>
          <p:cNvPr id="8" name="TextBox 7"/>
          <p:cNvSpPr txBox="1"/>
          <p:nvPr/>
        </p:nvSpPr>
        <p:spPr>
          <a:xfrm>
            <a:off x="457200" y="2834640"/>
            <a:ext cx="8229600" cy="320040"/>
          </a:xfrm>
          <a:prstGeom prst="rect">
            <a:avLst/>
          </a:prstGeom>
          <a:noFill/>
        </p:spPr>
        <p:txBody>
          <a:bodyPr wrap="square">
            <a:spAutoFit/>
          </a:bodyPr>
          <a:lstStyle/>
          <a:p>
            <a:pPr algn="l"/>
            <a:r>
              <a:rPr sz="1500" b="0">
                <a:solidFill>
                  <a:srgbClr val="22C55E"/>
                </a:solidFill>
                <a:latin typeface="Consolas"/>
              </a:rPr>
              <a:t>console.log(calculateTotal(200));</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37160"/>
            <a:ext cx="8229600" cy="307777"/>
          </a:xfrm>
          <a:prstGeom prst="rect">
            <a:avLst/>
          </a:prstGeom>
          <a:noFill/>
        </p:spPr>
        <p:txBody>
          <a:bodyPr wrap="square">
            <a:spAutoFit/>
          </a:bodyPr>
          <a:lstStyle/>
          <a:p>
            <a:pPr algn="l"/>
            <a:r>
              <a:rPr sz="1400" b="1" dirty="0">
                <a:solidFill>
                  <a:srgbClr val="0066CC"/>
                </a:solidFill>
                <a:latin typeface="Arial"/>
              </a:rPr>
              <a:t>TASK 2</a:t>
            </a:r>
          </a:p>
        </p:txBody>
      </p:sp>
      <p:sp>
        <p:nvSpPr>
          <p:cNvPr id="3" name="TextBox 2"/>
          <p:cNvSpPr txBox="1"/>
          <p:nvPr/>
        </p:nvSpPr>
        <p:spPr>
          <a:xfrm>
            <a:off x="457200" y="457200"/>
            <a:ext cx="8229600" cy="365760"/>
          </a:xfrm>
          <a:prstGeom prst="rect">
            <a:avLst/>
          </a:prstGeom>
          <a:noFill/>
        </p:spPr>
        <p:txBody>
          <a:bodyPr wrap="square">
            <a:spAutoFit/>
          </a:bodyPr>
          <a:lstStyle/>
          <a:p>
            <a:pPr algn="l"/>
            <a:r>
              <a:rPr sz="2400" b="1">
                <a:solidFill>
                  <a:srgbClr val="0066CC"/>
                </a:solidFill>
                <a:latin typeface="Arial"/>
              </a:rPr>
              <a:t>Calculate Average</a:t>
            </a:r>
          </a:p>
        </p:txBody>
      </p:sp>
      <p:sp>
        <p:nvSpPr>
          <p:cNvPr id="4" name="Rounded Rectangle 3"/>
          <p:cNvSpPr/>
          <p:nvPr/>
        </p:nvSpPr>
        <p:spPr>
          <a:xfrm>
            <a:off x="365760" y="1005840"/>
            <a:ext cx="8412480" cy="2560320"/>
          </a:xfrm>
          <a:prstGeom prst="roundRect">
            <a:avLst>
              <a:gd name="adj" fmla="val 10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188720"/>
            <a:ext cx="8046720" cy="274320"/>
          </a:xfrm>
          <a:prstGeom prst="rect">
            <a:avLst/>
          </a:prstGeom>
          <a:noFill/>
        </p:spPr>
        <p:txBody>
          <a:bodyPr wrap="square">
            <a:spAutoFit/>
          </a:bodyPr>
          <a:lstStyle/>
          <a:p>
            <a:pPr algn="l"/>
            <a:r>
              <a:rPr sz="1300" b="0">
                <a:solidFill>
                  <a:srgbClr val="1E293B"/>
                </a:solidFill>
                <a:latin typeface="Arial"/>
              </a:rPr>
              <a:t>Create a function to calculate the average of three numbers.</a:t>
            </a:r>
          </a:p>
        </p:txBody>
      </p:sp>
      <p:sp>
        <p:nvSpPr>
          <p:cNvPr id="6" name="TextBox 5"/>
          <p:cNvSpPr txBox="1"/>
          <p:nvPr/>
        </p:nvSpPr>
        <p:spPr>
          <a:xfrm>
            <a:off x="548640" y="1645920"/>
            <a:ext cx="8046720" cy="274320"/>
          </a:xfrm>
          <a:prstGeom prst="rect">
            <a:avLst/>
          </a:prstGeom>
          <a:noFill/>
        </p:spPr>
        <p:txBody>
          <a:bodyPr wrap="square">
            <a:spAutoFit/>
          </a:bodyPr>
          <a:lstStyle/>
          <a:p>
            <a:pPr algn="l"/>
            <a:r>
              <a:rPr sz="1300" b="0">
                <a:solidFill>
                  <a:srgbClr val="1E293B"/>
                </a:solidFill>
                <a:latin typeface="Arial"/>
              </a:rPr>
              <a:t>1. Create a function called calculateAverage.</a:t>
            </a:r>
          </a:p>
        </p:txBody>
      </p:sp>
      <p:sp>
        <p:nvSpPr>
          <p:cNvPr id="7" name="TextBox 6"/>
          <p:cNvSpPr txBox="1"/>
          <p:nvPr/>
        </p:nvSpPr>
        <p:spPr>
          <a:xfrm>
            <a:off x="548640" y="1938528"/>
            <a:ext cx="8046720" cy="274320"/>
          </a:xfrm>
          <a:prstGeom prst="rect">
            <a:avLst/>
          </a:prstGeom>
          <a:noFill/>
        </p:spPr>
        <p:txBody>
          <a:bodyPr wrap="square">
            <a:spAutoFit/>
          </a:bodyPr>
          <a:lstStyle/>
          <a:p>
            <a:pPr algn="l"/>
            <a:r>
              <a:rPr sz="1300" b="0">
                <a:solidFill>
                  <a:srgbClr val="1E293B"/>
                </a:solidFill>
                <a:latin typeface="Arial"/>
              </a:rPr>
              <a:t>2. The function should take three parameters: num1, num2, and num3.</a:t>
            </a:r>
          </a:p>
        </p:txBody>
      </p:sp>
      <p:sp>
        <p:nvSpPr>
          <p:cNvPr id="8" name="TextBox 7"/>
          <p:cNvSpPr txBox="1"/>
          <p:nvPr/>
        </p:nvSpPr>
        <p:spPr>
          <a:xfrm>
            <a:off x="548640" y="2231136"/>
            <a:ext cx="8046720" cy="274320"/>
          </a:xfrm>
          <a:prstGeom prst="rect">
            <a:avLst/>
          </a:prstGeom>
          <a:noFill/>
        </p:spPr>
        <p:txBody>
          <a:bodyPr wrap="square">
            <a:spAutoFit/>
          </a:bodyPr>
          <a:lstStyle/>
          <a:p>
            <a:pPr algn="l"/>
            <a:r>
              <a:rPr sz="1300" b="0">
                <a:solidFill>
                  <a:srgbClr val="1E293B"/>
                </a:solidFill>
                <a:latin typeface="Arial"/>
              </a:rPr>
              <a:t>3. Calculate the average.</a:t>
            </a:r>
          </a:p>
        </p:txBody>
      </p:sp>
      <p:sp>
        <p:nvSpPr>
          <p:cNvPr id="9" name="TextBox 8"/>
          <p:cNvSpPr txBox="1"/>
          <p:nvPr/>
        </p:nvSpPr>
        <p:spPr>
          <a:xfrm>
            <a:off x="548640" y="2523744"/>
            <a:ext cx="8046720" cy="274320"/>
          </a:xfrm>
          <a:prstGeom prst="rect">
            <a:avLst/>
          </a:prstGeom>
          <a:noFill/>
        </p:spPr>
        <p:txBody>
          <a:bodyPr wrap="square">
            <a:spAutoFit/>
          </a:bodyPr>
          <a:lstStyle/>
          <a:p>
            <a:pPr algn="l"/>
            <a:r>
              <a:rPr sz="1300" b="0">
                <a:solidFill>
                  <a:srgbClr val="1E293B"/>
                </a:solidFill>
                <a:latin typeface="Arial"/>
              </a:rPr>
              <a:t>4. Return the result.</a:t>
            </a:r>
          </a:p>
        </p:txBody>
      </p:sp>
      <p:sp>
        <p:nvSpPr>
          <p:cNvPr id="10" name="TextBox 9"/>
          <p:cNvSpPr txBox="1"/>
          <p:nvPr/>
        </p:nvSpPr>
        <p:spPr>
          <a:xfrm>
            <a:off x="548640" y="2816352"/>
            <a:ext cx="8046720" cy="274320"/>
          </a:xfrm>
          <a:prstGeom prst="rect">
            <a:avLst/>
          </a:prstGeom>
          <a:noFill/>
        </p:spPr>
        <p:txBody>
          <a:bodyPr wrap="square">
            <a:spAutoFit/>
          </a:bodyPr>
          <a:lstStyle/>
          <a:p>
            <a:pPr algn="l"/>
            <a:r>
              <a:rPr sz="1300" b="0">
                <a:solidFill>
                  <a:srgbClr val="1E293B"/>
                </a:solidFill>
                <a:latin typeface="Arial"/>
              </a:rPr>
              <a:t>5. Call the function with different numbers.</a:t>
            </a:r>
          </a:p>
        </p:txBody>
      </p:sp>
      <p:sp>
        <p:nvSpPr>
          <p:cNvPr id="11" name="TextBox 10"/>
          <p:cNvSpPr txBox="1"/>
          <p:nvPr/>
        </p:nvSpPr>
        <p:spPr>
          <a:xfrm>
            <a:off x="548640" y="3108960"/>
            <a:ext cx="8046720" cy="274320"/>
          </a:xfrm>
          <a:prstGeom prst="rect">
            <a:avLst/>
          </a:prstGeom>
          <a:noFill/>
        </p:spPr>
        <p:txBody>
          <a:bodyPr wrap="square">
            <a:spAutoFit/>
          </a:bodyPr>
          <a:lstStyle/>
          <a:p>
            <a:pPr algn="l"/>
            <a:r>
              <a:rPr sz="1300" b="0">
                <a:solidFill>
                  <a:srgbClr val="1E293B"/>
                </a:solidFill>
                <a:latin typeface="Arial"/>
              </a:rPr>
              <a:t>6. Print the result.</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2880"/>
            <a:ext cx="8229600" cy="320040"/>
          </a:xfrm>
          <a:prstGeom prst="rect">
            <a:avLst/>
          </a:prstGeom>
          <a:noFill/>
        </p:spPr>
        <p:txBody>
          <a:bodyPr wrap="square">
            <a:spAutoFit/>
          </a:bodyPr>
          <a:lstStyle/>
          <a:p>
            <a:pPr algn="l"/>
            <a:r>
              <a:rPr sz="1600" b="1">
                <a:solidFill>
                  <a:srgbClr val="0066CC"/>
                </a:solidFill>
                <a:latin typeface="Arial"/>
              </a:rPr>
              <a:t>TASK 2 — REFERENCE SOLUTION</a:t>
            </a:r>
          </a:p>
        </p:txBody>
      </p:sp>
      <p:sp>
        <p:nvSpPr>
          <p:cNvPr id="3" name="Rounded Rectangle 2"/>
          <p:cNvSpPr/>
          <p:nvPr/>
        </p:nvSpPr>
        <p:spPr>
          <a:xfrm>
            <a:off x="274320" y="640080"/>
            <a:ext cx="8595360" cy="3200400"/>
          </a:xfrm>
          <a:prstGeom prst="roundRect">
            <a:avLst>
              <a:gd name="adj" fmla="val 10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005840"/>
            <a:ext cx="8229600" cy="320040"/>
          </a:xfrm>
          <a:prstGeom prst="rect">
            <a:avLst/>
          </a:prstGeom>
          <a:noFill/>
        </p:spPr>
        <p:txBody>
          <a:bodyPr wrap="square">
            <a:spAutoFit/>
          </a:bodyPr>
          <a:lstStyle/>
          <a:p>
            <a:pPr algn="l"/>
            <a:r>
              <a:rPr sz="1500" b="0">
                <a:solidFill>
                  <a:srgbClr val="7DD3FC"/>
                </a:solidFill>
                <a:latin typeface="Consolas"/>
              </a:rPr>
              <a:t>function calculateAverage(num1, num2, num3) {</a:t>
            </a:r>
          </a:p>
        </p:txBody>
      </p:sp>
      <p:sp>
        <p:nvSpPr>
          <p:cNvPr id="5" name="TextBox 4"/>
          <p:cNvSpPr txBox="1"/>
          <p:nvPr/>
        </p:nvSpPr>
        <p:spPr>
          <a:xfrm>
            <a:off x="457200" y="1371600"/>
            <a:ext cx="8229600" cy="320040"/>
          </a:xfrm>
          <a:prstGeom prst="rect">
            <a:avLst/>
          </a:prstGeom>
          <a:noFill/>
        </p:spPr>
        <p:txBody>
          <a:bodyPr wrap="square">
            <a:spAutoFit/>
          </a:bodyPr>
          <a:lstStyle/>
          <a:p>
            <a:pPr algn="l"/>
            <a:r>
              <a:rPr sz="1500" b="0">
                <a:solidFill>
                  <a:srgbClr val="FFFFFF"/>
                </a:solidFill>
                <a:latin typeface="Consolas"/>
              </a:rPr>
              <a:t>    return (num1 + num2 + num3) / 3;</a:t>
            </a:r>
          </a:p>
        </p:txBody>
      </p:sp>
      <p:sp>
        <p:nvSpPr>
          <p:cNvPr id="6" name="TextBox 5"/>
          <p:cNvSpPr txBox="1"/>
          <p:nvPr/>
        </p:nvSpPr>
        <p:spPr>
          <a:xfrm>
            <a:off x="457200" y="1737360"/>
            <a:ext cx="8229600" cy="320040"/>
          </a:xfrm>
          <a:prstGeom prst="rect">
            <a:avLst/>
          </a:prstGeom>
          <a:noFill/>
        </p:spPr>
        <p:txBody>
          <a:bodyPr wrap="square">
            <a:spAutoFit/>
          </a:bodyPr>
          <a:lstStyle/>
          <a:p>
            <a:pPr algn="l"/>
            <a:r>
              <a:rPr sz="1500" b="0">
                <a:solidFill>
                  <a:srgbClr val="7DD3FC"/>
                </a:solidFill>
                <a:latin typeface="Consolas"/>
              </a:rPr>
              <a:t>}</a:t>
            </a:r>
          </a:p>
        </p:txBody>
      </p:sp>
      <p:sp>
        <p:nvSpPr>
          <p:cNvPr id="7" name="TextBox 6"/>
          <p:cNvSpPr txBox="1"/>
          <p:nvPr/>
        </p:nvSpPr>
        <p:spPr>
          <a:xfrm>
            <a:off x="457200" y="2468880"/>
            <a:ext cx="8229600" cy="320040"/>
          </a:xfrm>
          <a:prstGeom prst="rect">
            <a:avLst/>
          </a:prstGeom>
          <a:noFill/>
        </p:spPr>
        <p:txBody>
          <a:bodyPr wrap="square">
            <a:spAutoFit/>
          </a:bodyPr>
          <a:lstStyle/>
          <a:p>
            <a:pPr algn="l"/>
            <a:r>
              <a:rPr sz="1500" b="0">
                <a:solidFill>
                  <a:srgbClr val="22C55E"/>
                </a:solidFill>
                <a:latin typeface="Consolas"/>
              </a:rPr>
              <a:t>console.log(calculateAverage(80, 90, 70));</a:t>
            </a:r>
          </a:p>
        </p:txBody>
      </p:sp>
      <p:sp>
        <p:nvSpPr>
          <p:cNvPr id="8" name="TextBox 7"/>
          <p:cNvSpPr txBox="1"/>
          <p:nvPr/>
        </p:nvSpPr>
        <p:spPr>
          <a:xfrm>
            <a:off x="457200" y="2834640"/>
            <a:ext cx="8229600" cy="320040"/>
          </a:xfrm>
          <a:prstGeom prst="rect">
            <a:avLst/>
          </a:prstGeom>
          <a:noFill/>
        </p:spPr>
        <p:txBody>
          <a:bodyPr wrap="square">
            <a:spAutoFit/>
          </a:bodyPr>
          <a:lstStyle/>
          <a:p>
            <a:pPr algn="l"/>
            <a:r>
              <a:rPr sz="1500" b="0">
                <a:solidFill>
                  <a:srgbClr val="22C55E"/>
                </a:solidFill>
                <a:latin typeface="Consolas"/>
              </a:rPr>
              <a:t>console.log(calculateAverage(50, 60, 70));</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320040"/>
          </a:xfrm>
          <a:prstGeom prst="rect">
            <a:avLst/>
          </a:prstGeom>
          <a:noFill/>
        </p:spPr>
        <p:txBody>
          <a:bodyPr wrap="square">
            <a:spAutoFit/>
          </a:bodyPr>
          <a:lstStyle/>
          <a:p>
            <a:pPr algn="l"/>
            <a:r>
              <a:rPr sz="1400" b="1">
                <a:solidFill>
                  <a:srgbClr val="0066CC"/>
                </a:solidFill>
                <a:latin typeface="Arial"/>
              </a:rPr>
              <a:t>BLOCK 3</a:t>
            </a:r>
          </a:p>
        </p:txBody>
      </p:sp>
      <p:sp>
        <p:nvSpPr>
          <p:cNvPr id="3" name="TextBox 2"/>
          <p:cNvSpPr txBox="1"/>
          <p:nvPr/>
        </p:nvSpPr>
        <p:spPr>
          <a:xfrm>
            <a:off x="457200" y="731520"/>
            <a:ext cx="8229600" cy="502920"/>
          </a:xfrm>
          <a:prstGeom prst="rect">
            <a:avLst/>
          </a:prstGeom>
          <a:noFill/>
        </p:spPr>
        <p:txBody>
          <a:bodyPr wrap="square">
            <a:spAutoFit/>
          </a:bodyPr>
          <a:lstStyle/>
          <a:p>
            <a:pPr algn="l"/>
            <a:r>
              <a:rPr sz="2800" b="1">
                <a:solidFill>
                  <a:srgbClr val="0066CC"/>
                </a:solidFill>
                <a:latin typeface="Arial"/>
              </a:rPr>
              <a:t>Problem Solving</a:t>
            </a:r>
          </a:p>
        </p:txBody>
      </p:sp>
      <p:sp>
        <p:nvSpPr>
          <p:cNvPr id="4" name="Rounded Rectangle 3"/>
          <p:cNvSpPr/>
          <p:nvPr/>
        </p:nvSpPr>
        <p:spPr>
          <a:xfrm>
            <a:off x="457200" y="1463040"/>
            <a:ext cx="8229600" cy="1828800"/>
          </a:xfrm>
          <a:prstGeom prst="roundRect">
            <a:avLst>
              <a:gd name="adj" fmla="val 10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737360"/>
            <a:ext cx="7680960" cy="1371600"/>
          </a:xfrm>
          <a:prstGeom prst="rect">
            <a:avLst/>
          </a:prstGeom>
          <a:noFill/>
        </p:spPr>
        <p:txBody>
          <a:bodyPr wrap="square">
            <a:spAutoFit/>
          </a:bodyPr>
          <a:lstStyle/>
          <a:p>
            <a:pPr algn="l"/>
            <a:r>
              <a:rPr sz="1400" b="0">
                <a:solidFill>
                  <a:srgbClr val="1E293B"/>
                </a:solidFill>
                <a:latin typeface="Arial"/>
              </a:rPr>
              <a:t>This is one of the most important parts of the session.
The goal is not to make exercises difficult like Competitive Programming.
The goal is to train you to translate a PROBLEM into clear JAVASCRIPT STEPS.
Try to solve each exercise by yourself first.</a:t>
            </a:r>
          </a:p>
        </p:txBody>
      </p:sp>
      <p:sp>
        <p:nvSpPr>
          <p:cNvPr id="6" name="Rounded Rectangle 5"/>
          <p:cNvSpPr/>
          <p:nvPr/>
        </p:nvSpPr>
        <p:spPr>
          <a:xfrm>
            <a:off x="274320" y="3657600"/>
            <a:ext cx="1691640" cy="914400"/>
          </a:xfrm>
          <a:prstGeom prst="roundRect">
            <a:avLst>
              <a:gd name="adj" fmla="val 8000"/>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3886200"/>
            <a:ext cx="1691640" cy="457200"/>
          </a:xfrm>
          <a:prstGeom prst="rect">
            <a:avLst/>
          </a:prstGeom>
          <a:noFill/>
        </p:spPr>
        <p:txBody>
          <a:bodyPr wrap="square">
            <a:spAutoFit/>
          </a:bodyPr>
          <a:lstStyle/>
          <a:p>
            <a:pPr algn="ctr"/>
            <a:r>
              <a:rPr sz="1100" b="1">
                <a:solidFill>
                  <a:srgbClr val="0066CC"/>
                </a:solidFill>
                <a:latin typeface="Arial"/>
              </a:rPr>
              <a:t>PROBLEM</a:t>
            </a:r>
          </a:p>
        </p:txBody>
      </p:sp>
      <p:sp>
        <p:nvSpPr>
          <p:cNvPr id="8" name="Rounded Rectangle 7"/>
          <p:cNvSpPr/>
          <p:nvPr/>
        </p:nvSpPr>
        <p:spPr>
          <a:xfrm>
            <a:off x="2057400" y="3657600"/>
            <a:ext cx="1691640" cy="914400"/>
          </a:xfrm>
          <a:prstGeom prst="roundRect">
            <a:avLst>
              <a:gd name="adj" fmla="val 8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57400" y="3886200"/>
            <a:ext cx="1691640" cy="457200"/>
          </a:xfrm>
          <a:prstGeom prst="rect">
            <a:avLst/>
          </a:prstGeom>
          <a:noFill/>
        </p:spPr>
        <p:txBody>
          <a:bodyPr wrap="square">
            <a:spAutoFit/>
          </a:bodyPr>
          <a:lstStyle/>
          <a:p>
            <a:pPr algn="ctr"/>
            <a:r>
              <a:rPr sz="1100" b="1">
                <a:solidFill>
                  <a:srgbClr val="0066CC"/>
                </a:solidFill>
                <a:latin typeface="Arial"/>
              </a:rPr>
              <a:t>THINK</a:t>
            </a:r>
          </a:p>
        </p:txBody>
      </p:sp>
      <p:sp>
        <p:nvSpPr>
          <p:cNvPr id="10" name="Rounded Rectangle 9"/>
          <p:cNvSpPr/>
          <p:nvPr/>
        </p:nvSpPr>
        <p:spPr>
          <a:xfrm>
            <a:off x="3840480" y="3657600"/>
            <a:ext cx="1691640" cy="914400"/>
          </a:xfrm>
          <a:prstGeom prst="roundRect">
            <a:avLst>
              <a:gd name="adj" fmla="val 8000"/>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840480" y="3886200"/>
            <a:ext cx="1691640" cy="457200"/>
          </a:xfrm>
          <a:prstGeom prst="rect">
            <a:avLst/>
          </a:prstGeom>
          <a:noFill/>
        </p:spPr>
        <p:txBody>
          <a:bodyPr wrap="square">
            <a:spAutoFit/>
          </a:bodyPr>
          <a:lstStyle/>
          <a:p>
            <a:pPr algn="ctr"/>
            <a:r>
              <a:rPr sz="1100" b="1">
                <a:solidFill>
                  <a:srgbClr val="0066CC"/>
                </a:solidFill>
                <a:latin typeface="Arial"/>
              </a:rPr>
              <a:t>BREAK INTO STEPS</a:t>
            </a:r>
          </a:p>
        </p:txBody>
      </p:sp>
      <p:sp>
        <p:nvSpPr>
          <p:cNvPr id="12" name="Rounded Rectangle 11"/>
          <p:cNvSpPr/>
          <p:nvPr/>
        </p:nvSpPr>
        <p:spPr>
          <a:xfrm>
            <a:off x="5623559" y="3657600"/>
            <a:ext cx="1691640" cy="914400"/>
          </a:xfrm>
          <a:prstGeom prst="roundRect">
            <a:avLst>
              <a:gd name="adj" fmla="val 8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23559" y="3886200"/>
            <a:ext cx="1691640" cy="457200"/>
          </a:xfrm>
          <a:prstGeom prst="rect">
            <a:avLst/>
          </a:prstGeom>
          <a:noFill/>
        </p:spPr>
        <p:txBody>
          <a:bodyPr wrap="square">
            <a:spAutoFit/>
          </a:bodyPr>
          <a:lstStyle/>
          <a:p>
            <a:pPr algn="ctr"/>
            <a:r>
              <a:rPr sz="1100" b="1">
                <a:solidFill>
                  <a:srgbClr val="0066CC"/>
                </a:solidFill>
                <a:latin typeface="Arial"/>
              </a:rPr>
              <a:t>JS LOGIC</a:t>
            </a:r>
          </a:p>
        </p:txBody>
      </p:sp>
      <p:sp>
        <p:nvSpPr>
          <p:cNvPr id="14" name="Rounded Rectangle 13"/>
          <p:cNvSpPr/>
          <p:nvPr/>
        </p:nvSpPr>
        <p:spPr>
          <a:xfrm>
            <a:off x="7406640" y="3657600"/>
            <a:ext cx="1691640" cy="914400"/>
          </a:xfrm>
          <a:prstGeom prst="roundRect">
            <a:avLst>
              <a:gd name="adj" fmla="val 8000"/>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06640" y="3886200"/>
            <a:ext cx="1691640" cy="457200"/>
          </a:xfrm>
          <a:prstGeom prst="rect">
            <a:avLst/>
          </a:prstGeom>
          <a:noFill/>
        </p:spPr>
        <p:txBody>
          <a:bodyPr wrap="square">
            <a:spAutoFit/>
          </a:bodyPr>
          <a:lstStyle/>
          <a:p>
            <a:pPr algn="ctr"/>
            <a:r>
              <a:rPr sz="1100" b="1">
                <a:solidFill>
                  <a:srgbClr val="0066CC"/>
                </a:solidFill>
                <a:latin typeface="Arial"/>
              </a:rPr>
              <a:t>CODE</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2880"/>
            <a:ext cx="8229600" cy="320040"/>
          </a:xfrm>
          <a:prstGeom prst="rect">
            <a:avLst/>
          </a:prstGeom>
          <a:noFill/>
        </p:spPr>
        <p:txBody>
          <a:bodyPr wrap="square">
            <a:spAutoFit/>
          </a:bodyPr>
          <a:lstStyle/>
          <a:p>
            <a:pPr algn="l"/>
            <a:r>
              <a:rPr sz="2200" b="1">
                <a:solidFill>
                  <a:srgbClr val="0066CC"/>
                </a:solidFill>
                <a:latin typeface="Arial"/>
              </a:rPr>
              <a:t>EXERCISE 1 — FizzBuzz</a:t>
            </a:r>
          </a:p>
        </p:txBody>
      </p:sp>
      <p:sp>
        <p:nvSpPr>
          <p:cNvPr id="3" name="Rounded Rectangle 2"/>
          <p:cNvSpPr/>
          <p:nvPr/>
        </p:nvSpPr>
        <p:spPr>
          <a:xfrm>
            <a:off x="457200" y="640080"/>
            <a:ext cx="8229600" cy="2286000"/>
          </a:xfrm>
          <a:prstGeom prst="roundRect">
            <a:avLst>
              <a:gd name="adj" fmla="val 10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868680"/>
            <a:ext cx="7680960" cy="1828800"/>
          </a:xfrm>
          <a:prstGeom prst="rect">
            <a:avLst/>
          </a:prstGeom>
          <a:noFill/>
        </p:spPr>
        <p:txBody>
          <a:bodyPr wrap="square">
            <a:spAutoFit/>
          </a:bodyPr>
          <a:lstStyle/>
          <a:p>
            <a:pPr algn="l"/>
            <a:r>
              <a:rPr sz="1300" b="0">
                <a:solidFill>
                  <a:srgbClr val="1E293B"/>
                </a:solidFill>
                <a:latin typeface="Arial"/>
              </a:rPr>
              <a:t>Create a function fizzBuzz that receives a number n.
Loop from 1 to n and print:
• "Fizz" when divisible by 3
• "Buzz" when divisible by 5
• "FizzBuzz" when divisible by both 3 and 5
• Otherwise print the number itself</a:t>
            </a:r>
          </a:p>
        </p:txBody>
      </p:sp>
      <p:sp>
        <p:nvSpPr>
          <p:cNvPr id="5" name="Rounded Rectangle 4"/>
          <p:cNvSpPr/>
          <p:nvPr/>
        </p:nvSpPr>
        <p:spPr>
          <a:xfrm>
            <a:off x="457200" y="3200400"/>
            <a:ext cx="8229600" cy="1463040"/>
          </a:xfrm>
          <a:prstGeom prst="roundRect">
            <a:avLst>
              <a:gd name="adj" fmla="val 10000"/>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3383280"/>
            <a:ext cx="7680960" cy="274320"/>
          </a:xfrm>
          <a:prstGeom prst="rect">
            <a:avLst/>
          </a:prstGeom>
          <a:noFill/>
        </p:spPr>
        <p:txBody>
          <a:bodyPr wrap="square">
            <a:spAutoFit/>
          </a:bodyPr>
          <a:lstStyle/>
          <a:p>
            <a:pPr algn="l"/>
            <a:r>
              <a:rPr sz="1400" b="1">
                <a:solidFill>
                  <a:srgbClr val="0066CC"/>
                </a:solidFill>
                <a:latin typeface="Arial"/>
              </a:rPr>
              <a:t>Examples:</a:t>
            </a:r>
          </a:p>
        </p:txBody>
      </p:sp>
      <p:sp>
        <p:nvSpPr>
          <p:cNvPr id="7" name="TextBox 6"/>
          <p:cNvSpPr txBox="1"/>
          <p:nvPr/>
        </p:nvSpPr>
        <p:spPr>
          <a:xfrm>
            <a:off x="731520" y="3840480"/>
            <a:ext cx="7680960" cy="548640"/>
          </a:xfrm>
          <a:prstGeom prst="rect">
            <a:avLst/>
          </a:prstGeom>
          <a:noFill/>
        </p:spPr>
        <p:txBody>
          <a:bodyPr wrap="square">
            <a:spAutoFit/>
          </a:bodyPr>
          <a:lstStyle/>
          <a:p>
            <a:pPr algn="l"/>
            <a:r>
              <a:rPr sz="1400" b="0">
                <a:solidFill>
                  <a:srgbClr val="334155"/>
                </a:solidFill>
                <a:latin typeface="Arial"/>
              </a:rPr>
              <a:t>3 → Fizz    ·    5 → Buzz    ·    15 → FizzBuzz    ·    7 → 7</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37160"/>
            <a:ext cx="8229600" cy="274320"/>
          </a:xfrm>
          <a:prstGeom prst="rect">
            <a:avLst/>
          </a:prstGeom>
          <a:noFill/>
        </p:spPr>
        <p:txBody>
          <a:bodyPr wrap="square">
            <a:spAutoFit/>
          </a:bodyPr>
          <a:lstStyle/>
          <a:p>
            <a:pPr algn="l"/>
            <a:r>
              <a:rPr sz="2000" b="1">
                <a:solidFill>
                  <a:srgbClr val="0066CC"/>
                </a:solidFill>
                <a:latin typeface="Arial"/>
              </a:rPr>
              <a:t>FIZZBUZZ — SOLUTION</a:t>
            </a:r>
          </a:p>
        </p:txBody>
      </p:sp>
      <p:sp>
        <p:nvSpPr>
          <p:cNvPr id="3" name="Rounded Rectangle 2"/>
          <p:cNvSpPr/>
          <p:nvPr/>
        </p:nvSpPr>
        <p:spPr>
          <a:xfrm>
            <a:off x="274320" y="502920"/>
            <a:ext cx="8595360" cy="4114800"/>
          </a:xfrm>
          <a:prstGeom prst="roundRect">
            <a:avLst>
              <a:gd name="adj" fmla="val 10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640080"/>
            <a:ext cx="8229600" cy="256032"/>
          </a:xfrm>
          <a:prstGeom prst="rect">
            <a:avLst/>
          </a:prstGeom>
          <a:noFill/>
        </p:spPr>
        <p:txBody>
          <a:bodyPr wrap="square">
            <a:spAutoFit/>
          </a:bodyPr>
          <a:lstStyle/>
          <a:p>
            <a:pPr algn="l"/>
            <a:r>
              <a:rPr sz="1200" b="0">
                <a:solidFill>
                  <a:srgbClr val="7DD3FC"/>
                </a:solidFill>
                <a:latin typeface="Consolas"/>
              </a:rPr>
              <a:t>function fizzBuzz(n) {</a:t>
            </a:r>
          </a:p>
        </p:txBody>
      </p:sp>
      <p:sp>
        <p:nvSpPr>
          <p:cNvPr id="5" name="TextBox 4"/>
          <p:cNvSpPr txBox="1"/>
          <p:nvPr/>
        </p:nvSpPr>
        <p:spPr>
          <a:xfrm>
            <a:off x="457200" y="914400"/>
            <a:ext cx="8229600" cy="256032"/>
          </a:xfrm>
          <a:prstGeom prst="rect">
            <a:avLst/>
          </a:prstGeom>
          <a:noFill/>
        </p:spPr>
        <p:txBody>
          <a:bodyPr wrap="square">
            <a:spAutoFit/>
          </a:bodyPr>
          <a:lstStyle/>
          <a:p>
            <a:pPr algn="l"/>
            <a:r>
              <a:rPr sz="1200" b="0">
                <a:solidFill>
                  <a:srgbClr val="FFFFFF"/>
                </a:solidFill>
                <a:latin typeface="Consolas"/>
              </a:rPr>
              <a:t>    for (let i = 1; i &lt;= n; i++) {</a:t>
            </a:r>
          </a:p>
        </p:txBody>
      </p:sp>
      <p:sp>
        <p:nvSpPr>
          <p:cNvPr id="6" name="TextBox 5"/>
          <p:cNvSpPr txBox="1"/>
          <p:nvPr/>
        </p:nvSpPr>
        <p:spPr>
          <a:xfrm>
            <a:off x="457200" y="1188719"/>
            <a:ext cx="8229600" cy="256032"/>
          </a:xfrm>
          <a:prstGeom prst="rect">
            <a:avLst/>
          </a:prstGeom>
          <a:noFill/>
        </p:spPr>
        <p:txBody>
          <a:bodyPr wrap="square">
            <a:spAutoFit/>
          </a:bodyPr>
          <a:lstStyle/>
          <a:p>
            <a:pPr algn="l"/>
            <a:r>
              <a:rPr sz="1200" b="0">
                <a:solidFill>
                  <a:srgbClr val="FFFFFF"/>
                </a:solidFill>
                <a:latin typeface="Consolas"/>
              </a:rPr>
              <a:t>        if (i % 3 === 0 &amp;&amp; i % 5 === 0) {</a:t>
            </a:r>
          </a:p>
        </p:txBody>
      </p:sp>
      <p:sp>
        <p:nvSpPr>
          <p:cNvPr id="7" name="TextBox 6"/>
          <p:cNvSpPr txBox="1"/>
          <p:nvPr/>
        </p:nvSpPr>
        <p:spPr>
          <a:xfrm>
            <a:off x="457200" y="1463039"/>
            <a:ext cx="8229600" cy="256032"/>
          </a:xfrm>
          <a:prstGeom prst="rect">
            <a:avLst/>
          </a:prstGeom>
          <a:noFill/>
        </p:spPr>
        <p:txBody>
          <a:bodyPr wrap="square">
            <a:spAutoFit/>
          </a:bodyPr>
          <a:lstStyle/>
          <a:p>
            <a:pPr algn="l"/>
            <a:r>
              <a:rPr sz="1200" b="0">
                <a:solidFill>
                  <a:srgbClr val="22C55E"/>
                </a:solidFill>
                <a:latin typeface="Consolas"/>
              </a:rPr>
              <a:t>            console.log("FizzBuzz");</a:t>
            </a:r>
          </a:p>
        </p:txBody>
      </p:sp>
      <p:sp>
        <p:nvSpPr>
          <p:cNvPr id="8" name="TextBox 7"/>
          <p:cNvSpPr txBox="1"/>
          <p:nvPr/>
        </p:nvSpPr>
        <p:spPr>
          <a:xfrm>
            <a:off x="457200" y="1737360"/>
            <a:ext cx="8229600" cy="256032"/>
          </a:xfrm>
          <a:prstGeom prst="rect">
            <a:avLst/>
          </a:prstGeom>
          <a:noFill/>
        </p:spPr>
        <p:txBody>
          <a:bodyPr wrap="square">
            <a:spAutoFit/>
          </a:bodyPr>
          <a:lstStyle/>
          <a:p>
            <a:pPr algn="l"/>
            <a:r>
              <a:rPr sz="1200" b="0">
                <a:solidFill>
                  <a:srgbClr val="FFFFFF"/>
                </a:solidFill>
                <a:latin typeface="Consolas"/>
              </a:rPr>
              <a:t>        } else if (i % 3 === 0) {</a:t>
            </a:r>
          </a:p>
        </p:txBody>
      </p:sp>
      <p:sp>
        <p:nvSpPr>
          <p:cNvPr id="9" name="TextBox 8"/>
          <p:cNvSpPr txBox="1"/>
          <p:nvPr/>
        </p:nvSpPr>
        <p:spPr>
          <a:xfrm>
            <a:off x="457200" y="2011680"/>
            <a:ext cx="8229600" cy="256032"/>
          </a:xfrm>
          <a:prstGeom prst="rect">
            <a:avLst/>
          </a:prstGeom>
          <a:noFill/>
        </p:spPr>
        <p:txBody>
          <a:bodyPr wrap="square">
            <a:spAutoFit/>
          </a:bodyPr>
          <a:lstStyle/>
          <a:p>
            <a:pPr algn="l"/>
            <a:r>
              <a:rPr sz="1200" b="0">
                <a:solidFill>
                  <a:srgbClr val="22C55E"/>
                </a:solidFill>
                <a:latin typeface="Consolas"/>
              </a:rPr>
              <a:t>            console.log("Fizz");</a:t>
            </a:r>
          </a:p>
        </p:txBody>
      </p:sp>
      <p:sp>
        <p:nvSpPr>
          <p:cNvPr id="10" name="TextBox 9"/>
          <p:cNvSpPr txBox="1"/>
          <p:nvPr/>
        </p:nvSpPr>
        <p:spPr>
          <a:xfrm>
            <a:off x="457200" y="2286000"/>
            <a:ext cx="8229600" cy="256032"/>
          </a:xfrm>
          <a:prstGeom prst="rect">
            <a:avLst/>
          </a:prstGeom>
          <a:noFill/>
        </p:spPr>
        <p:txBody>
          <a:bodyPr wrap="square">
            <a:spAutoFit/>
          </a:bodyPr>
          <a:lstStyle/>
          <a:p>
            <a:pPr algn="l"/>
            <a:r>
              <a:rPr sz="1200" b="0">
                <a:solidFill>
                  <a:srgbClr val="FFFFFF"/>
                </a:solidFill>
                <a:latin typeface="Consolas"/>
              </a:rPr>
              <a:t>        } else if (i % 5 === 0) {</a:t>
            </a:r>
          </a:p>
        </p:txBody>
      </p:sp>
      <p:sp>
        <p:nvSpPr>
          <p:cNvPr id="11" name="TextBox 10"/>
          <p:cNvSpPr txBox="1"/>
          <p:nvPr/>
        </p:nvSpPr>
        <p:spPr>
          <a:xfrm>
            <a:off x="457200" y="2560320"/>
            <a:ext cx="8229600" cy="256032"/>
          </a:xfrm>
          <a:prstGeom prst="rect">
            <a:avLst/>
          </a:prstGeom>
          <a:noFill/>
        </p:spPr>
        <p:txBody>
          <a:bodyPr wrap="square">
            <a:spAutoFit/>
          </a:bodyPr>
          <a:lstStyle/>
          <a:p>
            <a:pPr algn="l"/>
            <a:r>
              <a:rPr sz="1200" b="0">
                <a:solidFill>
                  <a:srgbClr val="22C55E"/>
                </a:solidFill>
                <a:latin typeface="Consolas"/>
              </a:rPr>
              <a:t>            console.log("Buzz");</a:t>
            </a:r>
          </a:p>
        </p:txBody>
      </p:sp>
      <p:sp>
        <p:nvSpPr>
          <p:cNvPr id="12" name="TextBox 11"/>
          <p:cNvSpPr txBox="1"/>
          <p:nvPr/>
        </p:nvSpPr>
        <p:spPr>
          <a:xfrm>
            <a:off x="457200" y="2834639"/>
            <a:ext cx="8229600" cy="256032"/>
          </a:xfrm>
          <a:prstGeom prst="rect">
            <a:avLst/>
          </a:prstGeom>
          <a:noFill/>
        </p:spPr>
        <p:txBody>
          <a:bodyPr wrap="square">
            <a:spAutoFit/>
          </a:bodyPr>
          <a:lstStyle/>
          <a:p>
            <a:pPr algn="l"/>
            <a:r>
              <a:rPr sz="1200" b="0">
                <a:solidFill>
                  <a:srgbClr val="FFFFFF"/>
                </a:solidFill>
                <a:latin typeface="Consolas"/>
              </a:rPr>
              <a:t>        } else {</a:t>
            </a:r>
          </a:p>
        </p:txBody>
      </p:sp>
      <p:sp>
        <p:nvSpPr>
          <p:cNvPr id="13" name="TextBox 12"/>
          <p:cNvSpPr txBox="1"/>
          <p:nvPr/>
        </p:nvSpPr>
        <p:spPr>
          <a:xfrm>
            <a:off x="457200" y="3108959"/>
            <a:ext cx="8229600" cy="256032"/>
          </a:xfrm>
          <a:prstGeom prst="rect">
            <a:avLst/>
          </a:prstGeom>
          <a:noFill/>
        </p:spPr>
        <p:txBody>
          <a:bodyPr wrap="square">
            <a:spAutoFit/>
          </a:bodyPr>
          <a:lstStyle/>
          <a:p>
            <a:pPr algn="l"/>
            <a:r>
              <a:rPr sz="1200" b="0">
                <a:solidFill>
                  <a:srgbClr val="22C55E"/>
                </a:solidFill>
                <a:latin typeface="Consolas"/>
              </a:rPr>
              <a:t>            console.log(i);</a:t>
            </a:r>
          </a:p>
        </p:txBody>
      </p:sp>
      <p:sp>
        <p:nvSpPr>
          <p:cNvPr id="14" name="TextBox 13"/>
          <p:cNvSpPr txBox="1"/>
          <p:nvPr/>
        </p:nvSpPr>
        <p:spPr>
          <a:xfrm>
            <a:off x="457200" y="3383280"/>
            <a:ext cx="8229600" cy="256032"/>
          </a:xfrm>
          <a:prstGeom prst="rect">
            <a:avLst/>
          </a:prstGeom>
          <a:noFill/>
        </p:spPr>
        <p:txBody>
          <a:bodyPr wrap="square">
            <a:spAutoFit/>
          </a:bodyPr>
          <a:lstStyle/>
          <a:p>
            <a:pPr algn="l"/>
            <a:r>
              <a:rPr sz="1200" b="0">
                <a:solidFill>
                  <a:srgbClr val="FFFFFF"/>
                </a:solidFill>
                <a:latin typeface="Consolas"/>
              </a:rPr>
              <a:t>        }</a:t>
            </a:r>
          </a:p>
        </p:txBody>
      </p:sp>
      <p:sp>
        <p:nvSpPr>
          <p:cNvPr id="15" name="TextBox 14"/>
          <p:cNvSpPr txBox="1"/>
          <p:nvPr/>
        </p:nvSpPr>
        <p:spPr>
          <a:xfrm>
            <a:off x="457200" y="3657600"/>
            <a:ext cx="8229600" cy="256032"/>
          </a:xfrm>
          <a:prstGeom prst="rect">
            <a:avLst/>
          </a:prstGeom>
          <a:noFill/>
        </p:spPr>
        <p:txBody>
          <a:bodyPr wrap="square">
            <a:spAutoFit/>
          </a:bodyPr>
          <a:lstStyle/>
          <a:p>
            <a:pPr algn="l"/>
            <a:r>
              <a:rPr sz="1200" b="0">
                <a:solidFill>
                  <a:srgbClr val="FFFFFF"/>
                </a:solidFill>
                <a:latin typeface="Consolas"/>
              </a:rPr>
              <a:t>    }</a:t>
            </a:r>
          </a:p>
        </p:txBody>
      </p:sp>
      <p:sp>
        <p:nvSpPr>
          <p:cNvPr id="16" name="TextBox 15"/>
          <p:cNvSpPr txBox="1"/>
          <p:nvPr/>
        </p:nvSpPr>
        <p:spPr>
          <a:xfrm>
            <a:off x="457200" y="3931920"/>
            <a:ext cx="8229600" cy="256032"/>
          </a:xfrm>
          <a:prstGeom prst="rect">
            <a:avLst/>
          </a:prstGeom>
          <a:noFill/>
        </p:spPr>
        <p:txBody>
          <a:bodyPr wrap="square">
            <a:spAutoFit/>
          </a:bodyPr>
          <a:lstStyle/>
          <a:p>
            <a:pPr algn="l"/>
            <a:r>
              <a:rPr sz="1200" b="0">
                <a:solidFill>
                  <a:srgbClr val="7DD3FC"/>
                </a:solidFill>
                <a:latin typeface="Consolas"/>
              </a:rPr>
              <a:t>}</a:t>
            </a:r>
          </a:p>
        </p:txBody>
      </p:sp>
      <p:sp>
        <p:nvSpPr>
          <p:cNvPr id="17" name="TextBox 16"/>
          <p:cNvSpPr txBox="1"/>
          <p:nvPr/>
        </p:nvSpPr>
        <p:spPr>
          <a:xfrm>
            <a:off x="457200" y="4206240"/>
            <a:ext cx="8229600" cy="256032"/>
          </a:xfrm>
          <a:prstGeom prst="rect">
            <a:avLst/>
          </a:prstGeom>
          <a:noFill/>
        </p:spPr>
        <p:txBody>
          <a:bodyPr wrap="square">
            <a:spAutoFit/>
          </a:bodyPr>
          <a:lstStyle/>
          <a:p>
            <a:pPr algn="l"/>
            <a:r>
              <a:rPr sz="1200" b="0">
                <a:solidFill>
                  <a:srgbClr val="FBBF24"/>
                </a:solidFill>
                <a:latin typeface="Consolas"/>
              </a:rPr>
              <a:t>fizzBuzz(15);</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2880"/>
            <a:ext cx="8229600" cy="320040"/>
          </a:xfrm>
          <a:prstGeom prst="rect">
            <a:avLst/>
          </a:prstGeom>
          <a:noFill/>
        </p:spPr>
        <p:txBody>
          <a:bodyPr wrap="square">
            <a:spAutoFit/>
          </a:bodyPr>
          <a:lstStyle/>
          <a:p>
            <a:pPr algn="l"/>
            <a:r>
              <a:rPr sz="2200" b="1">
                <a:solidFill>
                  <a:srgbClr val="0066CC"/>
                </a:solidFill>
                <a:latin typeface="Arial"/>
              </a:rPr>
              <a:t>EXERCISE 2 — Reverse String</a:t>
            </a:r>
          </a:p>
        </p:txBody>
      </p:sp>
      <p:sp>
        <p:nvSpPr>
          <p:cNvPr id="3" name="Rounded Rectangle 2"/>
          <p:cNvSpPr/>
          <p:nvPr/>
        </p:nvSpPr>
        <p:spPr>
          <a:xfrm>
            <a:off x="457200" y="640080"/>
            <a:ext cx="8229600" cy="1188720"/>
          </a:xfrm>
          <a:prstGeom prst="roundRect">
            <a:avLst>
              <a:gd name="adj" fmla="val 10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868680"/>
            <a:ext cx="7680960" cy="731520"/>
          </a:xfrm>
          <a:prstGeom prst="rect">
            <a:avLst/>
          </a:prstGeom>
          <a:noFill/>
        </p:spPr>
        <p:txBody>
          <a:bodyPr wrap="square">
            <a:spAutoFit/>
          </a:bodyPr>
          <a:lstStyle/>
          <a:p>
            <a:pPr algn="l"/>
            <a:r>
              <a:rPr sz="1400" b="0">
                <a:solidFill>
                  <a:srgbClr val="1E293B"/>
                </a:solidFill>
                <a:latin typeface="Arial"/>
              </a:rPr>
              <a:t>Create a function reverseString that receives a string
and returns it reversed from the last character to the first.</a:t>
            </a:r>
          </a:p>
        </p:txBody>
      </p:sp>
      <p:sp>
        <p:nvSpPr>
          <p:cNvPr id="5" name="Rounded Rectangle 4"/>
          <p:cNvSpPr/>
          <p:nvPr/>
        </p:nvSpPr>
        <p:spPr>
          <a:xfrm>
            <a:off x="365760" y="2240280"/>
            <a:ext cx="8412480" cy="2560320"/>
          </a:xfrm>
          <a:prstGeom prst="roundRect">
            <a:avLst>
              <a:gd name="adj" fmla="val 10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2880"/>
            <a:ext cx="8229600" cy="320040"/>
          </a:xfrm>
          <a:prstGeom prst="rect">
            <a:avLst/>
          </a:prstGeom>
          <a:noFill/>
        </p:spPr>
        <p:txBody>
          <a:bodyPr wrap="square">
            <a:spAutoFit/>
          </a:bodyPr>
          <a:lstStyle/>
          <a:p>
            <a:pPr algn="l"/>
            <a:r>
              <a:rPr sz="2200" b="1">
                <a:solidFill>
                  <a:srgbClr val="0066CC"/>
                </a:solidFill>
                <a:latin typeface="Arial"/>
              </a:rPr>
              <a:t>EXERCISE 3 — Palindrome Check</a:t>
            </a:r>
          </a:p>
        </p:txBody>
      </p:sp>
      <p:sp>
        <p:nvSpPr>
          <p:cNvPr id="3" name="Rounded Rectangle 2"/>
          <p:cNvSpPr/>
          <p:nvPr/>
        </p:nvSpPr>
        <p:spPr>
          <a:xfrm>
            <a:off x="457200" y="640080"/>
            <a:ext cx="8229600" cy="1188720"/>
          </a:xfrm>
          <a:prstGeom prst="roundRect">
            <a:avLst>
              <a:gd name="adj" fmla="val 10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868680"/>
            <a:ext cx="7680960" cy="731520"/>
          </a:xfrm>
          <a:prstGeom prst="rect">
            <a:avLst/>
          </a:prstGeom>
          <a:noFill/>
        </p:spPr>
        <p:txBody>
          <a:bodyPr wrap="square">
            <a:spAutoFit/>
          </a:bodyPr>
          <a:lstStyle/>
          <a:p>
            <a:pPr algn="l"/>
            <a:r>
              <a:rPr sz="1400" b="0">
                <a:solidFill>
                  <a:srgbClr val="1E293B"/>
                </a:solidFill>
                <a:latin typeface="Arial"/>
              </a:rPr>
              <a:t>Create a function isPalindrome that receives a string and returns true
if the string reads the same in both directions, otherwise false.</a:t>
            </a:r>
          </a:p>
        </p:txBody>
      </p:sp>
      <p:sp>
        <p:nvSpPr>
          <p:cNvPr id="5" name="Rounded Rectangle 4"/>
          <p:cNvSpPr/>
          <p:nvPr/>
        </p:nvSpPr>
        <p:spPr>
          <a:xfrm>
            <a:off x="365760" y="2057400"/>
            <a:ext cx="8412480" cy="1828800"/>
          </a:xfrm>
          <a:prstGeom prst="roundRect">
            <a:avLst>
              <a:gd name="adj" fmla="val 10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37160"/>
            <a:ext cx="8229600" cy="274320"/>
          </a:xfrm>
          <a:prstGeom prst="rect">
            <a:avLst/>
          </a:prstGeom>
          <a:noFill/>
        </p:spPr>
        <p:txBody>
          <a:bodyPr wrap="square">
            <a:spAutoFit/>
          </a:bodyPr>
          <a:lstStyle/>
          <a:p>
            <a:pPr algn="l"/>
            <a:r>
              <a:rPr sz="2200" b="1">
                <a:solidFill>
                  <a:srgbClr val="0066CC"/>
                </a:solidFill>
                <a:latin typeface="Arial"/>
              </a:rPr>
              <a:t>EXERCISE 4 — Count Vowels</a:t>
            </a:r>
          </a:p>
        </p:txBody>
      </p:sp>
      <p:sp>
        <p:nvSpPr>
          <p:cNvPr id="3" name="Rounded Rectangle 2"/>
          <p:cNvSpPr/>
          <p:nvPr/>
        </p:nvSpPr>
        <p:spPr>
          <a:xfrm>
            <a:off x="457200" y="502920"/>
            <a:ext cx="8229600" cy="914400"/>
          </a:xfrm>
          <a:prstGeom prst="roundRect">
            <a:avLst>
              <a:gd name="adj" fmla="val 10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640080"/>
            <a:ext cx="7680960" cy="640080"/>
          </a:xfrm>
          <a:prstGeom prst="rect">
            <a:avLst/>
          </a:prstGeom>
          <a:noFill/>
        </p:spPr>
        <p:txBody>
          <a:bodyPr wrap="square">
            <a:spAutoFit/>
          </a:bodyPr>
          <a:lstStyle/>
          <a:p>
            <a:pPr algn="l"/>
            <a:r>
              <a:rPr sz="1300" b="0">
                <a:solidFill>
                  <a:srgbClr val="1E293B"/>
                </a:solidFill>
                <a:latin typeface="Arial"/>
              </a:rPr>
              <a:t>Create a function countVowels that receives a string
and returns the number of vowels: a, e, i, o, u</a:t>
            </a:r>
          </a:p>
        </p:txBody>
      </p:sp>
      <p:sp>
        <p:nvSpPr>
          <p:cNvPr id="5" name="Rounded Rectangle 4"/>
          <p:cNvSpPr/>
          <p:nvPr/>
        </p:nvSpPr>
        <p:spPr>
          <a:xfrm>
            <a:off x="274320" y="1600200"/>
            <a:ext cx="8595360" cy="3017520"/>
          </a:xfrm>
          <a:prstGeom prst="roundRect">
            <a:avLst>
              <a:gd name="adj" fmla="val 10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37160"/>
            <a:ext cx="8229600" cy="274320"/>
          </a:xfrm>
          <a:prstGeom prst="rect">
            <a:avLst/>
          </a:prstGeom>
          <a:noFill/>
        </p:spPr>
        <p:txBody>
          <a:bodyPr wrap="square">
            <a:spAutoFit/>
          </a:bodyPr>
          <a:lstStyle/>
          <a:p>
            <a:pPr algn="l"/>
            <a:r>
              <a:rPr sz="2200" b="1">
                <a:solidFill>
                  <a:srgbClr val="0066CC"/>
                </a:solidFill>
                <a:latin typeface="Arial"/>
              </a:rPr>
              <a:t>EXERCISE 5 — Sum of Digits</a:t>
            </a:r>
          </a:p>
        </p:txBody>
      </p:sp>
      <p:sp>
        <p:nvSpPr>
          <p:cNvPr id="3" name="Rounded Rectangle 2"/>
          <p:cNvSpPr/>
          <p:nvPr/>
        </p:nvSpPr>
        <p:spPr>
          <a:xfrm>
            <a:off x="457200" y="1657350"/>
            <a:ext cx="8229600" cy="914400"/>
          </a:xfrm>
          <a:prstGeom prst="roundRect">
            <a:avLst>
              <a:gd name="adj" fmla="val 10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794510"/>
            <a:ext cx="7680960" cy="640080"/>
          </a:xfrm>
          <a:prstGeom prst="rect">
            <a:avLst/>
          </a:prstGeom>
          <a:noFill/>
        </p:spPr>
        <p:txBody>
          <a:bodyPr wrap="square">
            <a:spAutoFit/>
          </a:bodyPr>
          <a:lstStyle/>
          <a:p>
            <a:pPr algn="l"/>
            <a:r>
              <a:rPr sz="1300" b="0">
                <a:solidFill>
                  <a:srgbClr val="1E293B"/>
                </a:solidFill>
                <a:latin typeface="Arial"/>
              </a:rPr>
              <a:t>Create a function sumOfDigits that receives a number
and returns the sum of its digits. Example: 123 → 1+2+3 → 6</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37160"/>
            <a:ext cx="8229600" cy="274320"/>
          </a:xfrm>
          <a:prstGeom prst="rect">
            <a:avLst/>
          </a:prstGeom>
          <a:noFill/>
        </p:spPr>
        <p:txBody>
          <a:bodyPr wrap="square">
            <a:spAutoFit/>
          </a:bodyPr>
          <a:lstStyle/>
          <a:p>
            <a:pPr algn="l"/>
            <a:r>
              <a:rPr sz="2200" b="1">
                <a:solidFill>
                  <a:srgbClr val="0066CC"/>
                </a:solidFill>
                <a:latin typeface="Arial"/>
              </a:rPr>
              <a:t>EXERCISE 6 — Number Analysis</a:t>
            </a:r>
          </a:p>
        </p:txBody>
      </p:sp>
      <p:sp>
        <p:nvSpPr>
          <p:cNvPr id="3" name="Rounded Rectangle 2"/>
          <p:cNvSpPr/>
          <p:nvPr/>
        </p:nvSpPr>
        <p:spPr>
          <a:xfrm>
            <a:off x="457200" y="502920"/>
            <a:ext cx="8229600" cy="1005840"/>
          </a:xfrm>
          <a:prstGeom prst="roundRect">
            <a:avLst>
              <a:gd name="adj" fmla="val 10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640080"/>
            <a:ext cx="7680960" cy="731520"/>
          </a:xfrm>
          <a:prstGeom prst="rect">
            <a:avLst/>
          </a:prstGeom>
          <a:noFill/>
        </p:spPr>
        <p:txBody>
          <a:bodyPr wrap="square">
            <a:spAutoFit/>
          </a:bodyPr>
          <a:lstStyle/>
          <a:p>
            <a:pPr algn="l"/>
            <a:r>
              <a:rPr sz="1300" b="0">
                <a:solidFill>
                  <a:srgbClr val="1E293B"/>
                </a:solidFill>
                <a:latin typeface="Arial"/>
              </a:rPr>
              <a:t>Create a function numberAnalysis that receives a number and prints:
Whether it is Positive / Negative / Zero  AND  Whether it is Even / Odd</a:t>
            </a:r>
          </a:p>
        </p:txBody>
      </p:sp>
      <p:sp>
        <p:nvSpPr>
          <p:cNvPr id="5" name="Rounded Rectangle 4"/>
          <p:cNvSpPr/>
          <p:nvPr/>
        </p:nvSpPr>
        <p:spPr>
          <a:xfrm>
            <a:off x="274320" y="1691640"/>
            <a:ext cx="8595360" cy="2926080"/>
          </a:xfrm>
          <a:prstGeom prst="roundRect">
            <a:avLst>
              <a:gd name="adj" fmla="val 10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8229600" cy="365760"/>
          </a:xfrm>
          <a:prstGeom prst="rect">
            <a:avLst/>
          </a:prstGeom>
          <a:noFill/>
        </p:spPr>
        <p:txBody>
          <a:bodyPr wrap="square">
            <a:spAutoFit/>
          </a:bodyPr>
          <a:lstStyle/>
          <a:p>
            <a:pPr algn="l"/>
            <a:r>
              <a:rPr sz="2200" b="1">
                <a:solidFill>
                  <a:srgbClr val="0066CC"/>
                </a:solidFill>
                <a:latin typeface="Arial"/>
              </a:rPr>
              <a:t>TWO INDEPENDENT DECISIONS</a:t>
            </a:r>
          </a:p>
        </p:txBody>
      </p:sp>
      <p:sp>
        <p:nvSpPr>
          <p:cNvPr id="3" name="Rounded Rectangle 2"/>
          <p:cNvSpPr/>
          <p:nvPr/>
        </p:nvSpPr>
        <p:spPr>
          <a:xfrm>
            <a:off x="365760" y="822960"/>
            <a:ext cx="4114800" cy="3200400"/>
          </a:xfrm>
          <a:prstGeom prst="roundRect">
            <a:avLst>
              <a:gd name="adj" fmla="val 10000"/>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097280"/>
            <a:ext cx="3749039" cy="365760"/>
          </a:xfrm>
          <a:prstGeom prst="rect">
            <a:avLst/>
          </a:prstGeom>
          <a:noFill/>
        </p:spPr>
        <p:txBody>
          <a:bodyPr wrap="square">
            <a:spAutoFit/>
          </a:bodyPr>
          <a:lstStyle/>
          <a:p>
            <a:pPr algn="l"/>
            <a:r>
              <a:rPr sz="1600" b="1">
                <a:solidFill>
                  <a:srgbClr val="0066CC"/>
                </a:solidFill>
                <a:latin typeface="Arial"/>
              </a:rPr>
              <a:t>Decision 1</a:t>
            </a:r>
          </a:p>
        </p:txBody>
      </p:sp>
      <p:sp>
        <p:nvSpPr>
          <p:cNvPr id="5" name="TextBox 4"/>
          <p:cNvSpPr txBox="1"/>
          <p:nvPr/>
        </p:nvSpPr>
        <p:spPr>
          <a:xfrm>
            <a:off x="548640" y="1737360"/>
            <a:ext cx="3749039" cy="1371600"/>
          </a:xfrm>
          <a:prstGeom prst="rect">
            <a:avLst/>
          </a:prstGeom>
          <a:noFill/>
        </p:spPr>
        <p:txBody>
          <a:bodyPr wrap="square">
            <a:spAutoFit/>
          </a:bodyPr>
          <a:lstStyle/>
          <a:p>
            <a:pPr algn="ctr"/>
            <a:r>
              <a:rPr sz="1600" b="0">
                <a:solidFill>
                  <a:srgbClr val="334155"/>
                </a:solidFill>
                <a:latin typeface="Arial"/>
              </a:rPr>
              <a:t>Positive
Negative
Zero</a:t>
            </a:r>
          </a:p>
        </p:txBody>
      </p:sp>
      <p:sp>
        <p:nvSpPr>
          <p:cNvPr id="6" name="Rounded Rectangle 5"/>
          <p:cNvSpPr/>
          <p:nvPr/>
        </p:nvSpPr>
        <p:spPr>
          <a:xfrm>
            <a:off x="4754880" y="822960"/>
            <a:ext cx="4023360" cy="3200400"/>
          </a:xfrm>
          <a:prstGeom prst="roundRect">
            <a:avLst>
              <a:gd name="adj" fmla="val 10000"/>
            </a:avLst>
          </a:prstGeom>
          <a:solidFill>
            <a:srgbClr val="EE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937760" y="1097280"/>
            <a:ext cx="3657600" cy="365760"/>
          </a:xfrm>
          <a:prstGeom prst="rect">
            <a:avLst/>
          </a:prstGeom>
          <a:noFill/>
        </p:spPr>
        <p:txBody>
          <a:bodyPr wrap="square">
            <a:spAutoFit/>
          </a:bodyPr>
          <a:lstStyle/>
          <a:p>
            <a:pPr algn="l"/>
            <a:r>
              <a:rPr sz="1600" b="1">
                <a:solidFill>
                  <a:srgbClr val="0066CC"/>
                </a:solidFill>
                <a:latin typeface="Arial"/>
              </a:rPr>
              <a:t>Decision 2</a:t>
            </a:r>
          </a:p>
        </p:txBody>
      </p:sp>
      <p:sp>
        <p:nvSpPr>
          <p:cNvPr id="8" name="TextBox 7"/>
          <p:cNvSpPr txBox="1"/>
          <p:nvPr/>
        </p:nvSpPr>
        <p:spPr>
          <a:xfrm>
            <a:off x="4937760" y="1737360"/>
            <a:ext cx="3657600" cy="1371600"/>
          </a:xfrm>
          <a:prstGeom prst="rect">
            <a:avLst/>
          </a:prstGeom>
          <a:noFill/>
        </p:spPr>
        <p:txBody>
          <a:bodyPr wrap="square">
            <a:spAutoFit/>
          </a:bodyPr>
          <a:lstStyle/>
          <a:p>
            <a:pPr algn="ctr"/>
            <a:r>
              <a:rPr sz="1600" b="0">
                <a:solidFill>
                  <a:srgbClr val="1E293B"/>
                </a:solidFill>
                <a:latin typeface="Arial"/>
              </a:rPr>
              <a:t>Even
Odd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80</TotalTime>
  <Words>3941</Words>
  <Application>Microsoft Office PowerPoint</Application>
  <PresentationFormat>On-screen Show (16:9)</PresentationFormat>
  <Paragraphs>526</Paragraphs>
  <Slides>70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70</vt:i4>
      </vt:variant>
    </vt:vector>
  </HeadingPairs>
  <TitlesOfParts>
    <vt:vector size="74"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ezz aldin</cp:lastModifiedBy>
  <cp:revision>4</cp:revision>
  <dcterms:created xsi:type="dcterms:W3CDTF">2013-01-27T09:14:16Z</dcterms:created>
  <dcterms:modified xsi:type="dcterms:W3CDTF">2026-08-26T23:35:37Z</dcterms:modified>
  <cp:category/>
</cp:coreProperties>
</file>